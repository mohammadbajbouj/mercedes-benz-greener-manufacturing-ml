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keholder presentation" id="{503abf2d-1d00-07c0-4560-ff0bcfbff7a3}">
          <p14:sldIdLst>
            <p14:sldId id="256"/>
            <p14:sldId id="257"/>
            <p14:sldId id="258"/>
            <p14:sldId id="259"/>
            <p14:sldId id="260"/>
            <p14:sldId id="261"/>
            <p14:sldId id="262"/>
            <p14:sldId id="263"/>
            <p14:sldId id="264"/>
            <p14:sldId id="265"/>
            <p14:sldId id="266"/>
            <p14:sldId id="267"/>
          </p14:sldIdLst>
        </p14:section>
        <p14:section name="Explanation slides" id="{e81fb244-5dbc-c34d-5497-35358c2b4aa2}">
          <p14:sldIdLst>
            <p14:sldId id="268"/>
            <p14:sldId id="269"/>
            <p14:sldId id="270"/>
            <p14:sldId id="271"/>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 new Mercedes-Benz car is tested on a test bench before delivery, and the time each car needs differs. I will show how machine learning can predict that time, how well it works, and what it could mean for planning and energy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every car leaves the factory with its own configuration. Every car is tested before delivery, and the test takes between 72 and 265 seconds. Because the time differs from car to car, the test bench is hard to plan. If we knew each car's time in advance, we could plan better – less waiting, less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hypothesis, H2: does the same car configuration always need the same test time? If yes, the configuration tells us the time exactly. If no, part of the time comes from the test itself, and nobody can predict that part. We checked this with real data and three different machine-learning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worked with real, public factory data from a Kaggle competition by Mercedes-Benz: 4,209 tested cars. Each car is described by 376 columns, but the real names of the columns are hidden. For each car we know one measured test time – that is what we predict.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finding: cars with exactly the same configuration still need different test times, by about 8 seconds. Using the configuration as indicator, we can predict up to about 60 % of the differences in test time between different cars. The other 40 % come from the test itself – for example human error, which the data does not record. So the answer to our hypothesis is no, and this sets a clear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second finding: each car is described by 376 columns, and one column, X0, sorts the cars into a few typical test times. X0 alone explains 57.5 % of the differences in test time between cars. The other 375 columns mostly repeat what X0 already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average test time is about 100.6 seconds. If we plan every car with this same average, the plan is off by about 12.4 seconds per car. With our model it is off by about 8 seconds – about 4.5 seconds closer per car. That is already at the limit set by the test itself, and three very different methods all landed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good is it? For 91 of 100 cars the prediction is within 10 seconds – tested on cars the model had never seen. In the official Kaggle check we reach 97 % of the competition winner's score, using only one column, X0. The big misses are a few very long tests that come from the test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this mean for planning? The car order brings its configuration, the model predicts the expected test time, and the bench plan gets a slot per car plus a buffer for unusual tests. My view from automotive R&amp;D: plan each car with its predicted time to reduce energy use, and keep a buffer for extraordinary test times. The test itself does not get shorter – the plan gets more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matter? A large plant like Sindelfingen built about 300,000 cars a year, roughly 1,300 a day. 4.5 seconds per car add up to about 1.6 hours of more accurate bench planning every day – not shorter tests. Whether this saves energy is a hypothesis we propose to test in a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next steps. First, a pilot on one test bench – one day, then one month – measuring idle time and energy before and after. Second, record more about each test run, because long tests cannot be predicted from the configuration. Third, keep the limit in mind: about 60 % is the most that can be predicted.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even identical cars need different test times, so at most about 60 % of the differences in test time between cars can be predicted. One column, X0, explains almost all of that. Our model plans each car about 4.5 seconds more accurately, and at factory scale that is about 1.6 hours of better planning per day. The data, not the method, sets the limit – and we already reach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slides – used only when questions come up. Each one links back to its main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public: a Kaggle competition Mercedes-Benz ran in 2017. 4,209 cars with test times, 376 hidden columns each, and a second set of 4,209 cars that Kaggle uses to check every model fairly.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all 376 columns of every car and found 515 cars with an identical twin. The largest group – 9 identical cars – needed between 106 and 128 seconds. Across all groups, identical cars differ by about 8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cars spread about 12.7 seconds around the average; identical cars still about 8.1 seconds. Comparing the two spreads shows that about 40 % of the differences is noise. So at most about 60 % can be predicted.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X0 is one column, not a method. Every car has one of 47 X0 values, and cars with the same X0 value have similar test times. The other columns mostly repeat what X0 says, so adding the other columns did not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three very different methods on purpose. Ridge is one straight-line formula and cannot see combinations of columns; Random Forest averages many decision trees and can catch combinations; XGBoost builds trees that correct each other and is usually the strongest for data like ours. All three ended at the same result, so the limit is in the data and we keep the simplest.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"Explained" means how much of the differences between cars the model accounts for – it is not an error rate. On Kaggle's hidden cars our model explains 54.1 %, the winner 55.6 %, and the limit is about 59.7 %.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Sindelfingen plant built more than 300,000 cars in 2017. With about 230 working days – our assumption – that is about 1,300 cars a day. 4.5 seconds times 1,300 cars is about 1.6 hours of better planning per day; the energy effect still has to be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of 4,209 tests took unusually long. Identical twins of these cars ran normally in all 9 cases, and the best warning rule is right for only 1 in 39 flagged cars. So the extra time comes from the test run itself – that is why we propose recording test-run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rtlCol="0"/>
          <a:lstStyle>
            <a:lvl1pPr algn="l" indent="0" marL="0">
              <a:buNone/>
              <a:defRPr lang="en-US" sz="2600" b="1" dirty="0">
                <a:solidFill>
                  <a:schemeClr val="tx2"/>
                </a:solidFill>
                <a:latin typeface="Cambria" pitchFamily="34" charset="0"/>
                <a:ea typeface="Cambria" pitchFamily="34" charset="-122"/>
                <a:cs typeface="Cambria" pitchFamily="34" charset="-120"/>
              </a:defRPr>
            </a:lvl1pPr>
          </a:lstStyle>
          <a:p>
            <a:pPr algn="l" indent="0" marL="0">
              <a:buNone/>
            </a:pPr>
            <a:r>
              <a:rPr lang="en-US" sz="2600" b="1" dirty="0">
                <a:solidFill>
                  <a:schemeClr val="tx2"/>
                </a:solidFill>
                <a:latin typeface="Cambria" pitchFamily="34" charset="0"/>
                <a:ea typeface="Cambria" pitchFamily="34" charset="-122"/>
                <a:cs typeface="Cambria" pitchFamily="34" charset="-120"/>
              </a:rPr>
              <a:t>Title</a:t>
            </a:r>
            <a:endParaRPr lang="en-US" sz="2600" dirty="0"/>
          </a:p>
        </p:txBody>
      </p:sp>
      <p:sp>
        <p:nvSpPr>
          <p:cNvPr id="3" name="Text 0"/>
          <p:cNvSpPr/>
          <p:nvPr/>
        </p:nvSpPr>
        <p:spPr>
          <a:xfrm>
            <a:off x="457200" y="4846320"/>
            <a:ext cx="7680960" cy="228600"/>
          </a:xfrm>
          <a:prstGeom prst="rect">
            <a:avLst/>
          </a:prstGeom>
          <a:noFill/>
          <a:ln/>
        </p:spPr>
        <p:txBody>
          <a:bodyPr wrap="square" lIns="0" tIns="0" rIns="0" bIns="0" rtlCol="0" anchor="ctr"/>
          <a:lstStyle/>
          <a:p>
            <a:pPr indent="0" marL="0">
              <a:buNone/>
            </a:pPr>
            <a:r>
              <a:rPr lang="en-US" sz="700" dirty="0">
                <a:solidFill>
                  <a:srgbClr val="5B6670"/>
                </a:solidFill>
                <a:latin typeface="Calibri" pitchFamily="34" charset="0"/>
                <a:ea typeface="Calibri" pitchFamily="34" charset="-122"/>
                <a:cs typeface="Calibri" pitchFamily="34" charset="-120"/>
              </a:rPr>
              <a:t>© 2026 Mohammad Bajbouj. All rights reserved. Decisions by Mohammad Bajbouj; drafted with Claude by Anthropic (Cowork, Claude Code); winner research drafted by Gemini (Google). Practice project, neuefische AI PM bootcamp. Kaggle data (Mercedes-Benz) is not covered by this copyright notice.</a:t>
            </a:r>
            <a:endParaRPr lang="en-US" sz="7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63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05840"/>
          </a:xfrm>
          <a:prstGeom prst="rect">
            <a:avLst/>
          </a:prstGeom>
          <a:noFill/>
          <a:ln/>
        </p:spPr>
        <p:txBody>
          <a:bodyPr wrap="square" rtlCol="0"/>
          <a:lstStyle>
            <a:lvl1pPr indent="0" marL="0">
              <a:buNone/>
              <a:defRPr lang="en-US" sz="4000" b="1" dirty="0">
                <a:solidFill>
                  <a:schemeClr val="bg1"/>
                </a:solidFill>
                <a:latin typeface="Cambria" pitchFamily="34" charset="0"/>
                <a:ea typeface="Cambria" pitchFamily="34" charset="-122"/>
                <a:cs typeface="Cambria" pitchFamily="34" charset="-120"/>
              </a:defRPr>
            </a:lvl1pPr>
          </a:lstStyle>
          <a:p>
            <a:pPr indent="0" marL="0">
              <a:buNone/>
            </a:pPr>
            <a:r>
              <a:rPr lang="en-US" sz="4000" b="1" dirty="0">
                <a:solidFill>
                  <a:schemeClr val="bg1"/>
                </a:solidFill>
                <a:latin typeface="Cambria" pitchFamily="34" charset="0"/>
                <a:ea typeface="Cambria" pitchFamily="34" charset="-122"/>
                <a:cs typeface="Cambria" pitchFamily="34" charset="-120"/>
              </a:rPr>
              <a:t>Title</a:t>
            </a: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0584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Faster tests, greener cars</a:t>
            </a:r>
            <a:endParaRPr lang="en-US" sz="4000" dirty="0"/>
          </a:p>
        </p:txBody>
      </p:sp>
      <p:sp>
        <p:nvSpPr>
          <p:cNvPr id="3" name="Text 1"/>
          <p:cNvSpPr txBox="1"/>
          <p:nvPr/>
        </p:nvSpPr>
        <p:spPr>
          <a:xfrm>
            <a:off x="548640" y="2514600"/>
            <a:ext cx="8046720" cy="457200"/>
          </a:xfrm>
          <a:prstGeom prst="rect">
            <a:avLst/>
          </a:prstGeom>
          <a:noFill/>
          <a:ln/>
        </p:spPr>
        <p:txBody>
          <a:bodyPr wrap="square" lIns="0" tIns="0" rIns="0" bIns="0" rtlCol="0" anchor="t"/>
          <a:lstStyle/>
          <a:p>
            <a:pPr indent="0" marL="0">
              <a:buNone/>
            </a:pPr>
            <a:r>
              <a:rPr lang="en-US" sz="1800" dirty="0">
                <a:solidFill>
                  <a:srgbClr val="CFD8E3"/>
                </a:solidFill>
                <a:latin typeface="Calibri" pitchFamily="34" charset="0"/>
                <a:ea typeface="Calibri" pitchFamily="34" charset="-122"/>
                <a:cs typeface="Calibri" pitchFamily="34" charset="-120"/>
              </a:rPr>
              <a:t>How machine learning can help plan the end-of-line test bench</a:t>
            </a:r>
            <a:endParaRPr lang="en-US" sz="1800" dirty="0"/>
          </a:p>
        </p:txBody>
      </p:sp>
      <p:sp>
        <p:nvSpPr>
          <p:cNvPr id="4" name="Text 2"/>
          <p:cNvSpPr txBox="1"/>
          <p:nvPr/>
        </p:nvSpPr>
        <p:spPr>
          <a:xfrm>
            <a:off x="548640" y="3154680"/>
            <a:ext cx="8046720" cy="365760"/>
          </a:xfrm>
          <a:prstGeom prst="rect">
            <a:avLst/>
          </a:prstGeom>
          <a:noFill/>
          <a:ln/>
        </p:spPr>
        <p:txBody>
          <a:bodyPr wrap="square" lIns="0" tIns="0" rIns="0" bIns="0" rtlCol="0" anchor="t"/>
          <a:lstStyle/>
          <a:p>
            <a:pPr indent="0" marL="0">
              <a:buNone/>
            </a:pPr>
            <a:r>
              <a:rPr lang="en-US" sz="1200" dirty="0">
                <a:solidFill>
                  <a:srgbClr val="9FB0C2"/>
                </a:solidFill>
                <a:latin typeface="Calibri" pitchFamily="34" charset="0"/>
                <a:ea typeface="Calibri" pitchFamily="34" charset="-122"/>
                <a:cs typeface="Calibri" pitchFamily="34" charset="-120"/>
              </a:rPr>
              <a:t>Mohammad Bajbouj · ML project (Kaggle: Mercedes-Benz Greener Manufacturing) · neuefische AI PM bootcamp · October 2026</a:t>
            </a:r>
            <a:endParaRPr lang="en-US" sz="1200" dirty="0"/>
          </a:p>
        </p:txBody>
      </p:sp>
      <p:pic>
        <p:nvPicPr>
          <p:cNvPr id="5" name="leaf" descr="preencoded.png">    </p:cNvPr>
          <p:cNvPicPr>
            <a:picLocks noChangeAspect="1"/>
          </p:cNvPicPr>
          <p:nvPr/>
        </p:nvPicPr>
        <p:blipFill>
          <a:blip r:embed="rId1"/>
          <a:stretch>
            <a:fillRect/>
          </a:stretch>
        </p:blipFill>
        <p:spPr>
          <a:xfrm>
            <a:off x="548640" y="731520"/>
            <a:ext cx="502920" cy="502920"/>
          </a:xfrm>
          <a:prstGeom prst="rect">
            <a:avLst/>
          </a:prstGeom>
        </p:spPr>
      </p:pic>
      <p:sp>
        <p:nvSpPr>
          <p:cNvPr id="6" name="Text 3"/>
          <p:cNvSpPr txBox="1"/>
          <p:nvPr/>
        </p:nvSpPr>
        <p:spPr>
          <a:xfrm>
            <a:off x="548640" y="4617720"/>
            <a:ext cx="8046720" cy="320040"/>
          </a:xfrm>
          <a:prstGeom prst="rect">
            <a:avLst/>
          </a:prstGeom>
          <a:noFill/>
          <a:ln/>
        </p:spPr>
        <p:txBody>
          <a:bodyPr wrap="square" lIns="0" tIns="0" rIns="0" bIns="0" rtlCol="0" anchor="t"/>
          <a:lstStyle/>
          <a:p>
            <a:pPr indent="0" marL="0">
              <a:buNone/>
            </a:pPr>
            <a:r>
              <a:rPr lang="en-US" sz="800" dirty="0">
                <a:solidFill>
                  <a:srgbClr val="8899AA"/>
                </a:solidFill>
                <a:latin typeface="Calibri" pitchFamily="34" charset="0"/>
                <a:ea typeface="Calibri" pitchFamily="34" charset="-122"/>
                <a:cs typeface="Calibri" pitchFamily="34" charset="-120"/>
              </a:rPr>
              <a:t>© 2026 Mohammad Bajbouj. All rights reserved. Decisions by Mohammad Bajbouj; drafted with Claude by Anthropic (Cowork, Claude Code); winner research drafted by Gemini (Google). Practice project, neuefische AI PM bootcamp. Kaggle data (Mercedes-Benz) is not covered by this copyright notice.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The challenge</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a:t>
            </a:r>
            <a:endParaRPr lang="en-US" sz="900" dirty="0"/>
          </a:p>
        </p:txBody>
      </p:sp>
      <p:sp>
        <p:nvSpPr>
          <p:cNvPr id="6" name="card"/>
          <p:cNvSpPr/>
          <p:nvPr/>
        </p:nvSpPr>
        <p:spPr>
          <a:xfrm>
            <a:off x="457200" y="1097280"/>
            <a:ext cx="2606040" cy="2286000"/>
          </a:xfrm>
          <a:prstGeom prst="roundRect">
            <a:avLst>
              <a:gd name="adj" fmla="val 4000"/>
            </a:avLst>
          </a:prstGeom>
          <a:solidFill>
            <a:srgbClr val="F3F6F9"/>
          </a:solidFill>
          <a:ln w="12700">
            <a:solidFill>
              <a:srgbClr val="F3F6F9"/>
            </a:solidFill>
            <a:prstDash val="solid"/>
          </a:ln>
        </p:spPr>
      </p:sp>
      <p:pic>
        <p:nvPicPr>
          <p:cNvPr id="7" name="Image 0" descr="preencoded.png">    </p:cNvPr>
          <p:cNvPicPr>
            <a:picLocks noChangeAspect="1"/>
          </p:cNvPicPr>
          <p:nvPr/>
        </p:nvPicPr>
        <p:blipFill>
          <a:blip r:embed="rId1"/>
          <a:stretch>
            <a:fillRect/>
          </a:stretch>
        </p:blipFill>
        <p:spPr>
          <a:xfrm>
            <a:off x="731520" y="1298448"/>
            <a:ext cx="457200" cy="457200"/>
          </a:xfrm>
          <a:prstGeom prst="rect">
            <a:avLst/>
          </a:prstGeom>
        </p:spPr>
      </p:pic>
      <p:sp>
        <p:nvSpPr>
          <p:cNvPr id="8" name="Text 4"/>
          <p:cNvSpPr txBox="1"/>
          <p:nvPr/>
        </p:nvSpPr>
        <p:spPr>
          <a:xfrm>
            <a:off x="731520" y="1783080"/>
            <a:ext cx="2194560" cy="685800"/>
          </a:xfrm>
          <a:prstGeom prst="rect">
            <a:avLst/>
          </a:prstGeom>
          <a:noFill/>
          <a:ln/>
        </p:spPr>
        <p:txBody>
          <a:bodyPr wrap="square" lIns="0" tIns="0" rIns="0" bIns="0" rtlCol="0" anchor="b"/>
          <a:lstStyle/>
          <a:p>
            <a:pPr indent="0" marL="0">
              <a:buNone/>
            </a:pPr>
            <a:r>
              <a:rPr lang="en-US" sz="3600" b="1" dirty="0">
                <a:solidFill>
                  <a:srgbClr val="2B7BD8"/>
                </a:solidFill>
                <a:latin typeface="Cambria" pitchFamily="34" charset="0"/>
                <a:ea typeface="Cambria" pitchFamily="34" charset="-122"/>
                <a:cs typeface="Cambria" pitchFamily="34" charset="-120"/>
              </a:rPr>
              <a:t>Unique</a:t>
            </a:r>
            <a:endParaRPr lang="en-US" sz="3600" dirty="0"/>
          </a:p>
        </p:txBody>
      </p:sp>
      <p:sp>
        <p:nvSpPr>
          <p:cNvPr id="9" name="Text 5"/>
          <p:cNvSpPr txBox="1"/>
          <p:nvPr/>
        </p:nvSpPr>
        <p:spPr>
          <a:xfrm>
            <a:off x="731520" y="2514600"/>
            <a:ext cx="2194560" cy="8229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almost every car is configured differently</a:t>
            </a:r>
            <a:endParaRPr lang="en-US" sz="1200" dirty="0"/>
          </a:p>
        </p:txBody>
      </p:sp>
      <p:sp>
        <p:nvSpPr>
          <p:cNvPr id="10" name="card"/>
          <p:cNvSpPr/>
          <p:nvPr/>
        </p:nvSpPr>
        <p:spPr>
          <a:xfrm>
            <a:off x="3246120" y="1097280"/>
            <a:ext cx="2606040" cy="2286000"/>
          </a:xfrm>
          <a:prstGeom prst="roundRect">
            <a:avLst>
              <a:gd name="adj" fmla="val 4000"/>
            </a:avLst>
          </a:prstGeom>
          <a:solidFill>
            <a:srgbClr val="F3F6F9"/>
          </a:solidFill>
          <a:ln w="12700">
            <a:solidFill>
              <a:srgbClr val="F3F6F9"/>
            </a:solidFill>
            <a:prstDash val="solid"/>
          </a:ln>
        </p:spPr>
      </p:sp>
      <p:pic>
        <p:nvPicPr>
          <p:cNvPr id="11" name="Image 1" descr="preencoded.png">    </p:cNvPr>
          <p:cNvPicPr>
            <a:picLocks noChangeAspect="1"/>
          </p:cNvPicPr>
          <p:nvPr/>
        </p:nvPicPr>
        <p:blipFill>
          <a:blip r:embed="rId2"/>
          <a:stretch>
            <a:fillRect/>
          </a:stretch>
        </p:blipFill>
        <p:spPr>
          <a:xfrm>
            <a:off x="3520440" y="1298448"/>
            <a:ext cx="457200" cy="457200"/>
          </a:xfrm>
          <a:prstGeom prst="rect">
            <a:avLst/>
          </a:prstGeom>
        </p:spPr>
      </p:pic>
      <p:sp>
        <p:nvSpPr>
          <p:cNvPr id="12" name="Text 7"/>
          <p:cNvSpPr txBox="1"/>
          <p:nvPr/>
        </p:nvSpPr>
        <p:spPr>
          <a:xfrm>
            <a:off x="3520440" y="1783080"/>
            <a:ext cx="2194560" cy="685800"/>
          </a:xfrm>
          <a:prstGeom prst="rect">
            <a:avLst/>
          </a:prstGeom>
          <a:noFill/>
          <a:ln/>
        </p:spPr>
        <p:txBody>
          <a:bodyPr wrap="square" lIns="0" tIns="0" rIns="0" bIns="0" rtlCol="0" anchor="b"/>
          <a:lstStyle/>
          <a:p>
            <a:pPr indent="0" marL="0">
              <a:buNone/>
            </a:pPr>
            <a:r>
              <a:rPr lang="en-US" sz="3600" b="1" dirty="0">
                <a:solidFill>
                  <a:srgbClr val="2B7BD8"/>
                </a:solidFill>
                <a:latin typeface="Cambria" pitchFamily="34" charset="0"/>
                <a:ea typeface="Cambria" pitchFamily="34" charset="-122"/>
                <a:cs typeface="Cambria" pitchFamily="34" charset="-120"/>
              </a:rPr>
              <a:t>Every car</a:t>
            </a:r>
            <a:endParaRPr lang="en-US" sz="3600" dirty="0"/>
          </a:p>
        </p:txBody>
      </p:sp>
      <p:sp>
        <p:nvSpPr>
          <p:cNvPr id="13" name="Text 8"/>
          <p:cNvSpPr txBox="1"/>
          <p:nvPr/>
        </p:nvSpPr>
        <p:spPr>
          <a:xfrm>
            <a:off x="3520440" y="2514600"/>
            <a:ext cx="2194560" cy="8229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is tested on a test bench before delivery</a:t>
            </a:r>
            <a:endParaRPr lang="en-US" sz="1200" dirty="0"/>
          </a:p>
        </p:txBody>
      </p:sp>
      <p:sp>
        <p:nvSpPr>
          <p:cNvPr id="14" name="card"/>
          <p:cNvSpPr/>
          <p:nvPr/>
        </p:nvSpPr>
        <p:spPr>
          <a:xfrm>
            <a:off x="6035040" y="1097280"/>
            <a:ext cx="2606040" cy="2286000"/>
          </a:xfrm>
          <a:prstGeom prst="roundRect">
            <a:avLst>
              <a:gd name="adj" fmla="val 4000"/>
            </a:avLst>
          </a:prstGeom>
          <a:solidFill>
            <a:srgbClr val="F3F6F9"/>
          </a:solidFill>
          <a:ln w="12700">
            <a:solidFill>
              <a:srgbClr val="F3F6F9"/>
            </a:solidFill>
            <a:prstDash val="solid"/>
          </a:ln>
        </p:spPr>
      </p:sp>
      <p:pic>
        <p:nvPicPr>
          <p:cNvPr id="15" name="Image 2" descr="preencoded.png">    </p:cNvPr>
          <p:cNvPicPr>
            <a:picLocks noChangeAspect="1"/>
          </p:cNvPicPr>
          <p:nvPr/>
        </p:nvPicPr>
        <p:blipFill>
          <a:blip r:embed="rId3"/>
          <a:stretch>
            <a:fillRect/>
          </a:stretch>
        </p:blipFill>
        <p:spPr>
          <a:xfrm>
            <a:off x="6309360" y="1298448"/>
            <a:ext cx="457200" cy="457200"/>
          </a:xfrm>
          <a:prstGeom prst="rect">
            <a:avLst/>
          </a:prstGeom>
        </p:spPr>
      </p:pic>
      <p:sp>
        <p:nvSpPr>
          <p:cNvPr id="16" name="Text 10"/>
          <p:cNvSpPr txBox="1"/>
          <p:nvPr/>
        </p:nvSpPr>
        <p:spPr>
          <a:xfrm>
            <a:off x="6309360" y="1783080"/>
            <a:ext cx="2194560" cy="685800"/>
          </a:xfrm>
          <a:prstGeom prst="rect">
            <a:avLst/>
          </a:prstGeom>
          <a:noFill/>
          <a:ln/>
        </p:spPr>
        <p:txBody>
          <a:bodyPr wrap="square" lIns="0" tIns="0" rIns="0" bIns="0" rtlCol="0" anchor="b"/>
          <a:lstStyle/>
          <a:p>
            <a:pPr indent="0" marL="0">
              <a:buNone/>
            </a:pPr>
            <a:r>
              <a:rPr lang="en-US" sz="3600" b="1" dirty="0">
                <a:solidFill>
                  <a:srgbClr val="164A82"/>
                </a:solidFill>
                <a:latin typeface="Cambria" pitchFamily="34" charset="0"/>
                <a:ea typeface="Cambria" pitchFamily="34" charset="-122"/>
                <a:cs typeface="Cambria" pitchFamily="34" charset="-120"/>
              </a:rPr>
              <a:t>72–265 s</a:t>
            </a:r>
            <a:endParaRPr lang="en-US" sz="3600" dirty="0"/>
          </a:p>
        </p:txBody>
      </p:sp>
      <p:sp>
        <p:nvSpPr>
          <p:cNvPr id="17" name="Text 11"/>
          <p:cNvSpPr txBox="1"/>
          <p:nvPr/>
        </p:nvSpPr>
        <p:spPr>
          <a:xfrm>
            <a:off x="6309360" y="2514600"/>
            <a:ext cx="2194560" cy="8229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test times differ from car to car – hard to plan the bench</a:t>
            </a:r>
            <a:endParaRPr lang="en-US" sz="1200" dirty="0"/>
          </a:p>
        </p:txBody>
      </p:sp>
      <p:sp>
        <p:nvSpPr>
          <p:cNvPr id="18" name="meaning"/>
          <p:cNvSpPr/>
          <p:nvPr/>
        </p:nvSpPr>
        <p:spPr>
          <a:xfrm>
            <a:off x="457200" y="3611880"/>
            <a:ext cx="8229600" cy="594360"/>
          </a:xfrm>
          <a:prstGeom prst="roundRect">
            <a:avLst>
              <a:gd name="adj" fmla="val 12308"/>
            </a:avLst>
          </a:prstGeom>
          <a:solidFill>
            <a:srgbClr val="E6F3EC"/>
          </a:solidFill>
          <a:ln w="12700">
            <a:solidFill>
              <a:srgbClr val="E6F3EC"/>
            </a:solidFill>
            <a:prstDash val="solid"/>
          </a:ln>
        </p:spPr>
      </p:sp>
      <p:sp>
        <p:nvSpPr>
          <p:cNvPr id="19" name="Text 13"/>
          <p:cNvSpPr txBox="1"/>
          <p:nvPr/>
        </p:nvSpPr>
        <p:spPr>
          <a:xfrm>
            <a:off x="640080" y="3611880"/>
            <a:ext cx="7863840" cy="59436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Meaning: </a:t>
            </a:r>
            <a:pPr indent="0" marL="0">
              <a:buNone/>
            </a:pPr>
            <a:r>
              <a:rPr lang="en-US" sz="1400" dirty="0">
                <a:solidFill>
                  <a:srgbClr val="1F2933"/>
                </a:solidFill>
                <a:latin typeface="Calibri" pitchFamily="34" charset="0"/>
                <a:ea typeface="Calibri" pitchFamily="34" charset="-122"/>
                <a:cs typeface="Calibri" pitchFamily="34" charset="-120"/>
              </a:rPr>
              <a:t>if we knew each car's test time in advance, we could plan the test bench better – less waiting, less energy.</a:t>
            </a:r>
            <a:endParaRPr lang="en-US" sz="14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Our hypothesis</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a:t>
            </a:r>
            <a:endParaRPr lang="en-US" sz="900" dirty="0"/>
          </a:p>
        </p:txBody>
      </p:sp>
      <p:sp>
        <p:nvSpPr>
          <p:cNvPr id="6" name="card"/>
          <p:cNvSpPr/>
          <p:nvPr/>
        </p:nvSpPr>
        <p:spPr>
          <a:xfrm>
            <a:off x="457200" y="1051560"/>
            <a:ext cx="8229600" cy="1005840"/>
          </a:xfrm>
          <a:prstGeom prst="roundRect">
            <a:avLst>
              <a:gd name="adj" fmla="val 9091"/>
            </a:avLst>
          </a:prstGeom>
          <a:solidFill>
            <a:srgbClr val="EAF2FB"/>
          </a:solidFill>
          <a:ln w="12700">
            <a:solidFill>
              <a:srgbClr val="EAF2FB"/>
            </a:solidFill>
            <a:prstDash val="solid"/>
          </a:ln>
        </p:spPr>
      </p:sp>
      <p:sp>
        <p:nvSpPr>
          <p:cNvPr id="7" name="Text 4"/>
          <p:cNvSpPr txBox="1"/>
          <p:nvPr/>
        </p:nvSpPr>
        <p:spPr>
          <a:xfrm>
            <a:off x="685800" y="1051560"/>
            <a:ext cx="7772400" cy="1005840"/>
          </a:xfrm>
          <a:prstGeom prst="rect">
            <a:avLst/>
          </a:prstGeom>
          <a:noFill/>
          <a:ln/>
        </p:spPr>
        <p:txBody>
          <a:bodyPr wrap="square" lIns="0" tIns="0" rIns="0" bIns="0" rtlCol="0" anchor="ctr"/>
          <a:lstStyle/>
          <a:p>
            <a:pPr indent="0" marL="0">
              <a:buNone/>
            </a:pPr>
            <a:r>
              <a:rPr lang="en-US" sz="2200" b="1" dirty="0">
                <a:solidFill>
                  <a:srgbClr val="2B7BD8"/>
                </a:solidFill>
                <a:latin typeface="Calibri" pitchFamily="34" charset="0"/>
                <a:ea typeface="Calibri" pitchFamily="34" charset="-122"/>
                <a:cs typeface="Calibri" pitchFamily="34" charset="-120"/>
              </a:rPr>
              <a:t>Hypothesis (H2): </a:t>
            </a:r>
            <a:pPr indent="0" marL="0">
              <a:buNone/>
            </a:pPr>
            <a:r>
              <a:rPr lang="en-US" sz="2200" b="1" dirty="0">
                <a:solidFill>
                  <a:srgbClr val="164A82"/>
                </a:solidFill>
                <a:latin typeface="Calibri" pitchFamily="34" charset="0"/>
                <a:ea typeface="Calibri" pitchFamily="34" charset="-122"/>
                <a:cs typeface="Calibri" pitchFamily="34" charset="-120"/>
              </a:rPr>
              <a:t>Does the same car configuration always need the same test time?</a:t>
            </a:r>
            <a:endParaRPr lang="en-US" sz="2200" dirty="0"/>
          </a:p>
        </p:txBody>
      </p:sp>
      <p:sp>
        <p:nvSpPr>
          <p:cNvPr id="8" name="num1"/>
          <p:cNvSpPr/>
          <p:nvPr/>
        </p:nvSpPr>
        <p:spPr>
          <a:xfrm>
            <a:off x="457200" y="2304288"/>
            <a:ext cx="329184" cy="329184"/>
          </a:xfrm>
          <a:prstGeom prst="ellipse">
            <a:avLst/>
          </a:prstGeom>
          <a:solidFill>
            <a:srgbClr val="2B7BD8"/>
          </a:solidFill>
          <a:ln w="12700">
            <a:solidFill>
              <a:srgbClr val="2B7BD8"/>
            </a:solidFill>
            <a:prstDash val="solid"/>
          </a:ln>
        </p:spPr>
      </p:sp>
      <p:sp>
        <p:nvSpPr>
          <p:cNvPr id="9" name="Text 6"/>
          <p:cNvSpPr txBox="1"/>
          <p:nvPr/>
        </p:nvSpPr>
        <p:spPr>
          <a:xfrm>
            <a:off x="457200" y="230428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7"/>
          <p:cNvSpPr txBox="1"/>
          <p:nvPr/>
        </p:nvSpPr>
        <p:spPr>
          <a:xfrm>
            <a:off x="914400" y="2286000"/>
            <a:ext cx="7772400" cy="45720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Why it matters: if not, part of the test time can never be predicted from the configuration</a:t>
            </a:r>
            <a:endParaRPr lang="en-US" sz="1500" dirty="0"/>
          </a:p>
        </p:txBody>
      </p:sp>
      <p:sp>
        <p:nvSpPr>
          <p:cNvPr id="11" name="num2"/>
          <p:cNvSpPr/>
          <p:nvPr/>
        </p:nvSpPr>
        <p:spPr>
          <a:xfrm>
            <a:off x="457200" y="2807208"/>
            <a:ext cx="329184" cy="329184"/>
          </a:xfrm>
          <a:prstGeom prst="ellipse">
            <a:avLst/>
          </a:prstGeom>
          <a:solidFill>
            <a:srgbClr val="2B7BD8"/>
          </a:solidFill>
          <a:ln w="12700">
            <a:solidFill>
              <a:srgbClr val="2B7BD8"/>
            </a:solidFill>
            <a:prstDash val="solid"/>
          </a:ln>
        </p:spPr>
      </p:sp>
      <p:sp>
        <p:nvSpPr>
          <p:cNvPr id="12" name="Text 9"/>
          <p:cNvSpPr txBox="1"/>
          <p:nvPr/>
        </p:nvSpPr>
        <p:spPr>
          <a:xfrm>
            <a:off x="457200" y="280720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0"/>
          <p:cNvSpPr txBox="1"/>
          <p:nvPr/>
        </p:nvSpPr>
        <p:spPr>
          <a:xfrm>
            <a:off x="914400" y="2788920"/>
            <a:ext cx="7772400" cy="45720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Our approach: compare cars with identical configurations, then predict with three different machine-learning methods</a:t>
            </a:r>
            <a:endParaRPr lang="en-US" sz="1500" dirty="0"/>
          </a:p>
        </p:txBody>
      </p:sp>
      <p:sp>
        <p:nvSpPr>
          <p:cNvPr id="14" name="num3"/>
          <p:cNvSpPr/>
          <p:nvPr/>
        </p:nvSpPr>
        <p:spPr>
          <a:xfrm>
            <a:off x="457200" y="3310128"/>
            <a:ext cx="329184" cy="329184"/>
          </a:xfrm>
          <a:prstGeom prst="ellipse">
            <a:avLst/>
          </a:prstGeom>
          <a:solidFill>
            <a:srgbClr val="2B7BD8"/>
          </a:solidFill>
          <a:ln w="12700">
            <a:solidFill>
              <a:srgbClr val="2B7BD8"/>
            </a:solidFill>
            <a:prstDash val="solid"/>
          </a:ln>
        </p:spPr>
      </p:sp>
      <p:sp>
        <p:nvSpPr>
          <p:cNvPr id="15" name="Text 12"/>
          <p:cNvSpPr txBox="1"/>
          <p:nvPr/>
        </p:nvSpPr>
        <p:spPr>
          <a:xfrm>
            <a:off x="457200" y="331012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3"/>
          <p:cNvSpPr txBox="1"/>
          <p:nvPr/>
        </p:nvSpPr>
        <p:spPr>
          <a:xfrm>
            <a:off x="914400" y="3291840"/>
            <a:ext cx="7772400" cy="45720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Where we answer the hypothesis: slide 5 (identical cars) and slide 7 (three methods)</a:t>
            </a:r>
            <a:endParaRPr lang="en-US" sz="15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What we worked with</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a:t>
            </a:r>
            <a:endParaRPr lang="en-US" sz="900" dirty="0"/>
          </a:p>
        </p:txBody>
      </p:sp>
      <p:sp>
        <p:nvSpPr>
          <p:cNvPr id="6" name="card"/>
          <p:cNvSpPr/>
          <p:nvPr/>
        </p:nvSpPr>
        <p:spPr>
          <a:xfrm>
            <a:off x="457200" y="1097280"/>
            <a:ext cx="2606040" cy="2286000"/>
          </a:xfrm>
          <a:prstGeom prst="roundRect">
            <a:avLst>
              <a:gd name="adj" fmla="val 4000"/>
            </a:avLst>
          </a:prstGeom>
          <a:solidFill>
            <a:srgbClr val="F3F6F9"/>
          </a:solidFill>
          <a:ln w="12700">
            <a:solidFill>
              <a:srgbClr val="F3F6F9"/>
            </a:solidFill>
            <a:prstDash val="solid"/>
          </a:ln>
        </p:spPr>
      </p:sp>
      <p:pic>
        <p:nvPicPr>
          <p:cNvPr id="7" name="Image 0" descr="preencoded.png">    </p:cNvPr>
          <p:cNvPicPr>
            <a:picLocks noChangeAspect="1"/>
          </p:cNvPicPr>
          <p:nvPr/>
        </p:nvPicPr>
        <p:blipFill>
          <a:blip r:embed="rId1"/>
          <a:stretch>
            <a:fillRect/>
          </a:stretch>
        </p:blipFill>
        <p:spPr>
          <a:xfrm>
            <a:off x="731520" y="1298448"/>
            <a:ext cx="457200" cy="457200"/>
          </a:xfrm>
          <a:prstGeom prst="rect">
            <a:avLst/>
          </a:prstGeom>
        </p:spPr>
      </p:pic>
      <p:sp>
        <p:nvSpPr>
          <p:cNvPr id="8" name="Text 4"/>
          <p:cNvSpPr txBox="1"/>
          <p:nvPr/>
        </p:nvSpPr>
        <p:spPr>
          <a:xfrm>
            <a:off x="731520" y="1783080"/>
            <a:ext cx="2194560" cy="685800"/>
          </a:xfrm>
          <a:prstGeom prst="rect">
            <a:avLst/>
          </a:prstGeom>
          <a:noFill/>
          <a:ln/>
        </p:spPr>
        <p:txBody>
          <a:bodyPr wrap="square" lIns="0" tIns="0" rIns="0" bIns="0" rtlCol="0" anchor="b"/>
          <a:lstStyle/>
          <a:p>
            <a:pPr indent="0" marL="0">
              <a:buNone/>
            </a:pPr>
            <a:r>
              <a:rPr lang="en-US" sz="3600" b="1" dirty="0">
                <a:solidFill>
                  <a:srgbClr val="2B7BD8"/>
                </a:solidFill>
                <a:latin typeface="Cambria" pitchFamily="34" charset="0"/>
                <a:ea typeface="Cambria" pitchFamily="34" charset="-122"/>
                <a:cs typeface="Cambria" pitchFamily="34" charset="-120"/>
              </a:rPr>
              <a:t>4,209</a:t>
            </a:r>
            <a:endParaRPr lang="en-US" sz="3600" dirty="0"/>
          </a:p>
        </p:txBody>
      </p:sp>
      <p:sp>
        <p:nvSpPr>
          <p:cNvPr id="9" name="Text 5"/>
          <p:cNvSpPr txBox="1"/>
          <p:nvPr/>
        </p:nvSpPr>
        <p:spPr>
          <a:xfrm>
            <a:off x="731520" y="2514600"/>
            <a:ext cx="2194560" cy="8229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tested Mercedes-Benz cars (public Kaggle data)</a:t>
            </a:r>
            <a:endParaRPr lang="en-US" sz="1200" dirty="0"/>
          </a:p>
        </p:txBody>
      </p:sp>
      <p:sp>
        <p:nvSpPr>
          <p:cNvPr id="10" name="card"/>
          <p:cNvSpPr/>
          <p:nvPr/>
        </p:nvSpPr>
        <p:spPr>
          <a:xfrm>
            <a:off x="3246120" y="1097280"/>
            <a:ext cx="2606040" cy="2286000"/>
          </a:xfrm>
          <a:prstGeom prst="roundRect">
            <a:avLst>
              <a:gd name="adj" fmla="val 4000"/>
            </a:avLst>
          </a:prstGeom>
          <a:solidFill>
            <a:srgbClr val="F3F6F9"/>
          </a:solidFill>
          <a:ln w="12700">
            <a:solidFill>
              <a:srgbClr val="F3F6F9"/>
            </a:solidFill>
            <a:prstDash val="solid"/>
          </a:ln>
        </p:spPr>
      </p:sp>
      <p:pic>
        <p:nvPicPr>
          <p:cNvPr id="11" name="Image 1" descr="preencoded.png">    </p:cNvPr>
          <p:cNvPicPr>
            <a:picLocks noChangeAspect="1"/>
          </p:cNvPicPr>
          <p:nvPr/>
        </p:nvPicPr>
        <p:blipFill>
          <a:blip r:embed="rId2"/>
          <a:stretch>
            <a:fillRect/>
          </a:stretch>
        </p:blipFill>
        <p:spPr>
          <a:xfrm>
            <a:off x="3520440" y="1298448"/>
            <a:ext cx="457200" cy="457200"/>
          </a:xfrm>
          <a:prstGeom prst="rect">
            <a:avLst/>
          </a:prstGeom>
        </p:spPr>
      </p:pic>
      <p:sp>
        <p:nvSpPr>
          <p:cNvPr id="12" name="Text 7"/>
          <p:cNvSpPr txBox="1"/>
          <p:nvPr/>
        </p:nvSpPr>
        <p:spPr>
          <a:xfrm>
            <a:off x="3520440" y="1783080"/>
            <a:ext cx="2194560" cy="685800"/>
          </a:xfrm>
          <a:prstGeom prst="rect">
            <a:avLst/>
          </a:prstGeom>
          <a:noFill/>
          <a:ln/>
        </p:spPr>
        <p:txBody>
          <a:bodyPr wrap="square" lIns="0" tIns="0" rIns="0" bIns="0" rtlCol="0" anchor="b"/>
          <a:lstStyle/>
          <a:p>
            <a:pPr indent="0" marL="0">
              <a:buNone/>
            </a:pPr>
            <a:r>
              <a:rPr lang="en-US" sz="3600" b="1" dirty="0">
                <a:solidFill>
                  <a:srgbClr val="164A82"/>
                </a:solidFill>
                <a:latin typeface="Cambria" pitchFamily="34" charset="0"/>
                <a:ea typeface="Cambria" pitchFamily="34" charset="-122"/>
                <a:cs typeface="Cambria" pitchFamily="34" charset="-120"/>
              </a:rPr>
              <a:t>376</a:t>
            </a:r>
            <a:endParaRPr lang="en-US" sz="3600" dirty="0"/>
          </a:p>
        </p:txBody>
      </p:sp>
      <p:sp>
        <p:nvSpPr>
          <p:cNvPr id="13" name="Text 8"/>
          <p:cNvSpPr txBox="1"/>
          <p:nvPr/>
        </p:nvSpPr>
        <p:spPr>
          <a:xfrm>
            <a:off x="3520440" y="2514600"/>
            <a:ext cx="2194560" cy="8229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columns per car – Mercedes-Benz hid the real names of the 376 columns</a:t>
            </a:r>
            <a:endParaRPr lang="en-US" sz="1200" dirty="0"/>
          </a:p>
        </p:txBody>
      </p:sp>
      <p:sp>
        <p:nvSpPr>
          <p:cNvPr id="14" name="card"/>
          <p:cNvSpPr/>
          <p:nvPr/>
        </p:nvSpPr>
        <p:spPr>
          <a:xfrm>
            <a:off x="6035040" y="1097280"/>
            <a:ext cx="2606040" cy="2286000"/>
          </a:xfrm>
          <a:prstGeom prst="roundRect">
            <a:avLst>
              <a:gd name="adj" fmla="val 4000"/>
            </a:avLst>
          </a:prstGeom>
          <a:solidFill>
            <a:srgbClr val="F3F6F9"/>
          </a:solidFill>
          <a:ln w="12700">
            <a:solidFill>
              <a:srgbClr val="F3F6F9"/>
            </a:solidFill>
            <a:prstDash val="solid"/>
          </a:ln>
        </p:spPr>
      </p:sp>
      <p:pic>
        <p:nvPicPr>
          <p:cNvPr id="15" name="Image 2" descr="preencoded.png">    </p:cNvPr>
          <p:cNvPicPr>
            <a:picLocks noChangeAspect="1"/>
          </p:cNvPicPr>
          <p:nvPr/>
        </p:nvPicPr>
        <p:blipFill>
          <a:blip r:embed="rId3"/>
          <a:stretch>
            <a:fillRect/>
          </a:stretch>
        </p:blipFill>
        <p:spPr>
          <a:xfrm>
            <a:off x="6309360" y="1298448"/>
            <a:ext cx="457200" cy="457200"/>
          </a:xfrm>
          <a:prstGeom prst="rect">
            <a:avLst/>
          </a:prstGeom>
        </p:spPr>
      </p:pic>
      <p:sp>
        <p:nvSpPr>
          <p:cNvPr id="16" name="Text 10"/>
          <p:cNvSpPr txBox="1"/>
          <p:nvPr/>
        </p:nvSpPr>
        <p:spPr>
          <a:xfrm>
            <a:off x="6309360" y="1783080"/>
            <a:ext cx="2194560" cy="685800"/>
          </a:xfrm>
          <a:prstGeom prst="rect">
            <a:avLst/>
          </a:prstGeom>
          <a:noFill/>
          <a:ln/>
        </p:spPr>
        <p:txBody>
          <a:bodyPr wrap="square" lIns="0" tIns="0" rIns="0" bIns="0" rtlCol="0" anchor="b"/>
          <a:lstStyle/>
          <a:p>
            <a:pPr indent="0" marL="0">
              <a:buNone/>
            </a:pPr>
            <a:r>
              <a:rPr lang="en-US" sz="3600" b="1" dirty="0">
                <a:solidFill>
                  <a:srgbClr val="2E8B57"/>
                </a:solidFill>
                <a:latin typeface="Cambria" pitchFamily="34" charset="0"/>
                <a:ea typeface="Cambria" pitchFamily="34" charset="-122"/>
                <a:cs typeface="Cambria" pitchFamily="34" charset="-120"/>
              </a:rPr>
              <a:t>Seconds</a:t>
            </a:r>
            <a:endParaRPr lang="en-US" sz="3600" dirty="0"/>
          </a:p>
        </p:txBody>
      </p:sp>
      <p:sp>
        <p:nvSpPr>
          <p:cNvPr id="17" name="Text 11"/>
          <p:cNvSpPr txBox="1"/>
          <p:nvPr/>
        </p:nvSpPr>
        <p:spPr>
          <a:xfrm>
            <a:off x="6309360" y="2514600"/>
            <a:ext cx="2194560" cy="8229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one measured test time per car – what we predict</a:t>
            </a:r>
            <a:endParaRPr lang="en-US" sz="1200" dirty="0"/>
          </a:p>
        </p:txBody>
      </p:sp>
      <p:sp>
        <p:nvSpPr>
          <p:cNvPr id="18" name="meaning"/>
          <p:cNvSpPr/>
          <p:nvPr/>
        </p:nvSpPr>
        <p:spPr>
          <a:xfrm>
            <a:off x="457200" y="3611880"/>
            <a:ext cx="8229600" cy="548640"/>
          </a:xfrm>
          <a:prstGeom prst="roundRect">
            <a:avLst>
              <a:gd name="adj" fmla="val 13333"/>
            </a:avLst>
          </a:prstGeom>
          <a:solidFill>
            <a:srgbClr val="E6F3EC"/>
          </a:solidFill>
          <a:ln w="12700">
            <a:solidFill>
              <a:srgbClr val="E6F3EC"/>
            </a:solidFill>
            <a:prstDash val="solid"/>
          </a:ln>
        </p:spPr>
      </p:sp>
      <p:sp>
        <p:nvSpPr>
          <p:cNvPr id="19" name="Text 13"/>
          <p:cNvSpPr txBox="1"/>
          <p:nvPr/>
        </p:nvSpPr>
        <p:spPr>
          <a:xfrm>
            <a:off x="640080" y="3611880"/>
            <a:ext cx="7863840" cy="54864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Meaning: </a:t>
            </a:r>
            <a:pPr indent="0" marL="0">
              <a:buNone/>
            </a:pPr>
            <a:r>
              <a:rPr lang="en-US" sz="1400" dirty="0">
                <a:solidFill>
                  <a:srgbClr val="1F2933"/>
                </a:solidFill>
                <a:latin typeface="Calibri" pitchFamily="34" charset="0"/>
                <a:ea typeface="Calibri" pitchFamily="34" charset="-122"/>
                <a:cs typeface="Calibri" pitchFamily="34" charset="-120"/>
              </a:rPr>
              <a:t>real factory data, but anonymised: we see the values, not what each column means (→ slide 14).</a:t>
            </a:r>
            <a:endParaRPr lang="en-US" sz="1400" dirty="0"/>
          </a:p>
        </p:txBody>
      </p:sp>
      <p:sp>
        <p:nvSpPr>
          <p:cNvPr id="20" name="Text 14"/>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explained on slide 14</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Finding 1: same car, different time</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a:t>
            </a:r>
            <a:endParaRPr lang="en-US" sz="900" dirty="0"/>
          </a:p>
        </p:txBody>
      </p:sp>
      <p:pic>
        <p:nvPicPr>
          <p:cNvPr id="6" name="Image 0" descr="preencoded.png">    </p:cNvPr>
          <p:cNvPicPr>
            <a:picLocks noChangeAspect="1"/>
          </p:cNvPicPr>
          <p:nvPr/>
        </p:nvPicPr>
        <p:blipFill>
          <a:blip r:embed="rId1"/>
          <a:stretch>
            <a:fillRect/>
          </a:stretch>
        </p:blipFill>
        <p:spPr>
          <a:xfrm>
            <a:off x="640080" y="1188720"/>
            <a:ext cx="640080" cy="640080"/>
          </a:xfrm>
          <a:prstGeom prst="rect">
            <a:avLst/>
          </a:prstGeom>
        </p:spPr>
      </p:pic>
      <p:sp>
        <p:nvSpPr>
          <p:cNvPr id="7" name="Text 3"/>
          <p:cNvSpPr txBox="1"/>
          <p:nvPr/>
        </p:nvSpPr>
        <p:spPr>
          <a:xfrm>
            <a:off x="1463040" y="1143000"/>
            <a:ext cx="7223760" cy="777240"/>
          </a:xfrm>
          <a:prstGeom prst="rect">
            <a:avLst/>
          </a:prstGeom>
          <a:noFill/>
          <a:ln/>
        </p:spPr>
        <p:txBody>
          <a:bodyPr wrap="square" lIns="0" tIns="0" rIns="0" bIns="0" rtlCol="0" anchor="ctr"/>
          <a:lstStyle/>
          <a:p>
            <a:pPr indent="0" marL="0">
              <a:buNone/>
            </a:pPr>
            <a:r>
              <a:rPr lang="en-US" sz="1800" b="1" dirty="0">
                <a:solidFill>
                  <a:srgbClr val="164A82"/>
                </a:solidFill>
                <a:latin typeface="Calibri" pitchFamily="34" charset="0"/>
                <a:ea typeface="Calibri" pitchFamily="34" charset="-122"/>
                <a:cs typeface="Calibri" pitchFamily="34" charset="-120"/>
              </a:rPr>
              <a:t>Cars with exactly the same configuration still need different test times – by about 8 seconds.</a:t>
            </a:r>
            <a:endParaRPr lang="en-US" sz="1800" dirty="0"/>
          </a:p>
        </p:txBody>
      </p:sp>
      <p:sp>
        <p:nvSpPr>
          <p:cNvPr id="8" name="Text 4"/>
          <p:cNvSpPr txBox="1"/>
          <p:nvPr/>
        </p:nvSpPr>
        <p:spPr>
          <a:xfrm>
            <a:off x="640080" y="2148840"/>
            <a:ext cx="3657600" cy="685800"/>
          </a:xfrm>
          <a:prstGeom prst="rect">
            <a:avLst/>
          </a:prstGeom>
          <a:noFill/>
          <a:ln/>
        </p:spPr>
        <p:txBody>
          <a:bodyPr wrap="square" lIns="0" tIns="0" rIns="0" bIns="0" rtlCol="0" anchor="b"/>
          <a:lstStyle/>
          <a:p>
            <a:pPr indent="0" marL="0">
              <a:buNone/>
            </a:pPr>
            <a:r>
              <a:rPr lang="en-US" sz="4000" b="1" dirty="0">
                <a:solidFill>
                  <a:srgbClr val="2E8B57"/>
                </a:solidFill>
                <a:latin typeface="Cambria" pitchFamily="34" charset="0"/>
                <a:ea typeface="Cambria" pitchFamily="34" charset="-122"/>
                <a:cs typeface="Cambria" pitchFamily="34" charset="-120"/>
              </a:rPr>
              <a:t>≈ 60 %</a:t>
            </a:r>
            <a:endParaRPr lang="en-US" sz="4000" dirty="0"/>
          </a:p>
        </p:txBody>
      </p:sp>
      <p:sp>
        <p:nvSpPr>
          <p:cNvPr id="9" name="Text 5"/>
          <p:cNvSpPr txBox="1"/>
          <p:nvPr/>
        </p:nvSpPr>
        <p:spPr>
          <a:xfrm>
            <a:off x="640080" y="2880360"/>
            <a:ext cx="3657600" cy="548640"/>
          </a:xfrm>
          <a:prstGeom prst="rect">
            <a:avLst/>
          </a:prstGeom>
          <a:noFill/>
          <a:ln/>
        </p:spPr>
        <p:txBody>
          <a:bodyPr wrap="square" lIns="0" tIns="0" rIns="0" bIns="0" rtlCol="0" anchor="t"/>
          <a:lstStyle/>
          <a:p>
            <a:pPr indent="0" marL="0">
              <a:buNone/>
            </a:pPr>
            <a:r>
              <a:rPr lang="en-US" sz="1300" dirty="0">
                <a:solidFill>
                  <a:srgbClr val="5B6670"/>
                </a:solidFill>
                <a:latin typeface="Calibri" pitchFamily="34" charset="0"/>
                <a:ea typeface="Calibri" pitchFamily="34" charset="-122"/>
                <a:cs typeface="Calibri" pitchFamily="34" charset="-120"/>
              </a:rPr>
              <a:t>of the differences in test time between different cars can be predicted, using the configuration as indicator – at most</a:t>
            </a:r>
            <a:endParaRPr lang="en-US" sz="1300" dirty="0"/>
          </a:p>
        </p:txBody>
      </p:sp>
      <p:sp>
        <p:nvSpPr>
          <p:cNvPr id="10" name="Text 6"/>
          <p:cNvSpPr txBox="1"/>
          <p:nvPr/>
        </p:nvSpPr>
        <p:spPr>
          <a:xfrm>
            <a:off x="4663440" y="2148840"/>
            <a:ext cx="3840480" cy="685800"/>
          </a:xfrm>
          <a:prstGeom prst="rect">
            <a:avLst/>
          </a:prstGeom>
          <a:noFill/>
          <a:ln/>
        </p:spPr>
        <p:txBody>
          <a:bodyPr wrap="square" lIns="0" tIns="0" rIns="0" bIns="0" rtlCol="0" anchor="b"/>
          <a:lstStyle/>
          <a:p>
            <a:pPr indent="0" marL="0">
              <a:buNone/>
            </a:pPr>
            <a:r>
              <a:rPr lang="en-US" sz="4000" b="1" dirty="0">
                <a:solidFill>
                  <a:srgbClr val="C77700"/>
                </a:solidFill>
                <a:latin typeface="Cambria" pitchFamily="34" charset="0"/>
                <a:ea typeface="Cambria" pitchFamily="34" charset="-122"/>
                <a:cs typeface="Cambria" pitchFamily="34" charset="-120"/>
              </a:rPr>
              <a:t>≈ 40 %</a:t>
            </a:r>
            <a:endParaRPr lang="en-US" sz="4000" dirty="0"/>
          </a:p>
        </p:txBody>
      </p:sp>
      <p:sp>
        <p:nvSpPr>
          <p:cNvPr id="11" name="Text 7"/>
          <p:cNvSpPr txBox="1"/>
          <p:nvPr/>
        </p:nvSpPr>
        <p:spPr>
          <a:xfrm>
            <a:off x="4663440" y="2880360"/>
            <a:ext cx="3840480" cy="548640"/>
          </a:xfrm>
          <a:prstGeom prst="rect">
            <a:avLst/>
          </a:prstGeom>
          <a:noFill/>
          <a:ln/>
        </p:spPr>
        <p:txBody>
          <a:bodyPr wrap="square" lIns="0" tIns="0" rIns="0" bIns="0" rtlCol="0" anchor="t"/>
          <a:lstStyle/>
          <a:p>
            <a:pPr indent="0" marL="0">
              <a:buNone/>
            </a:pPr>
            <a:r>
              <a:rPr lang="en-US" sz="1300" dirty="0">
                <a:solidFill>
                  <a:srgbClr val="5B6670"/>
                </a:solidFill>
                <a:latin typeface="Calibri" pitchFamily="34" charset="0"/>
                <a:ea typeface="Calibri" pitchFamily="34" charset="-122"/>
                <a:cs typeface="Calibri" pitchFamily="34" charset="-120"/>
              </a:rPr>
              <a:t>comes from the test itself (e.g. human error) – no model can predict it</a:t>
            </a:r>
            <a:endParaRPr lang="en-US" sz="1300" dirty="0"/>
          </a:p>
        </p:txBody>
      </p:sp>
      <p:sp>
        <p:nvSpPr>
          <p:cNvPr id="12" name="meaning"/>
          <p:cNvSpPr/>
          <p:nvPr/>
        </p:nvSpPr>
        <p:spPr>
          <a:xfrm>
            <a:off x="457200" y="3794760"/>
            <a:ext cx="8229600" cy="548640"/>
          </a:xfrm>
          <a:prstGeom prst="roundRect">
            <a:avLst>
              <a:gd name="adj" fmla="val 13333"/>
            </a:avLst>
          </a:prstGeom>
          <a:solidFill>
            <a:srgbClr val="E6F3EC"/>
          </a:solidFill>
          <a:ln w="12700">
            <a:solidFill>
              <a:srgbClr val="E6F3EC"/>
            </a:solidFill>
            <a:prstDash val="solid"/>
          </a:ln>
        </p:spPr>
      </p:sp>
      <p:sp>
        <p:nvSpPr>
          <p:cNvPr id="13" name="Text 9"/>
          <p:cNvSpPr txBox="1"/>
          <p:nvPr/>
        </p:nvSpPr>
        <p:spPr>
          <a:xfrm>
            <a:off x="640080" y="3794760"/>
            <a:ext cx="7863840" cy="54864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Meaning: </a:t>
            </a:r>
            <a:pPr indent="0" marL="0">
              <a:buNone/>
            </a:pPr>
            <a:r>
              <a:rPr lang="en-US" sz="1400" dirty="0">
                <a:solidFill>
                  <a:srgbClr val="1F2933"/>
                </a:solidFill>
                <a:latin typeface="Calibri" pitchFamily="34" charset="0"/>
                <a:ea typeface="Calibri" pitchFamily="34" charset="-122"/>
                <a:cs typeface="Calibri" pitchFamily="34" charset="-120"/>
              </a:rPr>
              <a:t>the answer to our hypothesis is no – and this sets a clear limit for any prediction (→ slide 15).</a:t>
            </a:r>
            <a:endParaRPr lang="en-US" sz="1400" dirty="0"/>
          </a:p>
        </p:txBody>
      </p:sp>
      <p:sp>
        <p:nvSpPr>
          <p:cNvPr id="14" name="Text 10"/>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explained on slides 15–16</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Finding 2: one column tells most of the story</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a:t>
            </a:r>
            <a:endParaRPr lang="en-US" sz="900" dirty="0"/>
          </a:p>
        </p:txBody>
      </p:sp>
      <p:pic>
        <p:nvPicPr>
          <p:cNvPr id="6" name="Image 0" descr="preencoded.png">    </p:cNvPr>
          <p:cNvPicPr>
            <a:picLocks noChangeAspect="1"/>
          </p:cNvPicPr>
          <p:nvPr/>
        </p:nvPicPr>
        <p:blipFill>
          <a:blip r:embed="rId1"/>
          <a:stretch>
            <a:fillRect/>
          </a:stretch>
        </p:blipFill>
        <p:spPr>
          <a:xfrm>
            <a:off x="640080" y="1188720"/>
            <a:ext cx="594360" cy="594360"/>
          </a:xfrm>
          <a:prstGeom prst="rect">
            <a:avLst/>
          </a:prstGeom>
        </p:spPr>
      </p:pic>
      <p:sp>
        <p:nvSpPr>
          <p:cNvPr id="7" name="Text 3"/>
          <p:cNvSpPr txBox="1"/>
          <p:nvPr/>
        </p:nvSpPr>
        <p:spPr>
          <a:xfrm>
            <a:off x="1463040" y="1143000"/>
            <a:ext cx="7223760" cy="777240"/>
          </a:xfrm>
          <a:prstGeom prst="rect">
            <a:avLst/>
          </a:prstGeom>
          <a:noFill/>
          <a:ln/>
        </p:spPr>
        <p:txBody>
          <a:bodyPr wrap="square" lIns="0" tIns="0" rIns="0" bIns="0" rtlCol="0" anchor="ctr"/>
          <a:lstStyle/>
          <a:p>
            <a:pPr indent="0" marL="0">
              <a:buNone/>
            </a:pPr>
            <a:r>
              <a:rPr lang="en-US" sz="1800" b="1" dirty="0">
                <a:solidFill>
                  <a:srgbClr val="164A82"/>
                </a:solidFill>
                <a:latin typeface="Calibri" pitchFamily="34" charset="0"/>
                <a:ea typeface="Calibri" pitchFamily="34" charset="-122"/>
                <a:cs typeface="Calibri" pitchFamily="34" charset="-120"/>
              </a:rPr>
              <a:t>Each car is described by 376 columns. One column, X0, sorts the cars into a few typical test times.</a:t>
            </a:r>
            <a:endParaRPr lang="en-US" sz="1800" dirty="0"/>
          </a:p>
        </p:txBody>
      </p:sp>
      <p:sp>
        <p:nvSpPr>
          <p:cNvPr id="8" name="Text 4"/>
          <p:cNvSpPr txBox="1"/>
          <p:nvPr/>
        </p:nvSpPr>
        <p:spPr>
          <a:xfrm>
            <a:off x="640080" y="2148840"/>
            <a:ext cx="3657600" cy="685800"/>
          </a:xfrm>
          <a:prstGeom prst="rect">
            <a:avLst/>
          </a:prstGeom>
          <a:noFill/>
          <a:ln/>
        </p:spPr>
        <p:txBody>
          <a:bodyPr wrap="square" lIns="0" tIns="0" rIns="0" bIns="0" rtlCol="0" anchor="b"/>
          <a:lstStyle/>
          <a:p>
            <a:pPr indent="0" marL="0">
              <a:buNone/>
            </a:pPr>
            <a:r>
              <a:rPr lang="en-US" sz="4000" b="1" dirty="0">
                <a:solidFill>
                  <a:srgbClr val="2B7BD8"/>
                </a:solidFill>
                <a:latin typeface="Cambria" pitchFamily="34" charset="0"/>
                <a:ea typeface="Cambria" pitchFamily="34" charset="-122"/>
                <a:cs typeface="Cambria" pitchFamily="34" charset="-120"/>
              </a:rPr>
              <a:t>57.5 %</a:t>
            </a:r>
            <a:endParaRPr lang="en-US" sz="4000" dirty="0"/>
          </a:p>
        </p:txBody>
      </p:sp>
      <p:sp>
        <p:nvSpPr>
          <p:cNvPr id="9" name="Text 5"/>
          <p:cNvSpPr txBox="1"/>
          <p:nvPr/>
        </p:nvSpPr>
        <p:spPr>
          <a:xfrm>
            <a:off x="640080" y="2880360"/>
            <a:ext cx="3657600" cy="548640"/>
          </a:xfrm>
          <a:prstGeom prst="rect">
            <a:avLst/>
          </a:prstGeom>
          <a:noFill/>
          <a:ln/>
        </p:spPr>
        <p:txBody>
          <a:bodyPr wrap="square" lIns="0" tIns="0" rIns="0" bIns="0" rtlCol="0" anchor="t"/>
          <a:lstStyle/>
          <a:p>
            <a:pPr indent="0" marL="0">
              <a:buNone/>
            </a:pPr>
            <a:r>
              <a:rPr lang="en-US" sz="1300" dirty="0">
                <a:solidFill>
                  <a:srgbClr val="5B6670"/>
                </a:solidFill>
                <a:latin typeface="Calibri" pitchFamily="34" charset="0"/>
                <a:ea typeface="Calibri" pitchFamily="34" charset="-122"/>
                <a:cs typeface="Calibri" pitchFamily="34" charset="-120"/>
              </a:rPr>
              <a:t>of the differences in test time between cars are explained by the column X0 alone</a:t>
            </a:r>
            <a:endParaRPr lang="en-US" sz="1300" dirty="0"/>
          </a:p>
        </p:txBody>
      </p:sp>
      <p:sp>
        <p:nvSpPr>
          <p:cNvPr id="10" name="Text 6"/>
          <p:cNvSpPr txBox="1"/>
          <p:nvPr/>
        </p:nvSpPr>
        <p:spPr>
          <a:xfrm>
            <a:off x="4663440" y="2148840"/>
            <a:ext cx="3840480" cy="685800"/>
          </a:xfrm>
          <a:prstGeom prst="rect">
            <a:avLst/>
          </a:prstGeom>
          <a:noFill/>
          <a:ln/>
        </p:spPr>
        <p:txBody>
          <a:bodyPr wrap="square" lIns="0" tIns="0" rIns="0" bIns="0" rtlCol="0" anchor="b"/>
          <a:lstStyle/>
          <a:p>
            <a:pPr indent="0" marL="0">
              <a:buNone/>
            </a:pPr>
            <a:r>
              <a:rPr lang="en-US" sz="4000" b="1" dirty="0">
                <a:solidFill>
                  <a:srgbClr val="5B6670"/>
                </a:solidFill>
                <a:latin typeface="Cambria" pitchFamily="34" charset="0"/>
                <a:ea typeface="Cambria" pitchFamily="34" charset="-122"/>
                <a:cs typeface="Cambria" pitchFamily="34" charset="-120"/>
              </a:rPr>
              <a:t>375</a:t>
            </a:r>
            <a:endParaRPr lang="en-US" sz="4000" dirty="0"/>
          </a:p>
        </p:txBody>
      </p:sp>
      <p:sp>
        <p:nvSpPr>
          <p:cNvPr id="11" name="Text 7"/>
          <p:cNvSpPr txBox="1"/>
          <p:nvPr/>
        </p:nvSpPr>
        <p:spPr>
          <a:xfrm>
            <a:off x="4663440" y="2880360"/>
            <a:ext cx="3840480" cy="548640"/>
          </a:xfrm>
          <a:prstGeom prst="rect">
            <a:avLst/>
          </a:prstGeom>
          <a:noFill/>
          <a:ln/>
        </p:spPr>
        <p:txBody>
          <a:bodyPr wrap="square" lIns="0" tIns="0" rIns="0" bIns="0" rtlCol="0" anchor="t"/>
          <a:lstStyle/>
          <a:p>
            <a:pPr indent="0" marL="0">
              <a:buNone/>
            </a:pPr>
            <a:r>
              <a:rPr lang="en-US" sz="1300" dirty="0">
                <a:solidFill>
                  <a:srgbClr val="5B6670"/>
                </a:solidFill>
                <a:latin typeface="Calibri" pitchFamily="34" charset="0"/>
                <a:ea typeface="Calibri" pitchFamily="34" charset="-122"/>
                <a:cs typeface="Calibri" pitchFamily="34" charset="-120"/>
              </a:rPr>
              <a:t>the other 375 columns mostly repeat what X0 already says</a:t>
            </a:r>
            <a:endParaRPr lang="en-US" sz="1300" dirty="0"/>
          </a:p>
        </p:txBody>
      </p:sp>
      <p:sp>
        <p:nvSpPr>
          <p:cNvPr id="12" name="meaning"/>
          <p:cNvSpPr/>
          <p:nvPr/>
        </p:nvSpPr>
        <p:spPr>
          <a:xfrm>
            <a:off x="457200" y="3794760"/>
            <a:ext cx="8229600" cy="502920"/>
          </a:xfrm>
          <a:prstGeom prst="roundRect">
            <a:avLst>
              <a:gd name="adj" fmla="val 14545"/>
            </a:avLst>
          </a:prstGeom>
          <a:solidFill>
            <a:srgbClr val="E6F3EC"/>
          </a:solidFill>
          <a:ln w="12700">
            <a:solidFill>
              <a:srgbClr val="E6F3EC"/>
            </a:solidFill>
            <a:prstDash val="solid"/>
          </a:ln>
        </p:spPr>
      </p:sp>
      <p:sp>
        <p:nvSpPr>
          <p:cNvPr id="13" name="Text 9"/>
          <p:cNvSpPr txBox="1"/>
          <p:nvPr/>
        </p:nvSpPr>
        <p:spPr>
          <a:xfrm>
            <a:off x="640080" y="3794760"/>
            <a:ext cx="7863840" cy="50292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Meaning: </a:t>
            </a:r>
            <a:pPr indent="0" marL="0">
              <a:buNone/>
            </a:pPr>
            <a:r>
              <a:rPr lang="en-US" sz="1400" dirty="0">
                <a:solidFill>
                  <a:srgbClr val="1F2933"/>
                </a:solidFill>
                <a:latin typeface="Calibri" pitchFamily="34" charset="0"/>
                <a:ea typeface="Calibri" pitchFamily="34" charset="-122"/>
                <a:cs typeface="Calibri" pitchFamily="34" charset="-120"/>
              </a:rPr>
              <a:t>the test time depends mainly on the value in one column, X0 (→ slide 17).</a:t>
            </a:r>
            <a:endParaRPr lang="en-US" sz="1400" dirty="0"/>
          </a:p>
        </p:txBody>
      </p:sp>
      <p:sp>
        <p:nvSpPr>
          <p:cNvPr id="14" name="Text 10"/>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explained on slide 17</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Our prediction</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a:t>
            </a:r>
            <a:endParaRPr lang="en-US" sz="900" dirty="0"/>
          </a:p>
        </p:txBody>
      </p:sp>
      <p:sp>
        <p:nvSpPr>
          <p:cNvPr id="6" name="card"/>
          <p:cNvSpPr/>
          <p:nvPr/>
        </p:nvSpPr>
        <p:spPr>
          <a:xfrm>
            <a:off x="457200" y="1097280"/>
            <a:ext cx="3931920" cy="2377440"/>
          </a:xfrm>
          <a:prstGeom prst="roundRect">
            <a:avLst>
              <a:gd name="adj" fmla="val 3846"/>
            </a:avLst>
          </a:prstGeom>
          <a:solidFill>
            <a:srgbClr val="F3F6F9"/>
          </a:solidFill>
          <a:ln w="12700">
            <a:solidFill>
              <a:srgbClr val="F3F6F9"/>
            </a:solidFill>
            <a:prstDash val="solid"/>
          </a:ln>
        </p:spPr>
      </p:sp>
      <p:sp>
        <p:nvSpPr>
          <p:cNvPr id="7" name="card"/>
          <p:cNvSpPr/>
          <p:nvPr/>
        </p:nvSpPr>
        <p:spPr>
          <a:xfrm>
            <a:off x="4754880" y="1097280"/>
            <a:ext cx="3931920" cy="2377440"/>
          </a:xfrm>
          <a:prstGeom prst="roundRect">
            <a:avLst>
              <a:gd name="adj" fmla="val 3846"/>
            </a:avLst>
          </a:prstGeom>
          <a:solidFill>
            <a:srgbClr val="E6F3EC"/>
          </a:solidFill>
          <a:ln w="12700">
            <a:solidFill>
              <a:srgbClr val="E6F3EC"/>
            </a:solidFill>
            <a:prstDash val="solid"/>
          </a:ln>
        </p:spPr>
      </p:sp>
      <p:sp>
        <p:nvSpPr>
          <p:cNvPr id="8" name="Text 5"/>
          <p:cNvSpPr txBox="1"/>
          <p:nvPr/>
        </p:nvSpPr>
        <p:spPr>
          <a:xfrm>
            <a:off x="685800" y="1234440"/>
            <a:ext cx="3474720" cy="365760"/>
          </a:xfrm>
          <a:prstGeom prst="rect">
            <a:avLst/>
          </a:prstGeom>
          <a:noFill/>
          <a:ln/>
        </p:spPr>
        <p:txBody>
          <a:bodyPr wrap="square" lIns="0" tIns="0" rIns="0" bIns="0" rtlCol="0" anchor="t"/>
          <a:lstStyle/>
          <a:p>
            <a:pPr indent="0" marL="0">
              <a:buNone/>
            </a:pPr>
            <a:r>
              <a:rPr lang="en-US" sz="1500" b="1" dirty="0">
                <a:solidFill>
                  <a:srgbClr val="5B6670"/>
                </a:solidFill>
                <a:latin typeface="Calibri" pitchFamily="34" charset="0"/>
                <a:ea typeface="Calibri" pitchFamily="34" charset="-122"/>
                <a:cs typeface="Calibri" pitchFamily="34" charset="-120"/>
              </a:rPr>
              <a:t>Without a model</a:t>
            </a:r>
            <a:endParaRPr lang="en-US" sz="1500" dirty="0"/>
          </a:p>
        </p:txBody>
      </p:sp>
      <p:sp>
        <p:nvSpPr>
          <p:cNvPr id="9" name="Text 6"/>
          <p:cNvSpPr txBox="1"/>
          <p:nvPr/>
        </p:nvSpPr>
        <p:spPr>
          <a:xfrm>
            <a:off x="685800" y="1645920"/>
            <a:ext cx="3474720" cy="822960"/>
          </a:xfrm>
          <a:prstGeom prst="rect">
            <a:avLst/>
          </a:prstGeom>
          <a:noFill/>
          <a:ln/>
        </p:spPr>
        <p:txBody>
          <a:bodyPr wrap="square" lIns="0" tIns="0" rIns="0" bIns="0" rtlCol="0" anchor="t"/>
          <a:lstStyle/>
          <a:p>
            <a:pPr indent="0" marL="0">
              <a:buNone/>
            </a:pPr>
            <a:r>
              <a:rPr lang="en-US" sz="4400" b="1" dirty="0">
                <a:solidFill>
                  <a:srgbClr val="5B6670"/>
                </a:solidFill>
                <a:latin typeface="Cambria" pitchFamily="34" charset="0"/>
                <a:ea typeface="Cambria" pitchFamily="34" charset="-122"/>
                <a:cs typeface="Cambria" pitchFamily="34" charset="-120"/>
              </a:rPr>
              <a:t>± 12.4 s</a:t>
            </a:r>
            <a:endParaRPr lang="en-US" sz="4400" dirty="0"/>
          </a:p>
        </p:txBody>
      </p:sp>
      <p:sp>
        <p:nvSpPr>
          <p:cNvPr id="10" name="Text 7"/>
          <p:cNvSpPr txBox="1"/>
          <p:nvPr/>
        </p:nvSpPr>
        <p:spPr>
          <a:xfrm>
            <a:off x="685800" y="2514600"/>
            <a:ext cx="3474720" cy="7315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typical planning error if every car gets the same average time</a:t>
            </a:r>
            <a:endParaRPr lang="en-US" sz="1300" dirty="0"/>
          </a:p>
        </p:txBody>
      </p:sp>
      <p:sp>
        <p:nvSpPr>
          <p:cNvPr id="11" name="Text 8"/>
          <p:cNvSpPr txBox="1"/>
          <p:nvPr/>
        </p:nvSpPr>
        <p:spPr>
          <a:xfrm>
            <a:off x="4983480" y="1234440"/>
            <a:ext cx="3474720" cy="365760"/>
          </a:xfrm>
          <a:prstGeom prst="rect">
            <a:avLst/>
          </a:prstGeom>
          <a:noFill/>
          <a:ln/>
        </p:spPr>
        <p:txBody>
          <a:bodyPr wrap="square" lIns="0" tIns="0" rIns="0" bIns="0" rtlCol="0" anchor="t"/>
          <a:lstStyle/>
          <a:p>
            <a:pPr indent="0" marL="0">
              <a:buNone/>
            </a:pPr>
            <a:r>
              <a:rPr lang="en-US" sz="1500" b="1" dirty="0">
                <a:solidFill>
                  <a:srgbClr val="2E8B57"/>
                </a:solidFill>
                <a:latin typeface="Calibri" pitchFamily="34" charset="0"/>
                <a:ea typeface="Calibri" pitchFamily="34" charset="-122"/>
                <a:cs typeface="Calibri" pitchFamily="34" charset="-120"/>
              </a:rPr>
              <a:t>With our model</a:t>
            </a:r>
            <a:endParaRPr lang="en-US" sz="1500" dirty="0"/>
          </a:p>
        </p:txBody>
      </p:sp>
      <p:sp>
        <p:nvSpPr>
          <p:cNvPr id="12" name="Text 9"/>
          <p:cNvSpPr txBox="1"/>
          <p:nvPr/>
        </p:nvSpPr>
        <p:spPr>
          <a:xfrm>
            <a:off x="4983480" y="1645920"/>
            <a:ext cx="3474720" cy="822960"/>
          </a:xfrm>
          <a:prstGeom prst="rect">
            <a:avLst/>
          </a:prstGeom>
          <a:noFill/>
          <a:ln/>
        </p:spPr>
        <p:txBody>
          <a:bodyPr wrap="square" lIns="0" tIns="0" rIns="0" bIns="0" rtlCol="0" anchor="t"/>
          <a:lstStyle/>
          <a:p>
            <a:pPr indent="0" marL="0">
              <a:buNone/>
            </a:pPr>
            <a:r>
              <a:rPr lang="en-US" sz="4400" b="1" dirty="0">
                <a:solidFill>
                  <a:srgbClr val="2E8B57"/>
                </a:solidFill>
                <a:latin typeface="Cambria" pitchFamily="34" charset="0"/>
                <a:ea typeface="Cambria" pitchFamily="34" charset="-122"/>
                <a:cs typeface="Cambria" pitchFamily="34" charset="-120"/>
              </a:rPr>
              <a:t>± 8.0 s</a:t>
            </a:r>
            <a:endParaRPr lang="en-US" sz="4400" dirty="0"/>
          </a:p>
        </p:txBody>
      </p:sp>
      <p:sp>
        <p:nvSpPr>
          <p:cNvPr id="13" name="Text 10"/>
          <p:cNvSpPr txBox="1"/>
          <p:nvPr/>
        </p:nvSpPr>
        <p:spPr>
          <a:xfrm>
            <a:off x="4983480" y="2514600"/>
            <a:ext cx="3474720" cy="7315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about 4.5 s closer per car – already at the limit set by the test itself</a:t>
            </a:r>
            <a:endParaRPr lang="en-US" sz="1300" dirty="0"/>
          </a:p>
        </p:txBody>
      </p:sp>
      <p:sp>
        <p:nvSpPr>
          <p:cNvPr id="14" name="meaning"/>
          <p:cNvSpPr/>
          <p:nvPr/>
        </p:nvSpPr>
        <p:spPr>
          <a:xfrm>
            <a:off x="457200" y="3611880"/>
            <a:ext cx="8229600" cy="685800"/>
          </a:xfrm>
          <a:prstGeom prst="roundRect">
            <a:avLst>
              <a:gd name="adj" fmla="val 10667"/>
            </a:avLst>
          </a:prstGeom>
          <a:solidFill>
            <a:srgbClr val="E6F3EC"/>
          </a:solidFill>
          <a:ln w="12700">
            <a:solidFill>
              <a:srgbClr val="E6F3EC"/>
            </a:solidFill>
            <a:prstDash val="solid"/>
          </a:ln>
        </p:spPr>
      </p:sp>
      <p:sp>
        <p:nvSpPr>
          <p:cNvPr id="15" name="Text 12"/>
          <p:cNvSpPr txBox="1"/>
          <p:nvPr/>
        </p:nvSpPr>
        <p:spPr>
          <a:xfrm>
            <a:off x="640080" y="3611880"/>
            <a:ext cx="7863840" cy="68580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Meaning: </a:t>
            </a:r>
            <a:pPr indent="0" marL="0">
              <a:buNone/>
            </a:pPr>
            <a:r>
              <a:rPr lang="en-US" sz="1400" dirty="0">
                <a:solidFill>
                  <a:srgbClr val="1F2933"/>
                </a:solidFill>
                <a:latin typeface="Calibri" pitchFamily="34" charset="0"/>
                <a:ea typeface="Calibri" pitchFamily="34" charset="-122"/>
                <a:cs typeface="Calibri" pitchFamily="34" charset="-120"/>
              </a:rPr>
              <a:t>the average test time is about 100.6 s. Without a model the plan is off by about 12.4 s per car, with our model by about 8 s. Three different methods all landed here, so we keep the simplest (→ slide 18).</a:t>
            </a:r>
            <a:endParaRPr lang="en-US" sz="1400" dirty="0"/>
          </a:p>
        </p:txBody>
      </p:sp>
      <p:sp>
        <p:nvSpPr>
          <p:cNvPr id="16" name="Text 13"/>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explained on slide 18</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How good is it?</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a:t>
            </a:r>
            <a:endParaRPr lang="en-US" sz="900" dirty="0"/>
          </a:p>
        </p:txBody>
      </p:sp>
      <p:sp>
        <p:nvSpPr>
          <p:cNvPr id="6" name="card"/>
          <p:cNvSpPr/>
          <p:nvPr/>
        </p:nvSpPr>
        <p:spPr>
          <a:xfrm>
            <a:off x="457200" y="1097280"/>
            <a:ext cx="2606040" cy="2286000"/>
          </a:xfrm>
          <a:prstGeom prst="roundRect">
            <a:avLst>
              <a:gd name="adj" fmla="val 4000"/>
            </a:avLst>
          </a:prstGeom>
          <a:solidFill>
            <a:srgbClr val="F3F6F9"/>
          </a:solidFill>
          <a:ln w="12700">
            <a:solidFill>
              <a:srgbClr val="F3F6F9"/>
            </a:solidFill>
            <a:prstDash val="solid"/>
          </a:ln>
        </p:spPr>
      </p:sp>
      <p:pic>
        <p:nvPicPr>
          <p:cNvPr id="7" name="Image 0" descr="preencoded.png">    </p:cNvPr>
          <p:cNvPicPr>
            <a:picLocks noChangeAspect="1"/>
          </p:cNvPicPr>
          <p:nvPr/>
        </p:nvPicPr>
        <p:blipFill>
          <a:blip r:embed="rId1"/>
          <a:stretch>
            <a:fillRect/>
          </a:stretch>
        </p:blipFill>
        <p:spPr>
          <a:xfrm>
            <a:off x="731520" y="1298448"/>
            <a:ext cx="457200" cy="457200"/>
          </a:xfrm>
          <a:prstGeom prst="rect">
            <a:avLst/>
          </a:prstGeom>
        </p:spPr>
      </p:pic>
      <p:sp>
        <p:nvSpPr>
          <p:cNvPr id="8" name="Text 4"/>
          <p:cNvSpPr txBox="1"/>
          <p:nvPr/>
        </p:nvSpPr>
        <p:spPr>
          <a:xfrm>
            <a:off x="731520" y="1783080"/>
            <a:ext cx="2194560" cy="685800"/>
          </a:xfrm>
          <a:prstGeom prst="rect">
            <a:avLst/>
          </a:prstGeom>
          <a:noFill/>
          <a:ln/>
        </p:spPr>
        <p:txBody>
          <a:bodyPr wrap="square" lIns="0" tIns="0" rIns="0" bIns="0" rtlCol="0" anchor="b"/>
          <a:lstStyle/>
          <a:p>
            <a:pPr indent="0" marL="0">
              <a:buNone/>
            </a:pPr>
            <a:r>
              <a:rPr lang="en-US" sz="3600" b="1" dirty="0">
                <a:solidFill>
                  <a:srgbClr val="2E8B57"/>
                </a:solidFill>
                <a:latin typeface="Cambria" pitchFamily="34" charset="0"/>
                <a:ea typeface="Cambria" pitchFamily="34" charset="-122"/>
                <a:cs typeface="Cambria" pitchFamily="34" charset="-120"/>
              </a:rPr>
              <a:t>91 of 100</a:t>
            </a:r>
            <a:endParaRPr lang="en-US" sz="3600" dirty="0"/>
          </a:p>
        </p:txBody>
      </p:sp>
      <p:sp>
        <p:nvSpPr>
          <p:cNvPr id="9" name="Text 5"/>
          <p:cNvSpPr txBox="1"/>
          <p:nvPr/>
        </p:nvSpPr>
        <p:spPr>
          <a:xfrm>
            <a:off x="731520" y="2514600"/>
            <a:ext cx="2194560" cy="8229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cars predicted within 10 seconds (tested on cars the model had not seen)</a:t>
            </a:r>
            <a:endParaRPr lang="en-US" sz="1200" dirty="0"/>
          </a:p>
        </p:txBody>
      </p:sp>
      <p:sp>
        <p:nvSpPr>
          <p:cNvPr id="10" name="card"/>
          <p:cNvSpPr/>
          <p:nvPr/>
        </p:nvSpPr>
        <p:spPr>
          <a:xfrm>
            <a:off x="3246120" y="1097280"/>
            <a:ext cx="2606040" cy="2286000"/>
          </a:xfrm>
          <a:prstGeom prst="roundRect">
            <a:avLst>
              <a:gd name="adj" fmla="val 4000"/>
            </a:avLst>
          </a:prstGeom>
          <a:solidFill>
            <a:srgbClr val="F3F6F9"/>
          </a:solidFill>
          <a:ln w="12700">
            <a:solidFill>
              <a:srgbClr val="F3F6F9"/>
            </a:solidFill>
            <a:prstDash val="solid"/>
          </a:ln>
        </p:spPr>
      </p:sp>
      <p:pic>
        <p:nvPicPr>
          <p:cNvPr id="11" name="Image 1" descr="preencoded.png">    </p:cNvPr>
          <p:cNvPicPr>
            <a:picLocks noChangeAspect="1"/>
          </p:cNvPicPr>
          <p:nvPr/>
        </p:nvPicPr>
        <p:blipFill>
          <a:blip r:embed="rId2"/>
          <a:stretch>
            <a:fillRect/>
          </a:stretch>
        </p:blipFill>
        <p:spPr>
          <a:xfrm>
            <a:off x="3520440" y="1298448"/>
            <a:ext cx="457200" cy="457200"/>
          </a:xfrm>
          <a:prstGeom prst="rect">
            <a:avLst/>
          </a:prstGeom>
        </p:spPr>
      </p:pic>
      <p:sp>
        <p:nvSpPr>
          <p:cNvPr id="12" name="Text 7"/>
          <p:cNvSpPr txBox="1"/>
          <p:nvPr/>
        </p:nvSpPr>
        <p:spPr>
          <a:xfrm>
            <a:off x="3520440" y="1783080"/>
            <a:ext cx="2194560" cy="685800"/>
          </a:xfrm>
          <a:prstGeom prst="rect">
            <a:avLst/>
          </a:prstGeom>
          <a:noFill/>
          <a:ln/>
        </p:spPr>
        <p:txBody>
          <a:bodyPr wrap="square" lIns="0" tIns="0" rIns="0" bIns="0" rtlCol="0" anchor="b"/>
          <a:lstStyle/>
          <a:p>
            <a:pPr indent="0" marL="0">
              <a:buNone/>
            </a:pPr>
            <a:r>
              <a:rPr lang="en-US" sz="3600" b="1" dirty="0">
                <a:solidFill>
                  <a:srgbClr val="2B7BD8"/>
                </a:solidFill>
                <a:latin typeface="Cambria" pitchFamily="34" charset="0"/>
                <a:ea typeface="Cambria" pitchFamily="34" charset="-122"/>
                <a:cs typeface="Cambria" pitchFamily="34" charset="-120"/>
              </a:rPr>
              <a:t>97 %</a:t>
            </a:r>
            <a:endParaRPr lang="en-US" sz="3600" dirty="0"/>
          </a:p>
        </p:txBody>
      </p:sp>
      <p:sp>
        <p:nvSpPr>
          <p:cNvPr id="13" name="Text 8"/>
          <p:cNvSpPr txBox="1"/>
          <p:nvPr/>
        </p:nvSpPr>
        <p:spPr>
          <a:xfrm>
            <a:off x="3520440" y="2514600"/>
            <a:ext cx="2194560" cy="8229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of the Kaggle winner's score (score = share of the differences explained), with one column (X0)</a:t>
            </a:r>
            <a:endParaRPr lang="en-US" sz="1200" dirty="0"/>
          </a:p>
        </p:txBody>
      </p:sp>
      <p:sp>
        <p:nvSpPr>
          <p:cNvPr id="14" name="card"/>
          <p:cNvSpPr/>
          <p:nvPr/>
        </p:nvSpPr>
        <p:spPr>
          <a:xfrm>
            <a:off x="6035040" y="1097280"/>
            <a:ext cx="2606040" cy="2286000"/>
          </a:xfrm>
          <a:prstGeom prst="roundRect">
            <a:avLst>
              <a:gd name="adj" fmla="val 4000"/>
            </a:avLst>
          </a:prstGeom>
          <a:solidFill>
            <a:srgbClr val="F3F6F9"/>
          </a:solidFill>
          <a:ln w="12700">
            <a:solidFill>
              <a:srgbClr val="F3F6F9"/>
            </a:solidFill>
            <a:prstDash val="solid"/>
          </a:ln>
        </p:spPr>
      </p:sp>
      <p:pic>
        <p:nvPicPr>
          <p:cNvPr id="15" name="Image 2" descr="preencoded.png">    </p:cNvPr>
          <p:cNvPicPr>
            <a:picLocks noChangeAspect="1"/>
          </p:cNvPicPr>
          <p:nvPr/>
        </p:nvPicPr>
        <p:blipFill>
          <a:blip r:embed="rId3"/>
          <a:stretch>
            <a:fillRect/>
          </a:stretch>
        </p:blipFill>
        <p:spPr>
          <a:xfrm>
            <a:off x="6309360" y="1298448"/>
            <a:ext cx="457200" cy="457200"/>
          </a:xfrm>
          <a:prstGeom prst="rect">
            <a:avLst/>
          </a:prstGeom>
        </p:spPr>
      </p:pic>
      <p:sp>
        <p:nvSpPr>
          <p:cNvPr id="16" name="Text 10"/>
          <p:cNvSpPr txBox="1"/>
          <p:nvPr/>
        </p:nvSpPr>
        <p:spPr>
          <a:xfrm>
            <a:off x="6309360" y="1783080"/>
            <a:ext cx="2194560" cy="685800"/>
          </a:xfrm>
          <a:prstGeom prst="rect">
            <a:avLst/>
          </a:prstGeom>
          <a:noFill/>
          <a:ln/>
        </p:spPr>
        <p:txBody>
          <a:bodyPr wrap="square" lIns="0" tIns="0" rIns="0" bIns="0" rtlCol="0" anchor="b"/>
          <a:lstStyle/>
          <a:p>
            <a:pPr indent="0" marL="0">
              <a:buNone/>
            </a:pPr>
            <a:r>
              <a:rPr lang="en-US" sz="3600" b="1" dirty="0">
                <a:solidFill>
                  <a:srgbClr val="C77700"/>
                </a:solidFill>
                <a:latin typeface="Cambria" pitchFamily="34" charset="0"/>
                <a:ea typeface="Cambria" pitchFamily="34" charset="-122"/>
                <a:cs typeface="Cambria" pitchFamily="34" charset="-120"/>
              </a:rPr>
              <a:t>A few</a:t>
            </a:r>
            <a:endParaRPr lang="en-US" sz="3600" dirty="0"/>
          </a:p>
        </p:txBody>
      </p:sp>
      <p:sp>
        <p:nvSpPr>
          <p:cNvPr id="17" name="Text 11"/>
          <p:cNvSpPr txBox="1"/>
          <p:nvPr/>
        </p:nvSpPr>
        <p:spPr>
          <a:xfrm>
            <a:off x="6309360" y="2514600"/>
            <a:ext cx="2194560" cy="8229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very long tests are the big misses – they come from the test itself</a:t>
            </a:r>
            <a:endParaRPr lang="en-US" sz="1200" dirty="0"/>
          </a:p>
        </p:txBody>
      </p:sp>
      <p:sp>
        <p:nvSpPr>
          <p:cNvPr id="18" name="meaning"/>
          <p:cNvSpPr/>
          <p:nvPr/>
        </p:nvSpPr>
        <p:spPr>
          <a:xfrm>
            <a:off x="457200" y="3611880"/>
            <a:ext cx="8229600" cy="548640"/>
          </a:xfrm>
          <a:prstGeom prst="roundRect">
            <a:avLst>
              <a:gd name="adj" fmla="val 13333"/>
            </a:avLst>
          </a:prstGeom>
          <a:solidFill>
            <a:srgbClr val="E6F3EC"/>
          </a:solidFill>
          <a:ln w="12700">
            <a:solidFill>
              <a:srgbClr val="E6F3EC"/>
            </a:solidFill>
            <a:prstDash val="solid"/>
          </a:ln>
        </p:spPr>
      </p:sp>
      <p:sp>
        <p:nvSpPr>
          <p:cNvPr id="19" name="Text 13"/>
          <p:cNvSpPr txBox="1"/>
          <p:nvPr/>
        </p:nvSpPr>
        <p:spPr>
          <a:xfrm>
            <a:off x="640080" y="3611880"/>
            <a:ext cx="7863840" cy="54864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Meaning: </a:t>
            </a:r>
            <a:pPr indent="0" marL="0">
              <a:buNone/>
            </a:pPr>
            <a:r>
              <a:rPr lang="en-US" sz="1400" dirty="0">
                <a:solidFill>
                  <a:srgbClr val="1F2933"/>
                </a:solidFill>
                <a:latin typeface="Calibri" pitchFamily="34" charset="0"/>
                <a:ea typeface="Calibri" pitchFamily="34" charset="-122"/>
                <a:cs typeface="Calibri" pitchFamily="34" charset="-120"/>
              </a:rPr>
              <a:t>accurate enough to plan a test bench – not to promise each single car's time (→ slide 19).</a:t>
            </a:r>
            <a:endParaRPr lang="en-US" sz="1400" dirty="0"/>
          </a:p>
        </p:txBody>
      </p:sp>
      <p:sp>
        <p:nvSpPr>
          <p:cNvPr id="20" name="Text 14"/>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explained on slide 19</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What it means for planning</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a:t>
            </a:r>
            <a:endParaRPr lang="en-US" sz="900" dirty="0"/>
          </a:p>
        </p:txBody>
      </p:sp>
      <p:sp>
        <p:nvSpPr>
          <p:cNvPr id="6" name="flow0"/>
          <p:cNvSpPr/>
          <p:nvPr/>
        </p:nvSpPr>
        <p:spPr>
          <a:xfrm>
            <a:off x="457200" y="1097280"/>
            <a:ext cx="2377440" cy="1234440"/>
          </a:xfrm>
          <a:prstGeom prst="roundRect">
            <a:avLst>
              <a:gd name="adj" fmla="val 7407"/>
            </a:avLst>
          </a:prstGeom>
          <a:solidFill>
            <a:srgbClr val="2B7BD8"/>
          </a:solidFill>
          <a:ln w="12700">
            <a:solidFill>
              <a:srgbClr val="2B7BD8"/>
            </a:solidFill>
            <a:prstDash val="solid"/>
          </a:ln>
        </p:spPr>
      </p:sp>
      <p:pic>
        <p:nvPicPr>
          <p:cNvPr id="7" name="Image 0" descr="preencoded.png">    </p:cNvPr>
          <p:cNvPicPr>
            <a:picLocks noChangeAspect="1"/>
          </p:cNvPicPr>
          <p:nvPr/>
        </p:nvPicPr>
        <p:blipFill>
          <a:blip r:embed="rId1"/>
          <a:stretch>
            <a:fillRect/>
          </a:stretch>
        </p:blipFill>
        <p:spPr>
          <a:xfrm>
            <a:off x="640080" y="1234440"/>
            <a:ext cx="365760" cy="365760"/>
          </a:xfrm>
          <a:prstGeom prst="rect">
            <a:avLst/>
          </a:prstGeom>
        </p:spPr>
      </p:pic>
      <p:sp>
        <p:nvSpPr>
          <p:cNvPr id="8" name="Text 4"/>
          <p:cNvSpPr txBox="1"/>
          <p:nvPr/>
        </p:nvSpPr>
        <p:spPr>
          <a:xfrm>
            <a:off x="1097280" y="1234440"/>
            <a:ext cx="16459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Car order</a:t>
            </a:r>
            <a:endParaRPr lang="en-US" sz="1600" dirty="0"/>
          </a:p>
        </p:txBody>
      </p:sp>
      <p:sp>
        <p:nvSpPr>
          <p:cNvPr id="9" name="Text 5"/>
          <p:cNvSpPr txBox="1"/>
          <p:nvPr/>
        </p:nvSpPr>
        <p:spPr>
          <a:xfrm>
            <a:off x="640080" y="1691640"/>
            <a:ext cx="2057400"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its configuration is known in advance</a:t>
            </a:r>
            <a:endParaRPr lang="en-US" sz="1300" dirty="0"/>
          </a:p>
        </p:txBody>
      </p:sp>
      <p:sp>
        <p:nvSpPr>
          <p:cNvPr id="10" name="arrow0"/>
          <p:cNvSpPr/>
          <p:nvPr/>
        </p:nvSpPr>
        <p:spPr>
          <a:xfrm>
            <a:off x="2907792" y="1554480"/>
            <a:ext cx="320040" cy="320040"/>
          </a:xfrm>
          <a:prstGeom prst="rightArrow">
            <a:avLst/>
          </a:prstGeom>
          <a:solidFill>
            <a:srgbClr val="D5DCE3"/>
          </a:solidFill>
          <a:ln w="12700">
            <a:solidFill>
              <a:srgbClr val="D5DCE3"/>
            </a:solidFill>
            <a:prstDash val="solid"/>
          </a:ln>
        </p:spPr>
      </p:sp>
      <p:sp>
        <p:nvSpPr>
          <p:cNvPr id="11" name="flow1"/>
          <p:cNvSpPr/>
          <p:nvPr/>
        </p:nvSpPr>
        <p:spPr>
          <a:xfrm>
            <a:off x="3291840" y="1097280"/>
            <a:ext cx="2377440" cy="1234440"/>
          </a:xfrm>
          <a:prstGeom prst="roundRect">
            <a:avLst>
              <a:gd name="adj" fmla="val 7407"/>
            </a:avLst>
          </a:prstGeom>
          <a:solidFill>
            <a:srgbClr val="2B7BD8"/>
          </a:solidFill>
          <a:ln w="12700">
            <a:solidFill>
              <a:srgbClr val="2B7BD8"/>
            </a:solidFill>
            <a:prstDash val="solid"/>
          </a:ln>
        </p:spPr>
      </p:sp>
      <p:pic>
        <p:nvPicPr>
          <p:cNvPr id="12" name="Image 1" descr="preencoded.png">    </p:cNvPr>
          <p:cNvPicPr>
            <a:picLocks noChangeAspect="1"/>
          </p:cNvPicPr>
          <p:nvPr/>
        </p:nvPicPr>
        <p:blipFill>
          <a:blip r:embed="rId2"/>
          <a:stretch>
            <a:fillRect/>
          </a:stretch>
        </p:blipFill>
        <p:spPr>
          <a:xfrm>
            <a:off x="3474720" y="1234440"/>
            <a:ext cx="365760" cy="365760"/>
          </a:xfrm>
          <a:prstGeom prst="rect">
            <a:avLst/>
          </a:prstGeom>
        </p:spPr>
      </p:pic>
      <p:sp>
        <p:nvSpPr>
          <p:cNvPr id="13" name="Text 8"/>
          <p:cNvSpPr txBox="1"/>
          <p:nvPr/>
        </p:nvSpPr>
        <p:spPr>
          <a:xfrm>
            <a:off x="3931920" y="1234440"/>
            <a:ext cx="16459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Prediction</a:t>
            </a:r>
            <a:endParaRPr lang="en-US" sz="1600" dirty="0"/>
          </a:p>
        </p:txBody>
      </p:sp>
      <p:sp>
        <p:nvSpPr>
          <p:cNvPr id="14" name="Text 9"/>
          <p:cNvSpPr txBox="1"/>
          <p:nvPr/>
        </p:nvSpPr>
        <p:spPr>
          <a:xfrm>
            <a:off x="3474720" y="1691640"/>
            <a:ext cx="2057400"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expected test time for this car</a:t>
            </a:r>
            <a:endParaRPr lang="en-US" sz="1300" dirty="0"/>
          </a:p>
        </p:txBody>
      </p:sp>
      <p:sp>
        <p:nvSpPr>
          <p:cNvPr id="15" name="arrow1"/>
          <p:cNvSpPr/>
          <p:nvPr/>
        </p:nvSpPr>
        <p:spPr>
          <a:xfrm>
            <a:off x="5742432" y="1554480"/>
            <a:ext cx="320040" cy="320040"/>
          </a:xfrm>
          <a:prstGeom prst="rightArrow">
            <a:avLst/>
          </a:prstGeom>
          <a:solidFill>
            <a:srgbClr val="D5DCE3"/>
          </a:solidFill>
          <a:ln w="12700">
            <a:solidFill>
              <a:srgbClr val="D5DCE3"/>
            </a:solidFill>
            <a:prstDash val="solid"/>
          </a:ln>
        </p:spPr>
      </p:sp>
      <p:sp>
        <p:nvSpPr>
          <p:cNvPr id="16" name="flow2"/>
          <p:cNvSpPr/>
          <p:nvPr/>
        </p:nvSpPr>
        <p:spPr>
          <a:xfrm>
            <a:off x="6126480" y="1097280"/>
            <a:ext cx="2377440" cy="1234440"/>
          </a:xfrm>
          <a:prstGeom prst="roundRect">
            <a:avLst>
              <a:gd name="adj" fmla="val 7407"/>
            </a:avLst>
          </a:prstGeom>
          <a:solidFill>
            <a:srgbClr val="2E8B57"/>
          </a:solidFill>
          <a:ln w="12700">
            <a:solidFill>
              <a:srgbClr val="2E8B57"/>
            </a:solidFill>
            <a:prstDash val="solid"/>
          </a:ln>
        </p:spPr>
      </p:sp>
      <p:pic>
        <p:nvPicPr>
          <p:cNvPr id="17" name="Image 2" descr="preencoded.png">    </p:cNvPr>
          <p:cNvPicPr>
            <a:picLocks noChangeAspect="1"/>
          </p:cNvPicPr>
          <p:nvPr/>
        </p:nvPicPr>
        <p:blipFill>
          <a:blip r:embed="rId3"/>
          <a:stretch>
            <a:fillRect/>
          </a:stretch>
        </p:blipFill>
        <p:spPr>
          <a:xfrm>
            <a:off x="6309360" y="1234440"/>
            <a:ext cx="365760" cy="365760"/>
          </a:xfrm>
          <a:prstGeom prst="rect">
            <a:avLst/>
          </a:prstGeom>
        </p:spPr>
      </p:pic>
      <p:sp>
        <p:nvSpPr>
          <p:cNvPr id="18" name="Text 12"/>
          <p:cNvSpPr txBox="1"/>
          <p:nvPr/>
        </p:nvSpPr>
        <p:spPr>
          <a:xfrm>
            <a:off x="6766560" y="1234440"/>
            <a:ext cx="16459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Bench plan</a:t>
            </a:r>
            <a:endParaRPr lang="en-US" sz="1600" dirty="0"/>
          </a:p>
        </p:txBody>
      </p:sp>
      <p:sp>
        <p:nvSpPr>
          <p:cNvPr id="19" name="Text 13"/>
          <p:cNvSpPr txBox="1"/>
          <p:nvPr/>
        </p:nvSpPr>
        <p:spPr>
          <a:xfrm>
            <a:off x="6309360" y="1691640"/>
            <a:ext cx="2057400"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slot per car + a buffer for unusual tests</a:t>
            </a:r>
            <a:endParaRPr lang="en-US" sz="1300" dirty="0"/>
          </a:p>
        </p:txBody>
      </p:sp>
      <p:sp>
        <p:nvSpPr>
          <p:cNvPr id="20" name="card"/>
          <p:cNvSpPr/>
          <p:nvPr/>
        </p:nvSpPr>
        <p:spPr>
          <a:xfrm>
            <a:off x="457200" y="2606040"/>
            <a:ext cx="8229600" cy="1691640"/>
          </a:xfrm>
          <a:prstGeom prst="roundRect">
            <a:avLst>
              <a:gd name="adj" fmla="val 5405"/>
            </a:avLst>
          </a:prstGeom>
          <a:solidFill>
            <a:srgbClr val="E6F3EC"/>
          </a:solidFill>
          <a:ln w="12700">
            <a:solidFill>
              <a:srgbClr val="E6F3EC"/>
            </a:solidFill>
            <a:prstDash val="solid"/>
          </a:ln>
        </p:spPr>
      </p:sp>
      <p:sp>
        <p:nvSpPr>
          <p:cNvPr id="21" name="Text 15"/>
          <p:cNvSpPr txBox="1"/>
          <p:nvPr/>
        </p:nvSpPr>
        <p:spPr>
          <a:xfrm>
            <a:off x="685800" y="2697480"/>
            <a:ext cx="7772400" cy="1508760"/>
          </a:xfrm>
          <a:prstGeom prst="rect">
            <a:avLst/>
          </a:prstGeom>
          <a:noFill/>
          <a:ln/>
        </p:spPr>
        <p:txBody>
          <a:bodyPr wrap="square" lIns="0" tIns="0" rIns="0" bIns="0" rtlCol="0" anchor="ctr"/>
          <a:lstStyle/>
          <a:p>
            <a:pPr indent="0" marL="0">
              <a:spcAft>
                <a:spcPts val="600"/>
              </a:spcAft>
              <a:buNone/>
            </a:pPr>
            <a:r>
              <a:rPr lang="en-US" sz="1500" b="1" dirty="0">
                <a:solidFill>
                  <a:srgbClr val="2E8B57"/>
                </a:solidFill>
                <a:latin typeface="Calibri" pitchFamily="34" charset="0"/>
                <a:ea typeface="Calibri" pitchFamily="34" charset="-122"/>
                <a:cs typeface="Calibri" pitchFamily="34" charset="-120"/>
              </a:rPr>
              <a:t>Expert view (Mohammad Bajbouj, automotive R&amp;D): </a:t>
            </a:r>
            <a:pPr indent="0" marL="0">
              <a:spcAft>
                <a:spcPts val="600"/>
              </a:spcAft>
              <a:buNone/>
            </a:pPr>
            <a:r>
              <a:rPr lang="en-US" sz="1500" dirty="0">
                <a:solidFill>
                  <a:srgbClr val="1F2933"/>
                </a:solidFill>
                <a:latin typeface="Calibri" pitchFamily="34" charset="0"/>
                <a:ea typeface="Calibri" pitchFamily="34" charset="-122"/>
                <a:cs typeface="Calibri" pitchFamily="34" charset="-120"/>
              </a:rPr>
              <a:t>plan each car with its predicted test time to reduce energy use in the end, and keep a buffer for extraordinary test times.</a:t>
            </a:r>
            <a:endParaRPr lang="en-US" sz="1500" dirty="0"/>
          </a:p>
          <a:p>
            <a:pPr indent="0" marL="0">
              <a:spcAft>
                <a:spcPts val="600"/>
              </a:spcAft>
              <a:buNone/>
            </a:pPr>
            <a:r>
              <a:rPr lang="en-US" sz="1500" dirty="0">
                <a:solidFill>
                  <a:srgbClr val="1F2933"/>
                </a:solidFill>
                <a:latin typeface="Calibri" pitchFamily="34" charset="0"/>
                <a:ea typeface="Calibri" pitchFamily="34" charset="-122"/>
                <a:cs typeface="Calibri" pitchFamily="34" charset="-120"/>
              </a:rPr>
              <a:t>The test itself does not get shorter – the plan gets more accurate: less waiting and less overrun on the bench.</a:t>
            </a:r>
            <a:endParaRPr lang="en-US" sz="15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Why it matters at factory scale</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a:t>
            </a:r>
            <a:endParaRPr lang="en-US" sz="900" dirty="0"/>
          </a:p>
        </p:txBody>
      </p:sp>
      <p:sp>
        <p:nvSpPr>
          <p:cNvPr id="6" name="card"/>
          <p:cNvSpPr/>
          <p:nvPr/>
        </p:nvSpPr>
        <p:spPr>
          <a:xfrm>
            <a:off x="457200" y="1097280"/>
            <a:ext cx="2606040" cy="2286000"/>
          </a:xfrm>
          <a:prstGeom prst="roundRect">
            <a:avLst>
              <a:gd name="adj" fmla="val 4000"/>
            </a:avLst>
          </a:prstGeom>
          <a:solidFill>
            <a:srgbClr val="F3F6F9"/>
          </a:solidFill>
          <a:ln w="12700">
            <a:solidFill>
              <a:srgbClr val="F3F6F9"/>
            </a:solidFill>
            <a:prstDash val="solid"/>
          </a:ln>
        </p:spPr>
      </p:sp>
      <p:pic>
        <p:nvPicPr>
          <p:cNvPr id="7" name="Image 0" descr="preencoded.png">    </p:cNvPr>
          <p:cNvPicPr>
            <a:picLocks noChangeAspect="1"/>
          </p:cNvPicPr>
          <p:nvPr/>
        </p:nvPicPr>
        <p:blipFill>
          <a:blip r:embed="rId1"/>
          <a:stretch>
            <a:fillRect/>
          </a:stretch>
        </p:blipFill>
        <p:spPr>
          <a:xfrm>
            <a:off x="731520" y="1298448"/>
            <a:ext cx="457200" cy="457200"/>
          </a:xfrm>
          <a:prstGeom prst="rect">
            <a:avLst/>
          </a:prstGeom>
        </p:spPr>
      </p:pic>
      <p:sp>
        <p:nvSpPr>
          <p:cNvPr id="8" name="Text 4"/>
          <p:cNvSpPr txBox="1"/>
          <p:nvPr/>
        </p:nvSpPr>
        <p:spPr>
          <a:xfrm>
            <a:off x="731520" y="1783080"/>
            <a:ext cx="2194560" cy="685800"/>
          </a:xfrm>
          <a:prstGeom prst="rect">
            <a:avLst/>
          </a:prstGeom>
          <a:noFill/>
          <a:ln/>
        </p:spPr>
        <p:txBody>
          <a:bodyPr wrap="square" lIns="0" tIns="0" rIns="0" bIns="0" rtlCol="0" anchor="b"/>
          <a:lstStyle/>
          <a:p>
            <a:pPr indent="0" marL="0">
              <a:buNone/>
            </a:pPr>
            <a:r>
              <a:rPr lang="en-US" sz="3600" b="1" dirty="0">
                <a:solidFill>
                  <a:srgbClr val="164A82"/>
                </a:solidFill>
                <a:latin typeface="Cambria" pitchFamily="34" charset="0"/>
                <a:ea typeface="Cambria" pitchFamily="34" charset="-122"/>
                <a:cs typeface="Cambria" pitchFamily="34" charset="-120"/>
              </a:rPr>
              <a:t>≈ 1,300</a:t>
            </a:r>
            <a:endParaRPr lang="en-US" sz="3600" dirty="0"/>
          </a:p>
        </p:txBody>
      </p:sp>
      <p:sp>
        <p:nvSpPr>
          <p:cNvPr id="9" name="Text 5"/>
          <p:cNvSpPr txBox="1"/>
          <p:nvPr/>
        </p:nvSpPr>
        <p:spPr>
          <a:xfrm>
            <a:off x="731520" y="2514600"/>
            <a:ext cx="2194560" cy="8229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cars a day in one large plant (about 300,000 a year)</a:t>
            </a:r>
            <a:endParaRPr lang="en-US" sz="1200" dirty="0"/>
          </a:p>
        </p:txBody>
      </p:sp>
      <p:sp>
        <p:nvSpPr>
          <p:cNvPr id="10" name="card"/>
          <p:cNvSpPr/>
          <p:nvPr/>
        </p:nvSpPr>
        <p:spPr>
          <a:xfrm>
            <a:off x="3246120" y="1097280"/>
            <a:ext cx="2606040" cy="2286000"/>
          </a:xfrm>
          <a:prstGeom prst="roundRect">
            <a:avLst>
              <a:gd name="adj" fmla="val 4000"/>
            </a:avLst>
          </a:prstGeom>
          <a:solidFill>
            <a:srgbClr val="F3F6F9"/>
          </a:solidFill>
          <a:ln w="12700">
            <a:solidFill>
              <a:srgbClr val="F3F6F9"/>
            </a:solidFill>
            <a:prstDash val="solid"/>
          </a:ln>
        </p:spPr>
      </p:sp>
      <p:pic>
        <p:nvPicPr>
          <p:cNvPr id="11" name="Image 1" descr="preencoded.png">    </p:cNvPr>
          <p:cNvPicPr>
            <a:picLocks noChangeAspect="1"/>
          </p:cNvPicPr>
          <p:nvPr/>
        </p:nvPicPr>
        <p:blipFill>
          <a:blip r:embed="rId2"/>
          <a:stretch>
            <a:fillRect/>
          </a:stretch>
        </p:blipFill>
        <p:spPr>
          <a:xfrm>
            <a:off x="3520440" y="1298448"/>
            <a:ext cx="457200" cy="457200"/>
          </a:xfrm>
          <a:prstGeom prst="rect">
            <a:avLst/>
          </a:prstGeom>
        </p:spPr>
      </p:pic>
      <p:sp>
        <p:nvSpPr>
          <p:cNvPr id="12" name="Text 7"/>
          <p:cNvSpPr txBox="1"/>
          <p:nvPr/>
        </p:nvSpPr>
        <p:spPr>
          <a:xfrm>
            <a:off x="3520440" y="1783080"/>
            <a:ext cx="2194560" cy="685800"/>
          </a:xfrm>
          <a:prstGeom prst="rect">
            <a:avLst/>
          </a:prstGeom>
          <a:noFill/>
          <a:ln/>
        </p:spPr>
        <p:txBody>
          <a:bodyPr wrap="square" lIns="0" tIns="0" rIns="0" bIns="0" rtlCol="0" anchor="b"/>
          <a:lstStyle/>
          <a:p>
            <a:pPr indent="0" marL="0">
              <a:buNone/>
            </a:pPr>
            <a:r>
              <a:rPr lang="en-US" sz="3600" b="1" dirty="0">
                <a:solidFill>
                  <a:srgbClr val="2B7BD8"/>
                </a:solidFill>
                <a:latin typeface="Cambria" pitchFamily="34" charset="0"/>
                <a:ea typeface="Cambria" pitchFamily="34" charset="-122"/>
                <a:cs typeface="Cambria" pitchFamily="34" charset="-120"/>
              </a:rPr>
              <a:t>4.5 s</a:t>
            </a:r>
            <a:endParaRPr lang="en-US" sz="3600" dirty="0"/>
          </a:p>
        </p:txBody>
      </p:sp>
      <p:sp>
        <p:nvSpPr>
          <p:cNvPr id="13" name="Text 8"/>
          <p:cNvSpPr txBox="1"/>
          <p:nvPr/>
        </p:nvSpPr>
        <p:spPr>
          <a:xfrm>
            <a:off x="3520440" y="2514600"/>
            <a:ext cx="2194560" cy="8229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more accurate plan per car</a:t>
            </a:r>
            <a:endParaRPr lang="en-US" sz="1200" dirty="0"/>
          </a:p>
        </p:txBody>
      </p:sp>
      <p:sp>
        <p:nvSpPr>
          <p:cNvPr id="14" name="card"/>
          <p:cNvSpPr/>
          <p:nvPr/>
        </p:nvSpPr>
        <p:spPr>
          <a:xfrm>
            <a:off x="6035040" y="1097280"/>
            <a:ext cx="2606040" cy="2286000"/>
          </a:xfrm>
          <a:prstGeom prst="roundRect">
            <a:avLst>
              <a:gd name="adj" fmla="val 4000"/>
            </a:avLst>
          </a:prstGeom>
          <a:solidFill>
            <a:srgbClr val="F3F6F9"/>
          </a:solidFill>
          <a:ln w="12700">
            <a:solidFill>
              <a:srgbClr val="F3F6F9"/>
            </a:solidFill>
            <a:prstDash val="solid"/>
          </a:ln>
        </p:spPr>
      </p:sp>
      <p:pic>
        <p:nvPicPr>
          <p:cNvPr id="15" name="Image 2" descr="preencoded.png">    </p:cNvPr>
          <p:cNvPicPr>
            <a:picLocks noChangeAspect="1"/>
          </p:cNvPicPr>
          <p:nvPr/>
        </p:nvPicPr>
        <p:blipFill>
          <a:blip r:embed="rId3"/>
          <a:stretch>
            <a:fillRect/>
          </a:stretch>
        </p:blipFill>
        <p:spPr>
          <a:xfrm>
            <a:off x="6309360" y="1298448"/>
            <a:ext cx="457200" cy="457200"/>
          </a:xfrm>
          <a:prstGeom prst="rect">
            <a:avLst/>
          </a:prstGeom>
        </p:spPr>
      </p:pic>
      <p:sp>
        <p:nvSpPr>
          <p:cNvPr id="16" name="Text 10"/>
          <p:cNvSpPr txBox="1"/>
          <p:nvPr/>
        </p:nvSpPr>
        <p:spPr>
          <a:xfrm>
            <a:off x="6309360" y="1783080"/>
            <a:ext cx="2194560" cy="685800"/>
          </a:xfrm>
          <a:prstGeom prst="rect">
            <a:avLst/>
          </a:prstGeom>
          <a:noFill/>
          <a:ln/>
        </p:spPr>
        <p:txBody>
          <a:bodyPr wrap="square" lIns="0" tIns="0" rIns="0" bIns="0" rtlCol="0" anchor="b"/>
          <a:lstStyle/>
          <a:p>
            <a:pPr indent="0" marL="0">
              <a:buNone/>
            </a:pPr>
            <a:r>
              <a:rPr lang="en-US" sz="3600" b="1" dirty="0">
                <a:solidFill>
                  <a:srgbClr val="2E8B57"/>
                </a:solidFill>
                <a:latin typeface="Cambria" pitchFamily="34" charset="0"/>
                <a:ea typeface="Cambria" pitchFamily="34" charset="-122"/>
                <a:cs typeface="Cambria" pitchFamily="34" charset="-120"/>
              </a:rPr>
              <a:t>≈ 1.6 h</a:t>
            </a:r>
            <a:endParaRPr lang="en-US" sz="3600" dirty="0"/>
          </a:p>
        </p:txBody>
      </p:sp>
      <p:sp>
        <p:nvSpPr>
          <p:cNvPr id="17" name="Text 11"/>
          <p:cNvSpPr txBox="1"/>
          <p:nvPr/>
        </p:nvSpPr>
        <p:spPr>
          <a:xfrm>
            <a:off x="6309360" y="2514600"/>
            <a:ext cx="2194560" cy="8229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of more accurate bench planning every day – not shorter tests</a:t>
            </a:r>
            <a:endParaRPr lang="en-US" sz="1200" dirty="0"/>
          </a:p>
        </p:txBody>
      </p:sp>
      <p:sp>
        <p:nvSpPr>
          <p:cNvPr id="18" name="meaning"/>
          <p:cNvSpPr/>
          <p:nvPr/>
        </p:nvSpPr>
        <p:spPr>
          <a:xfrm>
            <a:off x="457200" y="3611880"/>
            <a:ext cx="8229600" cy="548640"/>
          </a:xfrm>
          <a:prstGeom prst="roundRect">
            <a:avLst>
              <a:gd name="adj" fmla="val 13333"/>
            </a:avLst>
          </a:prstGeom>
          <a:solidFill>
            <a:srgbClr val="E6F3EC"/>
          </a:solidFill>
          <a:ln w="12700">
            <a:solidFill>
              <a:srgbClr val="E6F3EC"/>
            </a:solidFill>
            <a:prstDash val="solid"/>
          </a:ln>
        </p:spPr>
      </p:sp>
      <p:sp>
        <p:nvSpPr>
          <p:cNvPr id="19" name="Text 13"/>
          <p:cNvSpPr txBox="1"/>
          <p:nvPr/>
        </p:nvSpPr>
        <p:spPr>
          <a:xfrm>
            <a:off x="640080" y="3611880"/>
            <a:ext cx="7863840" cy="54864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Meaning: </a:t>
            </a:r>
            <a:pPr indent="0" marL="0">
              <a:buNone/>
            </a:pPr>
            <a:r>
              <a:rPr lang="en-US" sz="1400" dirty="0">
                <a:solidFill>
                  <a:srgbClr val="1F2933"/>
                </a:solidFill>
                <a:latin typeface="Calibri" pitchFamily="34" charset="0"/>
                <a:ea typeface="Calibri" pitchFamily="34" charset="-122"/>
                <a:cs typeface="Calibri" pitchFamily="34" charset="-120"/>
              </a:rPr>
              <a:t>small per car, large per day – the energy saving is a hypothesis we propose to test in a pilot (→ slide 20).</a:t>
            </a:r>
            <a:endParaRPr lang="en-US" sz="1400" dirty="0"/>
          </a:p>
        </p:txBody>
      </p:sp>
      <p:sp>
        <p:nvSpPr>
          <p:cNvPr id="20" name="Text 14"/>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explained on slide 20</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Next steps</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a:t>
            </a:r>
            <a:endParaRPr lang="en-US" sz="900" dirty="0"/>
          </a:p>
        </p:txBody>
      </p:sp>
      <p:sp>
        <p:nvSpPr>
          <p:cNvPr id="6" name="card"/>
          <p:cNvSpPr/>
          <p:nvPr/>
        </p:nvSpPr>
        <p:spPr>
          <a:xfrm>
            <a:off x="457200" y="1097280"/>
            <a:ext cx="2606040" cy="3017520"/>
          </a:xfrm>
          <a:prstGeom prst="roundRect">
            <a:avLst>
              <a:gd name="adj" fmla="val 3509"/>
            </a:avLst>
          </a:prstGeom>
          <a:solidFill>
            <a:srgbClr val="F3F6F9"/>
          </a:solidFill>
          <a:ln w="12700">
            <a:solidFill>
              <a:srgbClr val="F3F6F9"/>
            </a:solidFill>
            <a:prstDash val="solid"/>
          </a:ln>
        </p:spPr>
      </p:sp>
      <p:pic>
        <p:nvPicPr>
          <p:cNvPr id="7" name="Image 0" descr="preencoded.png">    </p:cNvPr>
          <p:cNvPicPr>
            <a:picLocks noChangeAspect="1"/>
          </p:cNvPicPr>
          <p:nvPr/>
        </p:nvPicPr>
        <p:blipFill>
          <a:blip r:embed="rId1"/>
          <a:stretch>
            <a:fillRect/>
          </a:stretch>
        </p:blipFill>
        <p:spPr>
          <a:xfrm>
            <a:off x="685800" y="1280160"/>
            <a:ext cx="457200" cy="457200"/>
          </a:xfrm>
          <a:prstGeom prst="rect">
            <a:avLst/>
          </a:prstGeom>
        </p:spPr>
      </p:pic>
      <p:sp>
        <p:nvSpPr>
          <p:cNvPr id="8" name="Text 4"/>
          <p:cNvSpPr txBox="1"/>
          <p:nvPr/>
        </p:nvSpPr>
        <p:spPr>
          <a:xfrm>
            <a:off x="685800" y="1874520"/>
            <a:ext cx="2194560" cy="411480"/>
          </a:xfrm>
          <a:prstGeom prst="rect">
            <a:avLst/>
          </a:prstGeom>
          <a:noFill/>
          <a:ln/>
        </p:spPr>
        <p:txBody>
          <a:bodyPr wrap="square" lIns="0" tIns="0" rIns="0" bIns="0" rtlCol="0" anchor="t"/>
          <a:lstStyle/>
          <a:p>
            <a:pPr indent="0" marL="0">
              <a:buNone/>
            </a:pPr>
            <a:r>
              <a:rPr lang="en-US" sz="1700" b="1" dirty="0">
                <a:solidFill>
                  <a:srgbClr val="2B7BD8"/>
                </a:solidFill>
                <a:latin typeface="Calibri" pitchFamily="34" charset="0"/>
                <a:ea typeface="Calibri" pitchFamily="34" charset="-122"/>
                <a:cs typeface="Calibri" pitchFamily="34" charset="-120"/>
              </a:rPr>
              <a:t>Pilot</a:t>
            </a:r>
            <a:endParaRPr lang="en-US" sz="1700" dirty="0"/>
          </a:p>
        </p:txBody>
      </p:sp>
      <p:sp>
        <p:nvSpPr>
          <p:cNvPr id="9" name="Text 5"/>
          <p:cNvSpPr txBox="1"/>
          <p:nvPr/>
        </p:nvSpPr>
        <p:spPr>
          <a:xfrm>
            <a:off x="685800" y="2331720"/>
            <a:ext cx="2194560" cy="16916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one test bench, one day, then one month: measure idle time and energy before and after planning with predictions</a:t>
            </a:r>
            <a:endParaRPr lang="en-US" sz="1300" dirty="0"/>
          </a:p>
        </p:txBody>
      </p:sp>
      <p:sp>
        <p:nvSpPr>
          <p:cNvPr id="10" name="card"/>
          <p:cNvSpPr/>
          <p:nvPr/>
        </p:nvSpPr>
        <p:spPr>
          <a:xfrm>
            <a:off x="3246120" y="1097280"/>
            <a:ext cx="2606040" cy="3017520"/>
          </a:xfrm>
          <a:prstGeom prst="roundRect">
            <a:avLst>
              <a:gd name="adj" fmla="val 3509"/>
            </a:avLst>
          </a:prstGeom>
          <a:solidFill>
            <a:srgbClr val="F3F6F9"/>
          </a:solidFill>
          <a:ln w="12700">
            <a:solidFill>
              <a:srgbClr val="F3F6F9"/>
            </a:solidFill>
            <a:prstDash val="solid"/>
          </a:ln>
        </p:spPr>
      </p:sp>
      <p:pic>
        <p:nvPicPr>
          <p:cNvPr id="11" name="Image 1" descr="preencoded.png">    </p:cNvPr>
          <p:cNvPicPr>
            <a:picLocks noChangeAspect="1"/>
          </p:cNvPicPr>
          <p:nvPr/>
        </p:nvPicPr>
        <p:blipFill>
          <a:blip r:embed="rId2"/>
          <a:stretch>
            <a:fillRect/>
          </a:stretch>
        </p:blipFill>
        <p:spPr>
          <a:xfrm>
            <a:off x="3474720" y="1280160"/>
            <a:ext cx="457200" cy="457200"/>
          </a:xfrm>
          <a:prstGeom prst="rect">
            <a:avLst/>
          </a:prstGeom>
        </p:spPr>
      </p:pic>
      <p:sp>
        <p:nvSpPr>
          <p:cNvPr id="12" name="Text 7"/>
          <p:cNvSpPr txBox="1"/>
          <p:nvPr/>
        </p:nvSpPr>
        <p:spPr>
          <a:xfrm>
            <a:off x="3474720" y="1874520"/>
            <a:ext cx="2194560" cy="411480"/>
          </a:xfrm>
          <a:prstGeom prst="rect">
            <a:avLst/>
          </a:prstGeom>
          <a:noFill/>
          <a:ln/>
        </p:spPr>
        <p:txBody>
          <a:bodyPr wrap="square" lIns="0" tIns="0" rIns="0" bIns="0" rtlCol="0" anchor="t"/>
          <a:lstStyle/>
          <a:p>
            <a:pPr indent="0" marL="0">
              <a:buNone/>
            </a:pPr>
            <a:r>
              <a:rPr lang="en-US" sz="1700" b="1" dirty="0">
                <a:solidFill>
                  <a:srgbClr val="164A82"/>
                </a:solidFill>
                <a:latin typeface="Calibri" pitchFamily="34" charset="0"/>
                <a:ea typeface="Calibri" pitchFamily="34" charset="-122"/>
                <a:cs typeface="Calibri" pitchFamily="34" charset="-120"/>
              </a:rPr>
              <a:t>Record more</a:t>
            </a:r>
            <a:endParaRPr lang="en-US" sz="1700" dirty="0"/>
          </a:p>
        </p:txBody>
      </p:sp>
      <p:sp>
        <p:nvSpPr>
          <p:cNvPr id="13" name="Text 8"/>
          <p:cNvSpPr txBox="1"/>
          <p:nvPr/>
        </p:nvSpPr>
        <p:spPr>
          <a:xfrm>
            <a:off x="3474720" y="2331720"/>
            <a:ext cx="2194560" cy="16916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long tests cannot be predicted from the configuration – record bench, tester and day to explain them (→ slide 21)</a:t>
            </a:r>
            <a:endParaRPr lang="en-US" sz="1300" dirty="0"/>
          </a:p>
        </p:txBody>
      </p:sp>
      <p:sp>
        <p:nvSpPr>
          <p:cNvPr id="14" name="card"/>
          <p:cNvSpPr/>
          <p:nvPr/>
        </p:nvSpPr>
        <p:spPr>
          <a:xfrm>
            <a:off x="6035040" y="1097280"/>
            <a:ext cx="2606040" cy="3017520"/>
          </a:xfrm>
          <a:prstGeom prst="roundRect">
            <a:avLst>
              <a:gd name="adj" fmla="val 3509"/>
            </a:avLst>
          </a:prstGeom>
          <a:solidFill>
            <a:srgbClr val="F3F6F9"/>
          </a:solidFill>
          <a:ln w="12700">
            <a:solidFill>
              <a:srgbClr val="F3F6F9"/>
            </a:solidFill>
            <a:prstDash val="solid"/>
          </a:ln>
        </p:spPr>
      </p:sp>
      <p:pic>
        <p:nvPicPr>
          <p:cNvPr id="15" name="Image 2" descr="preencoded.png">    </p:cNvPr>
          <p:cNvPicPr>
            <a:picLocks noChangeAspect="1"/>
          </p:cNvPicPr>
          <p:nvPr/>
        </p:nvPicPr>
        <p:blipFill>
          <a:blip r:embed="rId3"/>
          <a:stretch>
            <a:fillRect/>
          </a:stretch>
        </p:blipFill>
        <p:spPr>
          <a:xfrm>
            <a:off x="6263640" y="1280160"/>
            <a:ext cx="457200" cy="457200"/>
          </a:xfrm>
          <a:prstGeom prst="rect">
            <a:avLst/>
          </a:prstGeom>
        </p:spPr>
      </p:pic>
      <p:sp>
        <p:nvSpPr>
          <p:cNvPr id="16" name="Text 10"/>
          <p:cNvSpPr txBox="1"/>
          <p:nvPr/>
        </p:nvSpPr>
        <p:spPr>
          <a:xfrm>
            <a:off x="6263640" y="1874520"/>
            <a:ext cx="2194560" cy="411480"/>
          </a:xfrm>
          <a:prstGeom prst="rect">
            <a:avLst/>
          </a:prstGeom>
          <a:noFill/>
          <a:ln/>
        </p:spPr>
        <p:txBody>
          <a:bodyPr wrap="square" lIns="0" tIns="0" rIns="0" bIns="0" rtlCol="0" anchor="t"/>
          <a:lstStyle/>
          <a:p>
            <a:pPr indent="0" marL="0">
              <a:buNone/>
            </a:pPr>
            <a:r>
              <a:rPr lang="en-US" sz="1700" b="1" dirty="0">
                <a:solidFill>
                  <a:srgbClr val="C77700"/>
                </a:solidFill>
                <a:latin typeface="Calibri" pitchFamily="34" charset="0"/>
                <a:ea typeface="Calibri" pitchFamily="34" charset="-122"/>
                <a:cs typeface="Calibri" pitchFamily="34" charset="-120"/>
              </a:rPr>
              <a:t>Know the limits</a:t>
            </a:r>
            <a:endParaRPr lang="en-US" sz="1700" dirty="0"/>
          </a:p>
        </p:txBody>
      </p:sp>
      <p:sp>
        <p:nvSpPr>
          <p:cNvPr id="17" name="Text 11"/>
          <p:cNvSpPr txBox="1"/>
          <p:nvPr/>
        </p:nvSpPr>
        <p:spPr>
          <a:xfrm>
            <a:off x="6263640" y="2331720"/>
            <a:ext cx="2194560" cy="16916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about 60 % is the limit; plan with predictions, don't promise single cars</a:t>
            </a:r>
            <a:endParaRPr lang="en-US" sz="1300" dirty="0"/>
          </a:p>
        </p:txBody>
      </p:sp>
      <p:sp>
        <p:nvSpPr>
          <p:cNvPr id="18" name="Text 12"/>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explained on slide 21</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Key takeaways</a:t>
            </a:r>
            <a:endParaRPr lang="en-US" sz="2600" dirty="0"/>
          </a:p>
        </p:txBody>
      </p:sp>
      <p:sp>
        <p:nvSpPr>
          <p:cNvPr id="3" name="tag"/>
          <p:cNvSpPr/>
          <p:nvPr/>
        </p:nvSpPr>
        <p:spPr>
          <a:xfrm>
            <a:off x="7818120" y="347472"/>
            <a:ext cx="868680" cy="274320"/>
          </a:xfrm>
          <a:prstGeom prst="roundRect">
            <a:avLst>
              <a:gd name="adj" fmla="val 26667"/>
            </a:avLst>
          </a:prstGeom>
          <a:solidFill>
            <a:srgbClr val="2E8B57"/>
          </a:solidFill>
          <a:ln w="12700">
            <a:solidFill>
              <a:srgbClr val="2E8B57"/>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Main</a:t>
            </a:r>
            <a:endParaRPr lang="en-US" sz="900" dirty="0"/>
          </a:p>
        </p:txBody>
      </p:sp>
      <p:sp>
        <p:nvSpPr>
          <p:cNvPr id="6" name="num1"/>
          <p:cNvSpPr/>
          <p:nvPr/>
        </p:nvSpPr>
        <p:spPr>
          <a:xfrm>
            <a:off x="457200" y="1161288"/>
            <a:ext cx="329184" cy="329184"/>
          </a:xfrm>
          <a:prstGeom prst="ellipse">
            <a:avLst/>
          </a:prstGeom>
          <a:solidFill>
            <a:srgbClr val="2B7BD8"/>
          </a:solidFill>
          <a:ln w="12700">
            <a:solidFill>
              <a:srgbClr val="2B7BD8"/>
            </a:solidFill>
            <a:prstDash val="solid"/>
          </a:ln>
        </p:spPr>
      </p:sp>
      <p:sp>
        <p:nvSpPr>
          <p:cNvPr id="7" name="Text 4"/>
          <p:cNvSpPr txBox="1"/>
          <p:nvPr/>
        </p:nvSpPr>
        <p:spPr>
          <a:xfrm>
            <a:off x="457200" y="116128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914400" y="1143000"/>
            <a:ext cx="7772400" cy="612648"/>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Even identical cars need different test times – at most about 60 % of the differences in test time between cars can be predicted</a:t>
            </a:r>
            <a:endParaRPr lang="en-US" sz="1600" dirty="0"/>
          </a:p>
        </p:txBody>
      </p:sp>
      <p:sp>
        <p:nvSpPr>
          <p:cNvPr id="9" name="num2"/>
          <p:cNvSpPr/>
          <p:nvPr/>
        </p:nvSpPr>
        <p:spPr>
          <a:xfrm>
            <a:off x="457200" y="1819656"/>
            <a:ext cx="329184" cy="329184"/>
          </a:xfrm>
          <a:prstGeom prst="ellipse">
            <a:avLst/>
          </a:prstGeom>
          <a:solidFill>
            <a:srgbClr val="2B7BD8"/>
          </a:solidFill>
          <a:ln w="12700">
            <a:solidFill>
              <a:srgbClr val="2B7BD8"/>
            </a:solidFill>
            <a:prstDash val="solid"/>
          </a:ln>
        </p:spPr>
      </p:sp>
      <p:sp>
        <p:nvSpPr>
          <p:cNvPr id="10" name="Text 7"/>
          <p:cNvSpPr txBox="1"/>
          <p:nvPr/>
        </p:nvSpPr>
        <p:spPr>
          <a:xfrm>
            <a:off x="457200" y="181965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914400" y="1801368"/>
            <a:ext cx="7772400" cy="612648"/>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One column, X0, explains almost all of that predictable part</a:t>
            </a:r>
            <a:endParaRPr lang="en-US" sz="1600" dirty="0"/>
          </a:p>
        </p:txBody>
      </p:sp>
      <p:sp>
        <p:nvSpPr>
          <p:cNvPr id="12" name="num3"/>
          <p:cNvSpPr/>
          <p:nvPr/>
        </p:nvSpPr>
        <p:spPr>
          <a:xfrm>
            <a:off x="457200" y="2478024"/>
            <a:ext cx="329184" cy="329184"/>
          </a:xfrm>
          <a:prstGeom prst="ellipse">
            <a:avLst/>
          </a:prstGeom>
          <a:solidFill>
            <a:srgbClr val="2B7BD8"/>
          </a:solidFill>
          <a:ln w="12700">
            <a:solidFill>
              <a:srgbClr val="2B7BD8"/>
            </a:solidFill>
            <a:prstDash val="solid"/>
          </a:ln>
        </p:spPr>
      </p:sp>
      <p:sp>
        <p:nvSpPr>
          <p:cNvPr id="13" name="Text 10"/>
          <p:cNvSpPr txBox="1"/>
          <p:nvPr/>
        </p:nvSpPr>
        <p:spPr>
          <a:xfrm>
            <a:off x="457200" y="2478024"/>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txBox="1"/>
          <p:nvPr/>
        </p:nvSpPr>
        <p:spPr>
          <a:xfrm>
            <a:off x="914400" y="2459736"/>
            <a:ext cx="7772400" cy="612648"/>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Our model plans each car about 4.5 seconds more accurately – 91 of 100 cars within 10 seconds</a:t>
            </a:r>
            <a:endParaRPr lang="en-US" sz="1600" dirty="0"/>
          </a:p>
        </p:txBody>
      </p:sp>
      <p:sp>
        <p:nvSpPr>
          <p:cNvPr id="15" name="num4"/>
          <p:cNvSpPr/>
          <p:nvPr/>
        </p:nvSpPr>
        <p:spPr>
          <a:xfrm>
            <a:off x="457200" y="3136392"/>
            <a:ext cx="329184" cy="329184"/>
          </a:xfrm>
          <a:prstGeom prst="ellipse">
            <a:avLst/>
          </a:prstGeom>
          <a:solidFill>
            <a:srgbClr val="2B7BD8"/>
          </a:solidFill>
          <a:ln w="12700">
            <a:solidFill>
              <a:srgbClr val="2B7BD8"/>
            </a:solidFill>
            <a:prstDash val="solid"/>
          </a:ln>
        </p:spPr>
      </p:sp>
      <p:sp>
        <p:nvSpPr>
          <p:cNvPr id="16" name="Text 13"/>
          <p:cNvSpPr txBox="1"/>
          <p:nvPr/>
        </p:nvSpPr>
        <p:spPr>
          <a:xfrm>
            <a:off x="457200" y="313639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txBox="1"/>
          <p:nvPr/>
        </p:nvSpPr>
        <p:spPr>
          <a:xfrm>
            <a:off x="914400" y="3118104"/>
            <a:ext cx="7772400" cy="612648"/>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At factory scale this means about 1.6 hours of better planning per day – a pilot can show the energy saving</a:t>
            </a:r>
            <a:endParaRPr lang="en-US" sz="1600" dirty="0"/>
          </a:p>
        </p:txBody>
      </p:sp>
      <p:sp>
        <p:nvSpPr>
          <p:cNvPr id="18" name="meaning"/>
          <p:cNvSpPr/>
          <p:nvPr/>
        </p:nvSpPr>
        <p:spPr>
          <a:xfrm>
            <a:off x="457200" y="3886200"/>
            <a:ext cx="8229600" cy="457200"/>
          </a:xfrm>
          <a:prstGeom prst="roundRect">
            <a:avLst>
              <a:gd name="adj" fmla="val 16000"/>
            </a:avLst>
          </a:prstGeom>
          <a:solidFill>
            <a:srgbClr val="E6F3EC"/>
          </a:solidFill>
          <a:ln w="12700">
            <a:solidFill>
              <a:srgbClr val="E6F3EC"/>
            </a:solidFill>
            <a:prstDash val="solid"/>
          </a:ln>
        </p:spPr>
      </p:sp>
      <p:sp>
        <p:nvSpPr>
          <p:cNvPr id="19" name="Text 16"/>
          <p:cNvSpPr txBox="1"/>
          <p:nvPr/>
        </p:nvSpPr>
        <p:spPr>
          <a:xfrm>
            <a:off x="640080" y="3886200"/>
            <a:ext cx="7863840" cy="45720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Meaning: </a:t>
            </a:r>
            <a:pPr indent="0" marL="0">
              <a:buNone/>
            </a:pPr>
            <a:r>
              <a:rPr lang="en-US" sz="1400" dirty="0">
                <a:solidFill>
                  <a:srgbClr val="1F2933"/>
                </a:solidFill>
                <a:latin typeface="Calibri" pitchFamily="34" charset="0"/>
                <a:ea typeface="Calibri" pitchFamily="34" charset="-122"/>
                <a:cs typeface="Calibri" pitchFamily="34" charset="-120"/>
              </a:rPr>
              <a:t>the data, not the choice of method, sets the limit – and we already reach it.</a:t>
            </a:r>
            <a:endParaRPr lang="en-US" sz="14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0584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Explanation slides</a:t>
            </a:r>
            <a:endParaRPr lang="en-US" sz="4000" dirty="0"/>
          </a:p>
        </p:txBody>
      </p:sp>
      <p:sp>
        <p:nvSpPr>
          <p:cNvPr id="4" name="Text 1"/>
          <p:cNvSpPr txBox="1"/>
          <p:nvPr/>
        </p:nvSpPr>
        <p:spPr>
          <a:xfrm>
            <a:off x="548640" y="2514600"/>
            <a:ext cx="8046720" cy="548640"/>
          </a:xfrm>
          <a:prstGeom prst="rect">
            <a:avLst/>
          </a:prstGeom>
          <a:noFill/>
          <a:ln/>
        </p:spPr>
        <p:txBody>
          <a:bodyPr wrap="square" lIns="0" tIns="0" rIns="0" bIns="0" rtlCol="0" anchor="t"/>
          <a:lstStyle/>
          <a:p>
            <a:pPr indent="0" marL="0">
              <a:buNone/>
            </a:pPr>
            <a:r>
              <a:rPr lang="en-US" sz="1500" dirty="0">
                <a:solidFill>
                  <a:srgbClr val="CFD8E3"/>
                </a:solidFill>
                <a:latin typeface="Calibri" pitchFamily="34" charset="0"/>
                <a:ea typeface="Calibri" pitchFamily="34" charset="-122"/>
                <a:cs typeface="Calibri" pitchFamily="34" charset="-120"/>
              </a:rPr>
              <a:t>For questions. Each slide names the main slide it belongs to.</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Where the data comes from</a:t>
            </a:r>
            <a:endParaRPr lang="en-US" sz="2600" dirty="0"/>
          </a:p>
        </p:txBody>
      </p:sp>
      <p:sp>
        <p:nvSpPr>
          <p:cNvPr id="3" name="tag"/>
          <p:cNvSpPr/>
          <p:nvPr/>
        </p:nvSpPr>
        <p:spPr>
          <a:xfrm>
            <a:off x="7818120" y="347472"/>
            <a:ext cx="868680" cy="274320"/>
          </a:xfrm>
          <a:prstGeom prst="roundRect">
            <a:avLst>
              <a:gd name="adj" fmla="val 26667"/>
            </a:avLst>
          </a:prstGeom>
          <a:solidFill>
            <a:srgbClr val="EAF2FB"/>
          </a:solidFill>
          <a:ln w="12700">
            <a:solidFill>
              <a:srgbClr val="EAF2FB"/>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164A82"/>
                </a:solidFill>
                <a:latin typeface="Calibri" pitchFamily="34" charset="0"/>
                <a:ea typeface="Calibri" pitchFamily="34" charset="-122"/>
                <a:cs typeface="Calibri" pitchFamily="34" charset="-120"/>
              </a:rPr>
              <a:t>Explain</a:t>
            </a:r>
            <a:endParaRPr lang="en-US" sz="900" dirty="0"/>
          </a:p>
        </p:txBody>
      </p:sp>
      <p:sp>
        <p:nvSpPr>
          <p:cNvPr id="6" name="num1"/>
          <p:cNvSpPr/>
          <p:nvPr/>
        </p:nvSpPr>
        <p:spPr>
          <a:xfrm>
            <a:off x="457200" y="1115568"/>
            <a:ext cx="329184" cy="329184"/>
          </a:xfrm>
          <a:prstGeom prst="ellipse">
            <a:avLst/>
          </a:prstGeom>
          <a:solidFill>
            <a:srgbClr val="2B7BD8"/>
          </a:solidFill>
          <a:ln w="12700">
            <a:solidFill>
              <a:srgbClr val="2B7BD8"/>
            </a:solidFill>
            <a:prstDash val="solid"/>
          </a:ln>
        </p:spPr>
      </p:sp>
      <p:sp>
        <p:nvSpPr>
          <p:cNvPr id="7" name="Text 4"/>
          <p:cNvSpPr txBox="1"/>
          <p:nvPr/>
        </p:nvSpPr>
        <p:spPr>
          <a:xfrm>
            <a:off x="457200" y="11155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914400" y="10972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Public Kaggle competition by Mercedes-Benz ("Greener Manufacturing", 2017): 4,209 tested cars with their measured test time</a:t>
            </a:r>
            <a:endParaRPr lang="en-US" sz="1400" dirty="0"/>
          </a:p>
        </p:txBody>
      </p:sp>
      <p:sp>
        <p:nvSpPr>
          <p:cNvPr id="9" name="num2"/>
          <p:cNvSpPr/>
          <p:nvPr/>
        </p:nvSpPr>
        <p:spPr>
          <a:xfrm>
            <a:off x="457200" y="1801368"/>
            <a:ext cx="329184" cy="329184"/>
          </a:xfrm>
          <a:prstGeom prst="ellipse">
            <a:avLst/>
          </a:prstGeom>
          <a:solidFill>
            <a:srgbClr val="2B7BD8"/>
          </a:solidFill>
          <a:ln w="12700">
            <a:solidFill>
              <a:srgbClr val="2B7BD8"/>
            </a:solidFill>
            <a:prstDash val="solid"/>
          </a:ln>
        </p:spPr>
      </p:sp>
      <p:sp>
        <p:nvSpPr>
          <p:cNvPr id="10" name="Text 7"/>
          <p:cNvSpPr txBox="1"/>
          <p:nvPr/>
        </p:nvSpPr>
        <p:spPr>
          <a:xfrm>
            <a:off x="457200" y="18013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914400" y="17830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376 columns per car: 8 text columns (e.g. X0) and 368 yes/no columns – the real names of the columns are hidden</a:t>
            </a:r>
            <a:endParaRPr lang="en-US" sz="1400" dirty="0"/>
          </a:p>
        </p:txBody>
      </p:sp>
      <p:sp>
        <p:nvSpPr>
          <p:cNvPr id="12" name="num3"/>
          <p:cNvSpPr/>
          <p:nvPr/>
        </p:nvSpPr>
        <p:spPr>
          <a:xfrm>
            <a:off x="457200" y="2487168"/>
            <a:ext cx="329184" cy="329184"/>
          </a:xfrm>
          <a:prstGeom prst="ellipse">
            <a:avLst/>
          </a:prstGeom>
          <a:solidFill>
            <a:srgbClr val="2B7BD8"/>
          </a:solidFill>
          <a:ln w="12700">
            <a:solidFill>
              <a:srgbClr val="2B7BD8"/>
            </a:solidFill>
            <a:prstDash val="solid"/>
          </a:ln>
        </p:spPr>
      </p:sp>
      <p:sp>
        <p:nvSpPr>
          <p:cNvPr id="13" name="Text 10"/>
          <p:cNvSpPr txBox="1"/>
          <p:nvPr/>
        </p:nvSpPr>
        <p:spPr>
          <a:xfrm>
            <a:off x="457200" y="24871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txBox="1"/>
          <p:nvPr/>
        </p:nvSpPr>
        <p:spPr>
          <a:xfrm>
            <a:off x="914400" y="24688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Test times from 72.11 s to 265.32 s; one 265 s test looked faulty and was left out of training</a:t>
            </a:r>
            <a:endParaRPr lang="en-US" sz="1400" dirty="0"/>
          </a:p>
        </p:txBody>
      </p:sp>
      <p:sp>
        <p:nvSpPr>
          <p:cNvPr id="15" name="num4"/>
          <p:cNvSpPr/>
          <p:nvPr/>
        </p:nvSpPr>
        <p:spPr>
          <a:xfrm>
            <a:off x="457200" y="3172968"/>
            <a:ext cx="329184" cy="329184"/>
          </a:xfrm>
          <a:prstGeom prst="ellipse">
            <a:avLst/>
          </a:prstGeom>
          <a:solidFill>
            <a:srgbClr val="2B7BD8"/>
          </a:solidFill>
          <a:ln w="12700">
            <a:solidFill>
              <a:srgbClr val="2B7BD8"/>
            </a:solidFill>
            <a:prstDash val="solid"/>
          </a:ln>
        </p:spPr>
      </p:sp>
      <p:sp>
        <p:nvSpPr>
          <p:cNvPr id="16" name="Text 13"/>
          <p:cNvSpPr txBox="1"/>
          <p:nvPr/>
        </p:nvSpPr>
        <p:spPr>
          <a:xfrm>
            <a:off x="457200" y="31729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txBox="1"/>
          <p:nvPr/>
        </p:nvSpPr>
        <p:spPr>
          <a:xfrm>
            <a:off x="914400" y="31546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 second set of 4,209 cars without test times is used by Kaggle to check every model fairly</a:t>
            </a:r>
            <a:endParaRPr lang="en-US" sz="1400" dirty="0"/>
          </a:p>
        </p:txBody>
      </p:sp>
      <p:sp>
        <p:nvSpPr>
          <p:cNvPr id="18" name="Text 15"/>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belongs to main slide 4</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How we found identical cars</a:t>
            </a:r>
            <a:endParaRPr lang="en-US" sz="2600" dirty="0"/>
          </a:p>
        </p:txBody>
      </p:sp>
      <p:sp>
        <p:nvSpPr>
          <p:cNvPr id="3" name="tag"/>
          <p:cNvSpPr/>
          <p:nvPr/>
        </p:nvSpPr>
        <p:spPr>
          <a:xfrm>
            <a:off x="7818120" y="347472"/>
            <a:ext cx="868680" cy="274320"/>
          </a:xfrm>
          <a:prstGeom prst="roundRect">
            <a:avLst>
              <a:gd name="adj" fmla="val 26667"/>
            </a:avLst>
          </a:prstGeom>
          <a:solidFill>
            <a:srgbClr val="EAF2FB"/>
          </a:solidFill>
          <a:ln w="12700">
            <a:solidFill>
              <a:srgbClr val="EAF2FB"/>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164A82"/>
                </a:solidFill>
                <a:latin typeface="Calibri" pitchFamily="34" charset="0"/>
                <a:ea typeface="Calibri" pitchFamily="34" charset="-122"/>
                <a:cs typeface="Calibri" pitchFamily="34" charset="-120"/>
              </a:rPr>
              <a:t>Explain</a:t>
            </a:r>
            <a:endParaRPr lang="en-US" sz="900" dirty="0"/>
          </a:p>
        </p:txBody>
      </p:sp>
      <p:sp>
        <p:nvSpPr>
          <p:cNvPr id="6" name="num1"/>
          <p:cNvSpPr/>
          <p:nvPr/>
        </p:nvSpPr>
        <p:spPr>
          <a:xfrm>
            <a:off x="457200" y="1115568"/>
            <a:ext cx="329184" cy="329184"/>
          </a:xfrm>
          <a:prstGeom prst="ellipse">
            <a:avLst/>
          </a:prstGeom>
          <a:solidFill>
            <a:srgbClr val="2B7BD8"/>
          </a:solidFill>
          <a:ln w="12700">
            <a:solidFill>
              <a:srgbClr val="2B7BD8"/>
            </a:solidFill>
            <a:prstDash val="solid"/>
          </a:ln>
        </p:spPr>
      </p:sp>
      <p:sp>
        <p:nvSpPr>
          <p:cNvPr id="7" name="Text 4"/>
          <p:cNvSpPr txBox="1"/>
          <p:nvPr/>
        </p:nvSpPr>
        <p:spPr>
          <a:xfrm>
            <a:off x="457200" y="11155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914400" y="10972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We compared all 376 columns of every car: 515 of 4,209 cars have at least one identical twin (217 groups)</a:t>
            </a:r>
            <a:endParaRPr lang="en-US" sz="1400" dirty="0"/>
          </a:p>
        </p:txBody>
      </p:sp>
      <p:sp>
        <p:nvSpPr>
          <p:cNvPr id="9" name="num2"/>
          <p:cNvSpPr/>
          <p:nvPr/>
        </p:nvSpPr>
        <p:spPr>
          <a:xfrm>
            <a:off x="457200" y="1801368"/>
            <a:ext cx="329184" cy="329184"/>
          </a:xfrm>
          <a:prstGeom prst="ellipse">
            <a:avLst/>
          </a:prstGeom>
          <a:solidFill>
            <a:srgbClr val="2B7BD8"/>
          </a:solidFill>
          <a:ln w="12700">
            <a:solidFill>
              <a:srgbClr val="2B7BD8"/>
            </a:solidFill>
            <a:prstDash val="solid"/>
          </a:ln>
        </p:spPr>
      </p:sp>
      <p:sp>
        <p:nvSpPr>
          <p:cNvPr id="10" name="Text 7"/>
          <p:cNvSpPr txBox="1"/>
          <p:nvPr/>
        </p:nvSpPr>
        <p:spPr>
          <a:xfrm>
            <a:off x="457200" y="18013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914400" y="17830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Example: 9 identical cars needed between 106 and 128 seconds – up to 22 seconds apart</a:t>
            </a:r>
            <a:endParaRPr lang="en-US" sz="1400" dirty="0"/>
          </a:p>
        </p:txBody>
      </p:sp>
      <p:sp>
        <p:nvSpPr>
          <p:cNvPr id="12" name="num3"/>
          <p:cNvSpPr/>
          <p:nvPr/>
        </p:nvSpPr>
        <p:spPr>
          <a:xfrm>
            <a:off x="457200" y="2487168"/>
            <a:ext cx="329184" cy="329184"/>
          </a:xfrm>
          <a:prstGeom prst="ellipse">
            <a:avLst/>
          </a:prstGeom>
          <a:solidFill>
            <a:srgbClr val="2B7BD8"/>
          </a:solidFill>
          <a:ln w="12700">
            <a:solidFill>
              <a:srgbClr val="2B7BD8"/>
            </a:solidFill>
            <a:prstDash val="solid"/>
          </a:ln>
        </p:spPr>
      </p:sp>
      <p:sp>
        <p:nvSpPr>
          <p:cNvPr id="13" name="Text 10"/>
          <p:cNvSpPr txBox="1"/>
          <p:nvPr/>
        </p:nvSpPr>
        <p:spPr>
          <a:xfrm>
            <a:off x="457200" y="24871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txBox="1"/>
          <p:nvPr/>
        </p:nvSpPr>
        <p:spPr>
          <a:xfrm>
            <a:off x="914400" y="24688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Across all groups, identical cars differ by about 8 seconds – this part is noise from the test itself</a:t>
            </a:r>
            <a:endParaRPr lang="en-US" sz="1400" dirty="0"/>
          </a:p>
        </p:txBody>
      </p:sp>
      <p:sp>
        <p:nvSpPr>
          <p:cNvPr id="15" name="num4"/>
          <p:cNvSpPr/>
          <p:nvPr/>
        </p:nvSpPr>
        <p:spPr>
          <a:xfrm>
            <a:off x="457200" y="3172968"/>
            <a:ext cx="329184" cy="329184"/>
          </a:xfrm>
          <a:prstGeom prst="ellipse">
            <a:avLst/>
          </a:prstGeom>
          <a:solidFill>
            <a:srgbClr val="2B7BD8"/>
          </a:solidFill>
          <a:ln w="12700">
            <a:solidFill>
              <a:srgbClr val="2B7BD8"/>
            </a:solidFill>
            <a:prstDash val="solid"/>
          </a:ln>
        </p:spPr>
      </p:sp>
      <p:sp>
        <p:nvSpPr>
          <p:cNvPr id="16" name="Text 13"/>
          <p:cNvSpPr txBox="1"/>
          <p:nvPr/>
        </p:nvSpPr>
        <p:spPr>
          <a:xfrm>
            <a:off x="457200" y="31729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txBox="1"/>
          <p:nvPr/>
        </p:nvSpPr>
        <p:spPr>
          <a:xfrm>
            <a:off x="914400" y="31546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 person can check every group by hand; the twins behave like all other cars</a:t>
            </a:r>
            <a:endParaRPr lang="en-US" sz="1400" dirty="0"/>
          </a:p>
        </p:txBody>
      </p:sp>
      <p:sp>
        <p:nvSpPr>
          <p:cNvPr id="18" name="Text 15"/>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belongs to main slide 5</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Where the 60 % comes from</a:t>
            </a:r>
            <a:endParaRPr lang="en-US" sz="2600" dirty="0"/>
          </a:p>
        </p:txBody>
      </p:sp>
      <p:sp>
        <p:nvSpPr>
          <p:cNvPr id="3" name="tag"/>
          <p:cNvSpPr/>
          <p:nvPr/>
        </p:nvSpPr>
        <p:spPr>
          <a:xfrm>
            <a:off x="7818120" y="347472"/>
            <a:ext cx="868680" cy="274320"/>
          </a:xfrm>
          <a:prstGeom prst="roundRect">
            <a:avLst>
              <a:gd name="adj" fmla="val 26667"/>
            </a:avLst>
          </a:prstGeom>
          <a:solidFill>
            <a:srgbClr val="EAF2FB"/>
          </a:solidFill>
          <a:ln w="12700">
            <a:solidFill>
              <a:srgbClr val="EAF2FB"/>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164A82"/>
                </a:solidFill>
                <a:latin typeface="Calibri" pitchFamily="34" charset="0"/>
                <a:ea typeface="Calibri" pitchFamily="34" charset="-122"/>
                <a:cs typeface="Calibri" pitchFamily="34" charset="-120"/>
              </a:rPr>
              <a:t>Explain</a:t>
            </a:r>
            <a:endParaRPr lang="en-US" sz="900" dirty="0"/>
          </a:p>
        </p:txBody>
      </p:sp>
      <p:sp>
        <p:nvSpPr>
          <p:cNvPr id="6" name="num1"/>
          <p:cNvSpPr/>
          <p:nvPr/>
        </p:nvSpPr>
        <p:spPr>
          <a:xfrm>
            <a:off x="457200" y="1115568"/>
            <a:ext cx="329184" cy="329184"/>
          </a:xfrm>
          <a:prstGeom prst="ellipse">
            <a:avLst/>
          </a:prstGeom>
          <a:solidFill>
            <a:srgbClr val="2B7BD8"/>
          </a:solidFill>
          <a:ln w="12700">
            <a:solidFill>
              <a:srgbClr val="2B7BD8"/>
            </a:solidFill>
            <a:prstDash val="solid"/>
          </a:ln>
        </p:spPr>
      </p:sp>
      <p:sp>
        <p:nvSpPr>
          <p:cNvPr id="7" name="Text 4"/>
          <p:cNvSpPr txBox="1"/>
          <p:nvPr/>
        </p:nvSpPr>
        <p:spPr>
          <a:xfrm>
            <a:off x="457200" y="11155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914400" y="10972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All cars together: test times spread about 12.7 seconds around the average of 100.7 seconds</a:t>
            </a:r>
            <a:endParaRPr lang="en-US" sz="1400" dirty="0"/>
          </a:p>
        </p:txBody>
      </p:sp>
      <p:sp>
        <p:nvSpPr>
          <p:cNvPr id="9" name="num2"/>
          <p:cNvSpPr/>
          <p:nvPr/>
        </p:nvSpPr>
        <p:spPr>
          <a:xfrm>
            <a:off x="457200" y="1801368"/>
            <a:ext cx="329184" cy="329184"/>
          </a:xfrm>
          <a:prstGeom prst="ellipse">
            <a:avLst/>
          </a:prstGeom>
          <a:solidFill>
            <a:srgbClr val="2B7BD8"/>
          </a:solidFill>
          <a:ln w="12700">
            <a:solidFill>
              <a:srgbClr val="2B7BD8"/>
            </a:solidFill>
            <a:prstDash val="solid"/>
          </a:ln>
        </p:spPr>
      </p:sp>
      <p:sp>
        <p:nvSpPr>
          <p:cNvPr id="10" name="Text 7"/>
          <p:cNvSpPr txBox="1"/>
          <p:nvPr/>
        </p:nvSpPr>
        <p:spPr>
          <a:xfrm>
            <a:off x="457200" y="18013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914400" y="17830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Identical cars: still about 8.1 seconds apart – the configuration is the same, so this cannot come from it</a:t>
            </a:r>
            <a:endParaRPr lang="en-US" sz="1400" dirty="0"/>
          </a:p>
        </p:txBody>
      </p:sp>
      <p:sp>
        <p:nvSpPr>
          <p:cNvPr id="12" name="num3"/>
          <p:cNvSpPr/>
          <p:nvPr/>
        </p:nvSpPr>
        <p:spPr>
          <a:xfrm>
            <a:off x="457200" y="2487168"/>
            <a:ext cx="329184" cy="329184"/>
          </a:xfrm>
          <a:prstGeom prst="ellipse">
            <a:avLst/>
          </a:prstGeom>
          <a:solidFill>
            <a:srgbClr val="2B7BD8"/>
          </a:solidFill>
          <a:ln w="12700">
            <a:solidFill>
              <a:srgbClr val="2B7BD8"/>
            </a:solidFill>
            <a:prstDash val="solid"/>
          </a:ln>
        </p:spPr>
      </p:sp>
      <p:sp>
        <p:nvSpPr>
          <p:cNvPr id="13" name="Text 10"/>
          <p:cNvSpPr txBox="1"/>
          <p:nvPr/>
        </p:nvSpPr>
        <p:spPr>
          <a:xfrm>
            <a:off x="457200" y="24871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txBox="1"/>
          <p:nvPr/>
        </p:nvSpPr>
        <p:spPr>
          <a:xfrm>
            <a:off x="914400" y="24688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Comparing the two spreads: about 40 % of the differences is noise, so at most about 60 % can be predicted</a:t>
            </a:r>
            <a:endParaRPr lang="en-US" sz="1400" dirty="0"/>
          </a:p>
        </p:txBody>
      </p:sp>
      <p:sp>
        <p:nvSpPr>
          <p:cNvPr id="15" name="num4"/>
          <p:cNvSpPr/>
          <p:nvPr/>
        </p:nvSpPr>
        <p:spPr>
          <a:xfrm>
            <a:off x="457200" y="3172968"/>
            <a:ext cx="329184" cy="329184"/>
          </a:xfrm>
          <a:prstGeom prst="ellipse">
            <a:avLst/>
          </a:prstGeom>
          <a:solidFill>
            <a:srgbClr val="2B7BD8"/>
          </a:solidFill>
          <a:ln w="12700">
            <a:solidFill>
              <a:srgbClr val="2B7BD8"/>
            </a:solidFill>
            <a:prstDash val="solid"/>
          </a:ln>
        </p:spPr>
      </p:sp>
      <p:sp>
        <p:nvSpPr>
          <p:cNvPr id="16" name="Text 13"/>
          <p:cNvSpPr txBox="1"/>
          <p:nvPr/>
        </p:nvSpPr>
        <p:spPr>
          <a:xfrm>
            <a:off x="457200" y="31729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txBox="1"/>
          <p:nvPr/>
        </p:nvSpPr>
        <p:spPr>
          <a:xfrm>
            <a:off x="914400" y="31546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calculation step by step is in the engineering deck (slides 22–23)</a:t>
            </a:r>
            <a:endParaRPr lang="en-US" sz="1400" dirty="0"/>
          </a:p>
        </p:txBody>
      </p:sp>
      <p:sp>
        <p:nvSpPr>
          <p:cNvPr id="18" name="Text 15"/>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belongs to main slide 5</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What X0 is</a:t>
            </a:r>
            <a:endParaRPr lang="en-US" sz="2600" dirty="0"/>
          </a:p>
        </p:txBody>
      </p:sp>
      <p:sp>
        <p:nvSpPr>
          <p:cNvPr id="3" name="tag"/>
          <p:cNvSpPr/>
          <p:nvPr/>
        </p:nvSpPr>
        <p:spPr>
          <a:xfrm>
            <a:off x="7818120" y="347472"/>
            <a:ext cx="868680" cy="274320"/>
          </a:xfrm>
          <a:prstGeom prst="roundRect">
            <a:avLst>
              <a:gd name="adj" fmla="val 26667"/>
            </a:avLst>
          </a:prstGeom>
          <a:solidFill>
            <a:srgbClr val="EAF2FB"/>
          </a:solidFill>
          <a:ln w="12700">
            <a:solidFill>
              <a:srgbClr val="EAF2FB"/>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164A82"/>
                </a:solidFill>
                <a:latin typeface="Calibri" pitchFamily="34" charset="0"/>
                <a:ea typeface="Calibri" pitchFamily="34" charset="-122"/>
                <a:cs typeface="Calibri" pitchFamily="34" charset="-120"/>
              </a:rPr>
              <a:t>Explain</a:t>
            </a:r>
            <a:endParaRPr lang="en-US" sz="900" dirty="0"/>
          </a:p>
        </p:txBody>
      </p:sp>
      <p:sp>
        <p:nvSpPr>
          <p:cNvPr id="6" name="num1"/>
          <p:cNvSpPr/>
          <p:nvPr/>
        </p:nvSpPr>
        <p:spPr>
          <a:xfrm>
            <a:off x="457200" y="1115568"/>
            <a:ext cx="329184" cy="329184"/>
          </a:xfrm>
          <a:prstGeom prst="ellipse">
            <a:avLst/>
          </a:prstGeom>
          <a:solidFill>
            <a:srgbClr val="2B7BD8"/>
          </a:solidFill>
          <a:ln w="12700">
            <a:solidFill>
              <a:srgbClr val="2B7BD8"/>
            </a:solidFill>
            <a:prstDash val="solid"/>
          </a:ln>
        </p:spPr>
      </p:sp>
      <p:sp>
        <p:nvSpPr>
          <p:cNvPr id="7" name="Text 4"/>
          <p:cNvSpPr txBox="1"/>
          <p:nvPr/>
        </p:nvSpPr>
        <p:spPr>
          <a:xfrm>
            <a:off x="457200" y="11155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914400" y="10972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X0 is not a method – it is one column of the data; every car has one of 47 X0 values</a:t>
            </a:r>
            <a:endParaRPr lang="en-US" sz="1400" dirty="0"/>
          </a:p>
        </p:txBody>
      </p:sp>
      <p:sp>
        <p:nvSpPr>
          <p:cNvPr id="9" name="num2"/>
          <p:cNvSpPr/>
          <p:nvPr/>
        </p:nvSpPr>
        <p:spPr>
          <a:xfrm>
            <a:off x="457200" y="1801368"/>
            <a:ext cx="329184" cy="329184"/>
          </a:xfrm>
          <a:prstGeom prst="ellipse">
            <a:avLst/>
          </a:prstGeom>
          <a:solidFill>
            <a:srgbClr val="2B7BD8"/>
          </a:solidFill>
          <a:ln w="12700">
            <a:solidFill>
              <a:srgbClr val="2B7BD8"/>
            </a:solidFill>
            <a:prstDash val="solid"/>
          </a:ln>
        </p:spPr>
      </p:sp>
      <p:sp>
        <p:nvSpPr>
          <p:cNvPr id="10" name="Text 7"/>
          <p:cNvSpPr txBox="1"/>
          <p:nvPr/>
        </p:nvSpPr>
        <p:spPr>
          <a:xfrm>
            <a:off x="457200" y="18013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914400" y="17830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Cars with the same X0 value have similar test times (e.g. groups around 75, 90, 100 or 108 seconds)</a:t>
            </a:r>
            <a:endParaRPr lang="en-US" sz="1400" dirty="0"/>
          </a:p>
        </p:txBody>
      </p:sp>
      <p:sp>
        <p:nvSpPr>
          <p:cNvPr id="12" name="num3"/>
          <p:cNvSpPr/>
          <p:nvPr/>
        </p:nvSpPr>
        <p:spPr>
          <a:xfrm>
            <a:off x="457200" y="2487168"/>
            <a:ext cx="329184" cy="329184"/>
          </a:xfrm>
          <a:prstGeom prst="ellipse">
            <a:avLst/>
          </a:prstGeom>
          <a:solidFill>
            <a:srgbClr val="2B7BD8"/>
          </a:solidFill>
          <a:ln w="12700">
            <a:solidFill>
              <a:srgbClr val="2B7BD8"/>
            </a:solidFill>
            <a:prstDash val="solid"/>
          </a:ln>
        </p:spPr>
      </p:sp>
      <p:sp>
        <p:nvSpPr>
          <p:cNvPr id="13" name="Text 10"/>
          <p:cNvSpPr txBox="1"/>
          <p:nvPr/>
        </p:nvSpPr>
        <p:spPr>
          <a:xfrm>
            <a:off x="457200" y="24871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txBox="1"/>
          <p:nvPr/>
        </p:nvSpPr>
        <p:spPr>
          <a:xfrm>
            <a:off x="914400" y="24688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We cleaned the data: 66 columns never change or copy another column → 310 columns left</a:t>
            </a:r>
            <a:endParaRPr lang="en-US" sz="1400" dirty="0"/>
          </a:p>
        </p:txBody>
      </p:sp>
      <p:sp>
        <p:nvSpPr>
          <p:cNvPr id="15" name="num4"/>
          <p:cNvSpPr/>
          <p:nvPr/>
        </p:nvSpPr>
        <p:spPr>
          <a:xfrm>
            <a:off x="457200" y="3172968"/>
            <a:ext cx="329184" cy="329184"/>
          </a:xfrm>
          <a:prstGeom prst="ellipse">
            <a:avLst/>
          </a:prstGeom>
          <a:solidFill>
            <a:srgbClr val="2B7BD8"/>
          </a:solidFill>
          <a:ln w="12700">
            <a:solidFill>
              <a:srgbClr val="2B7BD8"/>
            </a:solidFill>
            <a:prstDash val="solid"/>
          </a:ln>
        </p:spPr>
      </p:sp>
      <p:sp>
        <p:nvSpPr>
          <p:cNvPr id="16" name="Text 13"/>
          <p:cNvSpPr txBox="1"/>
          <p:nvPr/>
        </p:nvSpPr>
        <p:spPr>
          <a:xfrm>
            <a:off x="457200" y="31729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txBox="1"/>
          <p:nvPr/>
        </p:nvSpPr>
        <p:spPr>
          <a:xfrm>
            <a:off x="914400" y="31546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Adding these 310 columns did not improve the prediction – the 310 columns repeat what X0 already says</a:t>
            </a:r>
            <a:endParaRPr lang="en-US" sz="1400" dirty="0"/>
          </a:p>
        </p:txBody>
      </p:sp>
      <p:sp>
        <p:nvSpPr>
          <p:cNvPr id="18" name="Text 15"/>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belongs to main slide 6</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Three methods, one result</a:t>
            </a:r>
            <a:endParaRPr lang="en-US" sz="2600" dirty="0"/>
          </a:p>
        </p:txBody>
      </p:sp>
      <p:sp>
        <p:nvSpPr>
          <p:cNvPr id="3" name="tag"/>
          <p:cNvSpPr/>
          <p:nvPr/>
        </p:nvSpPr>
        <p:spPr>
          <a:xfrm>
            <a:off x="7818120" y="347472"/>
            <a:ext cx="868680" cy="274320"/>
          </a:xfrm>
          <a:prstGeom prst="roundRect">
            <a:avLst>
              <a:gd name="adj" fmla="val 26667"/>
            </a:avLst>
          </a:prstGeom>
          <a:solidFill>
            <a:srgbClr val="EAF2FB"/>
          </a:solidFill>
          <a:ln w="12700">
            <a:solidFill>
              <a:srgbClr val="EAF2FB"/>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164A82"/>
                </a:solidFill>
                <a:latin typeface="Calibri" pitchFamily="34" charset="0"/>
                <a:ea typeface="Calibri" pitchFamily="34" charset="-122"/>
                <a:cs typeface="Calibri" pitchFamily="34" charset="-120"/>
              </a:rPr>
              <a:t>Explain</a:t>
            </a:r>
            <a:endParaRPr lang="en-US" sz="900" dirty="0"/>
          </a:p>
        </p:txBody>
      </p:sp>
      <p:sp>
        <p:nvSpPr>
          <p:cNvPr id="6" name="num1"/>
          <p:cNvSpPr/>
          <p:nvPr/>
        </p:nvSpPr>
        <p:spPr>
          <a:xfrm>
            <a:off x="457200" y="1069848"/>
            <a:ext cx="329184" cy="329184"/>
          </a:xfrm>
          <a:prstGeom prst="ellipse">
            <a:avLst/>
          </a:prstGeom>
          <a:solidFill>
            <a:srgbClr val="2B7BD8"/>
          </a:solidFill>
          <a:ln w="12700">
            <a:solidFill>
              <a:srgbClr val="2B7BD8"/>
            </a:solidFill>
            <a:prstDash val="solid"/>
          </a:ln>
        </p:spPr>
      </p:sp>
      <p:sp>
        <p:nvSpPr>
          <p:cNvPr id="7" name="Text 4"/>
          <p:cNvSpPr txBox="1"/>
          <p:nvPr/>
        </p:nvSpPr>
        <p:spPr>
          <a:xfrm>
            <a:off x="457200" y="106984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914400" y="1051560"/>
            <a:ext cx="7772400" cy="758952"/>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Ridge: one straight-line formula – it cannot see combinations of columns. Random Forest: many decision trees, averaged – it can catch combinations Ridge misses. XGBoost: trees that fix each other's errors – usually the strongest for data like ours</a:t>
            </a:r>
            <a:endParaRPr lang="en-US" sz="1350" dirty="0"/>
          </a:p>
        </p:txBody>
      </p:sp>
      <p:sp>
        <p:nvSpPr>
          <p:cNvPr id="9" name="num2"/>
          <p:cNvSpPr/>
          <p:nvPr/>
        </p:nvSpPr>
        <p:spPr>
          <a:xfrm>
            <a:off x="457200" y="1874520"/>
            <a:ext cx="329184" cy="329184"/>
          </a:xfrm>
          <a:prstGeom prst="ellipse">
            <a:avLst/>
          </a:prstGeom>
          <a:solidFill>
            <a:srgbClr val="2B7BD8"/>
          </a:solidFill>
          <a:ln w="12700">
            <a:solidFill>
              <a:srgbClr val="2B7BD8"/>
            </a:solidFill>
            <a:prstDash val="solid"/>
          </a:ln>
        </p:spPr>
      </p:sp>
      <p:sp>
        <p:nvSpPr>
          <p:cNvPr id="10" name="Text 7"/>
          <p:cNvSpPr txBox="1"/>
          <p:nvPr/>
        </p:nvSpPr>
        <p:spPr>
          <a:xfrm>
            <a:off x="457200" y="187452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914400" y="1856232"/>
            <a:ext cx="7772400" cy="758952"/>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Fair test: each method learned from part of the cars and was checked on cars it had not seen, in 5 rounds</a:t>
            </a:r>
            <a:endParaRPr lang="en-US" sz="1350" dirty="0"/>
          </a:p>
        </p:txBody>
      </p:sp>
      <p:sp>
        <p:nvSpPr>
          <p:cNvPr id="12" name="num3"/>
          <p:cNvSpPr/>
          <p:nvPr/>
        </p:nvSpPr>
        <p:spPr>
          <a:xfrm>
            <a:off x="457200" y="2679192"/>
            <a:ext cx="329184" cy="329184"/>
          </a:xfrm>
          <a:prstGeom prst="ellipse">
            <a:avLst/>
          </a:prstGeom>
          <a:solidFill>
            <a:srgbClr val="2B7BD8"/>
          </a:solidFill>
          <a:ln w="12700">
            <a:solidFill>
              <a:srgbClr val="2B7BD8"/>
            </a:solidFill>
            <a:prstDash val="solid"/>
          </a:ln>
        </p:spPr>
      </p:sp>
      <p:sp>
        <p:nvSpPr>
          <p:cNvPr id="13" name="Text 10"/>
          <p:cNvSpPr txBox="1"/>
          <p:nvPr/>
        </p:nvSpPr>
        <p:spPr>
          <a:xfrm>
            <a:off x="457200" y="267919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txBox="1"/>
          <p:nvPr/>
        </p:nvSpPr>
        <p:spPr>
          <a:xfrm>
            <a:off x="914400" y="2660904"/>
            <a:ext cx="7772400" cy="758952"/>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All three: about 8 seconds typical error, about 59 % of the differences explained – equal</a:t>
            </a:r>
            <a:endParaRPr lang="en-US" sz="1350" dirty="0"/>
          </a:p>
        </p:txBody>
      </p:sp>
      <p:sp>
        <p:nvSpPr>
          <p:cNvPr id="15" name="num4"/>
          <p:cNvSpPr/>
          <p:nvPr/>
        </p:nvSpPr>
        <p:spPr>
          <a:xfrm>
            <a:off x="457200" y="3483864"/>
            <a:ext cx="329184" cy="329184"/>
          </a:xfrm>
          <a:prstGeom prst="ellipse">
            <a:avLst/>
          </a:prstGeom>
          <a:solidFill>
            <a:srgbClr val="2B7BD8"/>
          </a:solidFill>
          <a:ln w="12700">
            <a:solidFill>
              <a:srgbClr val="2B7BD8"/>
            </a:solidFill>
            <a:prstDash val="solid"/>
          </a:ln>
        </p:spPr>
      </p:sp>
      <p:sp>
        <p:nvSpPr>
          <p:cNvPr id="16" name="Text 13"/>
          <p:cNvSpPr txBox="1"/>
          <p:nvPr/>
        </p:nvSpPr>
        <p:spPr>
          <a:xfrm>
            <a:off x="457200" y="3483864"/>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txBox="1"/>
          <p:nvPr/>
        </p:nvSpPr>
        <p:spPr>
          <a:xfrm>
            <a:off x="914400" y="3465576"/>
            <a:ext cx="7772400" cy="758952"/>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The stronger methods found nothing extra – so the limit is in the data, not in the method, and we keep the simplest: Ridge with X0</a:t>
            </a:r>
            <a:endParaRPr lang="en-US" sz="1350" dirty="0"/>
          </a:p>
        </p:txBody>
      </p:sp>
      <p:sp>
        <p:nvSpPr>
          <p:cNvPr id="18" name="Text 15"/>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belongs to main slide 7</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What the scores mean</a:t>
            </a:r>
            <a:endParaRPr lang="en-US" sz="2600" dirty="0"/>
          </a:p>
        </p:txBody>
      </p:sp>
      <p:sp>
        <p:nvSpPr>
          <p:cNvPr id="3" name="tag"/>
          <p:cNvSpPr/>
          <p:nvPr/>
        </p:nvSpPr>
        <p:spPr>
          <a:xfrm>
            <a:off x="7818120" y="347472"/>
            <a:ext cx="868680" cy="274320"/>
          </a:xfrm>
          <a:prstGeom prst="roundRect">
            <a:avLst>
              <a:gd name="adj" fmla="val 26667"/>
            </a:avLst>
          </a:prstGeom>
          <a:solidFill>
            <a:srgbClr val="EAF2FB"/>
          </a:solidFill>
          <a:ln w="12700">
            <a:solidFill>
              <a:srgbClr val="EAF2FB"/>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164A82"/>
                </a:solidFill>
                <a:latin typeface="Calibri" pitchFamily="34" charset="0"/>
                <a:ea typeface="Calibri" pitchFamily="34" charset="-122"/>
                <a:cs typeface="Calibri" pitchFamily="34" charset="-120"/>
              </a:rPr>
              <a:t>Explain</a:t>
            </a:r>
            <a:endParaRPr lang="en-US" sz="900" dirty="0"/>
          </a:p>
        </p:txBody>
      </p:sp>
      <p:sp>
        <p:nvSpPr>
          <p:cNvPr id="6" name="num1"/>
          <p:cNvSpPr/>
          <p:nvPr/>
        </p:nvSpPr>
        <p:spPr>
          <a:xfrm>
            <a:off x="457200" y="1115568"/>
            <a:ext cx="329184" cy="329184"/>
          </a:xfrm>
          <a:prstGeom prst="ellipse">
            <a:avLst/>
          </a:prstGeom>
          <a:solidFill>
            <a:srgbClr val="2B7BD8"/>
          </a:solidFill>
          <a:ln w="12700">
            <a:solidFill>
              <a:srgbClr val="2B7BD8"/>
            </a:solidFill>
            <a:prstDash val="solid"/>
          </a:ln>
        </p:spPr>
      </p:sp>
      <p:sp>
        <p:nvSpPr>
          <p:cNvPr id="7" name="Text 4"/>
          <p:cNvSpPr txBox="1"/>
          <p:nvPr/>
        </p:nvSpPr>
        <p:spPr>
          <a:xfrm>
            <a:off x="457200" y="11155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914400" y="10972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"Explained" = how much of the differences between cars the model can account for – not an error rate</a:t>
            </a:r>
            <a:endParaRPr lang="en-US" sz="1400" dirty="0"/>
          </a:p>
        </p:txBody>
      </p:sp>
      <p:sp>
        <p:nvSpPr>
          <p:cNvPr id="9" name="num2"/>
          <p:cNvSpPr/>
          <p:nvPr/>
        </p:nvSpPr>
        <p:spPr>
          <a:xfrm>
            <a:off x="457200" y="1801368"/>
            <a:ext cx="329184" cy="329184"/>
          </a:xfrm>
          <a:prstGeom prst="ellipse">
            <a:avLst/>
          </a:prstGeom>
          <a:solidFill>
            <a:srgbClr val="2B7BD8"/>
          </a:solidFill>
          <a:ln w="12700">
            <a:solidFill>
              <a:srgbClr val="2B7BD8"/>
            </a:solidFill>
            <a:prstDash val="solid"/>
          </a:ln>
        </p:spPr>
      </p:sp>
      <p:sp>
        <p:nvSpPr>
          <p:cNvPr id="10" name="Text 7"/>
          <p:cNvSpPr txBox="1"/>
          <p:nvPr/>
        </p:nvSpPr>
        <p:spPr>
          <a:xfrm>
            <a:off x="457200" y="18013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914400" y="17830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Kaggle check on 4,209 hidden cars: our model 54.1 %, competition winner 55.6 %, limit about 59.7 %</a:t>
            </a:r>
            <a:endParaRPr lang="en-US" sz="1400" dirty="0"/>
          </a:p>
        </p:txBody>
      </p:sp>
      <p:sp>
        <p:nvSpPr>
          <p:cNvPr id="12" name="num3"/>
          <p:cNvSpPr/>
          <p:nvPr/>
        </p:nvSpPr>
        <p:spPr>
          <a:xfrm>
            <a:off x="457200" y="2487168"/>
            <a:ext cx="329184" cy="329184"/>
          </a:xfrm>
          <a:prstGeom prst="ellipse">
            <a:avLst/>
          </a:prstGeom>
          <a:solidFill>
            <a:srgbClr val="2B7BD8"/>
          </a:solidFill>
          <a:ln w="12700">
            <a:solidFill>
              <a:srgbClr val="2B7BD8"/>
            </a:solidFill>
            <a:prstDash val="solid"/>
          </a:ln>
        </p:spPr>
      </p:sp>
      <p:sp>
        <p:nvSpPr>
          <p:cNvPr id="13" name="Text 10"/>
          <p:cNvSpPr txBox="1"/>
          <p:nvPr/>
        </p:nvSpPr>
        <p:spPr>
          <a:xfrm>
            <a:off x="457200" y="24871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txBox="1"/>
          <p:nvPr/>
        </p:nvSpPr>
        <p:spPr>
          <a:xfrm>
            <a:off x="914400" y="24688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So we reach 97 % of the winner's score and 91 % of what is possible – with one column (X0)</a:t>
            </a:r>
            <a:endParaRPr lang="en-US" sz="1400" dirty="0"/>
          </a:p>
        </p:txBody>
      </p:sp>
      <p:sp>
        <p:nvSpPr>
          <p:cNvPr id="15" name="num4"/>
          <p:cNvSpPr/>
          <p:nvPr/>
        </p:nvSpPr>
        <p:spPr>
          <a:xfrm>
            <a:off x="457200" y="3172968"/>
            <a:ext cx="329184" cy="329184"/>
          </a:xfrm>
          <a:prstGeom prst="ellipse">
            <a:avLst/>
          </a:prstGeom>
          <a:solidFill>
            <a:srgbClr val="2B7BD8"/>
          </a:solidFill>
          <a:ln w="12700">
            <a:solidFill>
              <a:srgbClr val="2B7BD8"/>
            </a:solidFill>
            <a:prstDash val="solid"/>
          </a:ln>
        </p:spPr>
      </p:sp>
      <p:sp>
        <p:nvSpPr>
          <p:cNvPr id="16" name="Text 13"/>
          <p:cNvSpPr txBox="1"/>
          <p:nvPr/>
        </p:nvSpPr>
        <p:spPr>
          <a:xfrm>
            <a:off x="457200" y="31729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txBox="1"/>
          <p:nvPr/>
        </p:nvSpPr>
        <p:spPr>
          <a:xfrm>
            <a:off x="914400" y="31546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91 of 100 cars are predicted within 10 seconds; the big misses are a few very long tests</a:t>
            </a:r>
            <a:endParaRPr lang="en-US" sz="1400" dirty="0"/>
          </a:p>
        </p:txBody>
      </p:sp>
      <p:sp>
        <p:nvSpPr>
          <p:cNvPr id="18" name="Text 15"/>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belongs to main slide 8</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The factory-scale estimate</a:t>
            </a:r>
            <a:endParaRPr lang="en-US" sz="2600" dirty="0"/>
          </a:p>
        </p:txBody>
      </p:sp>
      <p:sp>
        <p:nvSpPr>
          <p:cNvPr id="3" name="tag"/>
          <p:cNvSpPr/>
          <p:nvPr/>
        </p:nvSpPr>
        <p:spPr>
          <a:xfrm>
            <a:off x="7818120" y="347472"/>
            <a:ext cx="868680" cy="274320"/>
          </a:xfrm>
          <a:prstGeom prst="roundRect">
            <a:avLst>
              <a:gd name="adj" fmla="val 26667"/>
            </a:avLst>
          </a:prstGeom>
          <a:solidFill>
            <a:srgbClr val="EAF2FB"/>
          </a:solidFill>
          <a:ln w="12700">
            <a:solidFill>
              <a:srgbClr val="EAF2FB"/>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164A82"/>
                </a:solidFill>
                <a:latin typeface="Calibri" pitchFamily="34" charset="0"/>
                <a:ea typeface="Calibri" pitchFamily="34" charset="-122"/>
                <a:cs typeface="Calibri" pitchFamily="34" charset="-120"/>
              </a:rPr>
              <a:t>Explain</a:t>
            </a:r>
            <a:endParaRPr lang="en-US" sz="900" dirty="0"/>
          </a:p>
        </p:txBody>
      </p:sp>
      <p:sp>
        <p:nvSpPr>
          <p:cNvPr id="6" name="num1"/>
          <p:cNvSpPr/>
          <p:nvPr/>
        </p:nvSpPr>
        <p:spPr>
          <a:xfrm>
            <a:off x="457200" y="1115568"/>
            <a:ext cx="329184" cy="329184"/>
          </a:xfrm>
          <a:prstGeom prst="ellipse">
            <a:avLst/>
          </a:prstGeom>
          <a:solidFill>
            <a:srgbClr val="2B7BD8"/>
          </a:solidFill>
          <a:ln w="12700">
            <a:solidFill>
              <a:srgbClr val="2B7BD8"/>
            </a:solidFill>
            <a:prstDash val="solid"/>
          </a:ln>
        </p:spPr>
      </p:sp>
      <p:sp>
        <p:nvSpPr>
          <p:cNvPr id="7" name="Text 4"/>
          <p:cNvSpPr txBox="1"/>
          <p:nvPr/>
        </p:nvSpPr>
        <p:spPr>
          <a:xfrm>
            <a:off x="457200" y="11155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914400" y="10972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Production: the Sindelfingen plant built more than 300,000 cars in 2017 (Wikipedia) – the year of the Kaggle data</a:t>
            </a:r>
            <a:endParaRPr lang="en-US" sz="1400" dirty="0"/>
          </a:p>
        </p:txBody>
      </p:sp>
      <p:sp>
        <p:nvSpPr>
          <p:cNvPr id="9" name="num2"/>
          <p:cNvSpPr/>
          <p:nvPr/>
        </p:nvSpPr>
        <p:spPr>
          <a:xfrm>
            <a:off x="457200" y="1801368"/>
            <a:ext cx="329184" cy="329184"/>
          </a:xfrm>
          <a:prstGeom prst="ellipse">
            <a:avLst/>
          </a:prstGeom>
          <a:solidFill>
            <a:srgbClr val="2B7BD8"/>
          </a:solidFill>
          <a:ln w="12700">
            <a:solidFill>
              <a:srgbClr val="2B7BD8"/>
            </a:solidFill>
            <a:prstDash val="solid"/>
          </a:ln>
        </p:spPr>
      </p:sp>
      <p:sp>
        <p:nvSpPr>
          <p:cNvPr id="10" name="Text 7"/>
          <p:cNvSpPr txBox="1"/>
          <p:nvPr/>
        </p:nvSpPr>
        <p:spPr>
          <a:xfrm>
            <a:off x="457200" y="18013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914400" y="17830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Per day: about 1,300 cars, assuming about 230 working days (our assumption)</a:t>
            </a:r>
            <a:endParaRPr lang="en-US" sz="1400" dirty="0"/>
          </a:p>
        </p:txBody>
      </p:sp>
      <p:sp>
        <p:nvSpPr>
          <p:cNvPr id="12" name="num3"/>
          <p:cNvSpPr/>
          <p:nvPr/>
        </p:nvSpPr>
        <p:spPr>
          <a:xfrm>
            <a:off x="457200" y="2487168"/>
            <a:ext cx="329184" cy="329184"/>
          </a:xfrm>
          <a:prstGeom prst="ellipse">
            <a:avLst/>
          </a:prstGeom>
          <a:solidFill>
            <a:srgbClr val="2B7BD8"/>
          </a:solidFill>
          <a:ln w="12700">
            <a:solidFill>
              <a:srgbClr val="2B7BD8"/>
            </a:solidFill>
            <a:prstDash val="solid"/>
          </a:ln>
        </p:spPr>
      </p:sp>
      <p:sp>
        <p:nvSpPr>
          <p:cNvPr id="13" name="Text 10"/>
          <p:cNvSpPr txBox="1"/>
          <p:nvPr/>
        </p:nvSpPr>
        <p:spPr>
          <a:xfrm>
            <a:off x="457200" y="24871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txBox="1"/>
          <p:nvPr/>
        </p:nvSpPr>
        <p:spPr>
          <a:xfrm>
            <a:off x="914400" y="24688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4.5 seconds more accurate per car × 1,300 cars ≈ 5,850 seconds ≈ 1.6 hours of better planning per day</a:t>
            </a:r>
            <a:endParaRPr lang="en-US" sz="1400" dirty="0"/>
          </a:p>
        </p:txBody>
      </p:sp>
      <p:sp>
        <p:nvSpPr>
          <p:cNvPr id="15" name="num4"/>
          <p:cNvSpPr/>
          <p:nvPr/>
        </p:nvSpPr>
        <p:spPr>
          <a:xfrm>
            <a:off x="457200" y="3172968"/>
            <a:ext cx="329184" cy="329184"/>
          </a:xfrm>
          <a:prstGeom prst="ellipse">
            <a:avLst/>
          </a:prstGeom>
          <a:solidFill>
            <a:srgbClr val="2B7BD8"/>
          </a:solidFill>
          <a:ln w="12700">
            <a:solidFill>
              <a:srgbClr val="2B7BD8"/>
            </a:solidFill>
            <a:prstDash val="solid"/>
          </a:ln>
        </p:spPr>
      </p:sp>
      <p:sp>
        <p:nvSpPr>
          <p:cNvPr id="16" name="Text 13"/>
          <p:cNvSpPr txBox="1"/>
          <p:nvPr/>
        </p:nvSpPr>
        <p:spPr>
          <a:xfrm>
            <a:off x="457200" y="31729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txBox="1"/>
          <p:nvPr/>
        </p:nvSpPr>
        <p:spPr>
          <a:xfrm>
            <a:off x="914400" y="31546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saving is a hypothesis: the data has no energy values, and we don't know which plant the data comes from</a:t>
            </a:r>
            <a:endParaRPr lang="en-US" sz="1400" dirty="0"/>
          </a:p>
        </p:txBody>
      </p:sp>
      <p:sp>
        <p:nvSpPr>
          <p:cNvPr id="18" name="Text 15"/>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belongs to main slide 10</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22376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Why long tests cannot be predicted</a:t>
            </a:r>
            <a:endParaRPr lang="en-US" sz="2600" dirty="0"/>
          </a:p>
        </p:txBody>
      </p:sp>
      <p:sp>
        <p:nvSpPr>
          <p:cNvPr id="3" name="tag"/>
          <p:cNvSpPr/>
          <p:nvPr/>
        </p:nvSpPr>
        <p:spPr>
          <a:xfrm>
            <a:off x="7818120" y="347472"/>
            <a:ext cx="868680" cy="274320"/>
          </a:xfrm>
          <a:prstGeom prst="roundRect">
            <a:avLst>
              <a:gd name="adj" fmla="val 26667"/>
            </a:avLst>
          </a:prstGeom>
          <a:solidFill>
            <a:srgbClr val="EAF2FB"/>
          </a:solidFill>
          <a:ln w="12700">
            <a:solidFill>
              <a:srgbClr val="EAF2FB"/>
            </a:solidFill>
            <a:prstDash val="solid"/>
          </a:ln>
        </p:spPr>
      </p:sp>
      <p:sp>
        <p:nvSpPr>
          <p:cNvPr id="4" name="Text 2"/>
          <p:cNvSpPr txBox="1"/>
          <p:nvPr/>
        </p:nvSpPr>
        <p:spPr>
          <a:xfrm>
            <a:off x="7818120" y="347472"/>
            <a:ext cx="868680" cy="274320"/>
          </a:xfrm>
          <a:prstGeom prst="rect">
            <a:avLst/>
          </a:prstGeom>
          <a:noFill/>
          <a:ln/>
        </p:spPr>
        <p:txBody>
          <a:bodyPr wrap="square" lIns="0" tIns="0" rIns="0" bIns="0" rtlCol="0" anchor="ctr"/>
          <a:lstStyle/>
          <a:p>
            <a:pPr algn="ctr" indent="0" marL="0">
              <a:buNone/>
            </a:pPr>
            <a:r>
              <a:rPr lang="en-US" sz="900" b="1" dirty="0">
                <a:solidFill>
                  <a:srgbClr val="164A82"/>
                </a:solidFill>
                <a:latin typeface="Calibri" pitchFamily="34" charset="0"/>
                <a:ea typeface="Calibri" pitchFamily="34" charset="-122"/>
                <a:cs typeface="Calibri" pitchFamily="34" charset="-120"/>
              </a:rPr>
              <a:t>Explain</a:t>
            </a:r>
            <a:endParaRPr lang="en-US" sz="900" dirty="0"/>
          </a:p>
        </p:txBody>
      </p:sp>
      <p:sp>
        <p:nvSpPr>
          <p:cNvPr id="6" name="num1"/>
          <p:cNvSpPr/>
          <p:nvPr/>
        </p:nvSpPr>
        <p:spPr>
          <a:xfrm>
            <a:off x="457200" y="1115568"/>
            <a:ext cx="329184" cy="329184"/>
          </a:xfrm>
          <a:prstGeom prst="ellipse">
            <a:avLst/>
          </a:prstGeom>
          <a:solidFill>
            <a:srgbClr val="2B7BD8"/>
          </a:solidFill>
          <a:ln w="12700">
            <a:solidFill>
              <a:srgbClr val="2B7BD8"/>
            </a:solidFill>
            <a:prstDash val="solid"/>
          </a:ln>
        </p:spPr>
      </p:sp>
      <p:sp>
        <p:nvSpPr>
          <p:cNvPr id="7" name="Text 4"/>
          <p:cNvSpPr txBox="1"/>
          <p:nvPr/>
        </p:nvSpPr>
        <p:spPr>
          <a:xfrm>
            <a:off x="457200" y="11155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914400" y="10972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50 of 4,209 tests took unusually long (over 136 seconds)</a:t>
            </a:r>
            <a:endParaRPr lang="en-US" sz="1400" dirty="0"/>
          </a:p>
        </p:txBody>
      </p:sp>
      <p:sp>
        <p:nvSpPr>
          <p:cNvPr id="9" name="num2"/>
          <p:cNvSpPr/>
          <p:nvPr/>
        </p:nvSpPr>
        <p:spPr>
          <a:xfrm>
            <a:off x="457200" y="1801368"/>
            <a:ext cx="329184" cy="329184"/>
          </a:xfrm>
          <a:prstGeom prst="ellipse">
            <a:avLst/>
          </a:prstGeom>
          <a:solidFill>
            <a:srgbClr val="2B7BD8"/>
          </a:solidFill>
          <a:ln w="12700">
            <a:solidFill>
              <a:srgbClr val="2B7BD8"/>
            </a:solidFill>
            <a:prstDash val="solid"/>
          </a:ln>
        </p:spPr>
      </p:sp>
      <p:sp>
        <p:nvSpPr>
          <p:cNvPr id="10" name="Text 7"/>
          <p:cNvSpPr txBox="1"/>
          <p:nvPr/>
        </p:nvSpPr>
        <p:spPr>
          <a:xfrm>
            <a:off x="457200" y="18013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914400" y="17830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Identical twins of these cars ran normally – in all 9 cases</a:t>
            </a:r>
            <a:endParaRPr lang="en-US" sz="1400" dirty="0"/>
          </a:p>
        </p:txBody>
      </p:sp>
      <p:sp>
        <p:nvSpPr>
          <p:cNvPr id="12" name="num3"/>
          <p:cNvSpPr/>
          <p:nvPr/>
        </p:nvSpPr>
        <p:spPr>
          <a:xfrm>
            <a:off x="457200" y="2487168"/>
            <a:ext cx="329184" cy="329184"/>
          </a:xfrm>
          <a:prstGeom prst="ellipse">
            <a:avLst/>
          </a:prstGeom>
          <a:solidFill>
            <a:srgbClr val="2B7BD8"/>
          </a:solidFill>
          <a:ln w="12700">
            <a:solidFill>
              <a:srgbClr val="2B7BD8"/>
            </a:solidFill>
            <a:prstDash val="solid"/>
          </a:ln>
        </p:spPr>
      </p:sp>
      <p:sp>
        <p:nvSpPr>
          <p:cNvPr id="13" name="Text 10"/>
          <p:cNvSpPr txBox="1"/>
          <p:nvPr/>
        </p:nvSpPr>
        <p:spPr>
          <a:xfrm>
            <a:off x="457200" y="24871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txBox="1"/>
          <p:nvPr/>
        </p:nvSpPr>
        <p:spPr>
          <a:xfrm>
            <a:off x="914400" y="24688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best warning rule is right for only 1 in 39 flagged cars – about twice as good as chance</a:t>
            </a:r>
            <a:endParaRPr lang="en-US" sz="1400" dirty="0"/>
          </a:p>
        </p:txBody>
      </p:sp>
      <p:sp>
        <p:nvSpPr>
          <p:cNvPr id="15" name="num4"/>
          <p:cNvSpPr/>
          <p:nvPr/>
        </p:nvSpPr>
        <p:spPr>
          <a:xfrm>
            <a:off x="457200" y="3172968"/>
            <a:ext cx="329184" cy="329184"/>
          </a:xfrm>
          <a:prstGeom prst="ellipse">
            <a:avLst/>
          </a:prstGeom>
          <a:solidFill>
            <a:srgbClr val="2B7BD8"/>
          </a:solidFill>
          <a:ln w="12700">
            <a:solidFill>
              <a:srgbClr val="2B7BD8"/>
            </a:solidFill>
            <a:prstDash val="solid"/>
          </a:ln>
        </p:spPr>
      </p:sp>
      <p:sp>
        <p:nvSpPr>
          <p:cNvPr id="16" name="Text 13"/>
          <p:cNvSpPr txBox="1"/>
          <p:nvPr/>
        </p:nvSpPr>
        <p:spPr>
          <a:xfrm>
            <a:off x="457200" y="31729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txBox="1"/>
          <p:nvPr/>
        </p:nvSpPr>
        <p:spPr>
          <a:xfrm>
            <a:off x="914400" y="3154680"/>
            <a:ext cx="77724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So the extra time comes from the test run (bench, tester, day) → future work: record these data and test a targeted buffer</a:t>
            </a:r>
            <a:endParaRPr lang="en-US" sz="1400" dirty="0"/>
          </a:p>
        </p:txBody>
      </p:sp>
      <p:sp>
        <p:nvSpPr>
          <p:cNvPr id="18" name="Text 15"/>
          <p:cNvSpPr txBox="1"/>
          <p:nvPr/>
        </p:nvSpPr>
        <p:spPr>
          <a:xfrm>
            <a:off x="457200" y="4498848"/>
            <a:ext cx="8229600" cy="292608"/>
          </a:xfrm>
          <a:prstGeom prst="rect">
            <a:avLst/>
          </a:prstGeom>
          <a:noFill/>
          <a:ln/>
        </p:spPr>
        <p:txBody>
          <a:bodyPr wrap="square" lIns="0" tIns="0" rIns="0" bIns="0" rtlCol="0" anchor="b"/>
          <a:lstStyle/>
          <a:p>
            <a:pPr indent="0" marL="0">
              <a:buNone/>
            </a:pPr>
            <a:r>
              <a:rPr lang="en-US" sz="900" b="1" i="1" dirty="0">
                <a:solidFill>
                  <a:srgbClr val="2B7BD8"/>
                </a:solidFill>
                <a:latin typeface="Calibri" pitchFamily="34" charset="0"/>
                <a:ea typeface="Calibri" pitchFamily="34" charset="-122"/>
                <a:cs typeface="Calibri" pitchFamily="34" charset="-120"/>
              </a:rPr>
              <a:t>→ belongs to main slide 11</a:t>
            </a:r>
            <a:endParaRPr lang="en-US" sz="9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Greener Tests">
  <a:themeElements>
    <a:clrScheme name="Greener Tests">
      <a:dk1>
        <a:srgbClr val="1F2933"/>
      </a:dk1>
      <a:lt1>
        <a:srgbClr val="FFFFFF"/>
      </a:lt1>
      <a:dk2>
        <a:srgbClr val="1B2632"/>
      </a:dk2>
      <a:lt2>
        <a:srgbClr val="F3F6F9"/>
      </a:lt2>
      <a:accent1>
        <a:srgbClr val="2B7BD8"/>
      </a:accent1>
      <a:accent2>
        <a:srgbClr val="2E8B57"/>
      </a:accent2>
      <a:accent3>
        <a:srgbClr val="164A82"/>
      </a:accent3>
      <a:accent4>
        <a:srgbClr val="C77700"/>
      </a:accent4>
      <a:accent5>
        <a:srgbClr val="8FB8E8"/>
      </a:accent5>
      <a:accent6>
        <a:srgbClr val="9AA5AF"/>
      </a:accent6>
      <a:hlink>
        <a:srgbClr val="2B7BD8"/>
      </a:hlink>
      <a:folHlink>
        <a:srgbClr val="164A82"/>
      </a:folHlink>
    </a:clrScheme>
    <a:fontScheme name="Greener Test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Faster tests, greener cars – stakeholder version</dc:title>
  <dc:subject>PptxGenJS Presentation</dc:subject>
  <dc:creator>Mohammad Bajbouj</dc:creator>
  <cp:lastModifiedBy>Mohammad Bajbouj</cp:lastModifiedBy>
  <cp:revision>1</cp:revision>
  <dcterms:created xsi:type="dcterms:W3CDTF">2026-10-23T08:53:47Z</dcterms:created>
  <dcterms:modified xsi:type="dcterms:W3CDTF">2026-10-23T08:53:47Z</dcterms:modified>
</cp:coreProperties>
</file>