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presentation" id="{fd33ef0a-42e1-e24d-50c4-a74cc494502a}">
          <p14:sldIdLst>
            <p14:sldId id="256"/>
            <p14:sldId id="257"/>
            <p14:sldId id="258"/>
            <p14:sldId id="259"/>
            <p14:sldId id="260"/>
            <p14:sldId id="261"/>
            <p14:sldId id="262"/>
            <p14:sldId id="263"/>
            <p14:sldId id="264"/>
            <p14:sldId id="265"/>
            <p14:sldId id="266"/>
            <p14:sldId id="267"/>
            <p14:sldId id="268"/>
            <p14:sldId id="269"/>
            <p14:sldId id="270"/>
          </p14:sldIdLst>
        </p14:section>
        <p14:section name="Backup M0 – the data" id="{ba57a00f-9220-7af4-94ae-a7893d051fd3}">
          <p14:sldIdLst>
            <p14:sldId id="271"/>
            <p14:sldId id="272"/>
            <p14:sldId id="273"/>
            <p14:sldId id="274"/>
          </p14:sldIdLst>
        </p14:section>
        <p14:section name="Backup M1 – EDA" id="{2a1368d3-ca6c-3c30-7a4b-bc907206e11b}">
          <p14:sldIdLst>
            <p14:sldId id="275"/>
            <p14:sldId id="276"/>
            <p14:sldId id="277"/>
            <p14:sldId id="278"/>
            <p14:sldId id="279"/>
            <p14:sldId id="280"/>
            <p14:sldId id="281"/>
            <p14:sldId id="282"/>
          </p14:sldIdLst>
        </p14:section>
        <p14:section name="Backup M2 – baseline" id="{c71c5931-7b27-dc8a-0eff-74355845148b}">
          <p14:sldIdLst>
            <p14:sldId id="283"/>
            <p14:sldId id="284"/>
          </p14:sldIdLst>
        </p14:section>
        <p14:section name="Backup M3 – model" id="{0240e83c-da41-622f-ae39-ee55d5992c4c}">
          <p14:sldIdLst>
            <p14:sldId id="285"/>
            <p14:sldId id="286"/>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Our project asks whether machine learning can predict how long each Mercedes-Benz car stays on the end-of-line test bench. If we know this in advance, the bench can be planned better. I will show what the data allows, what our model reaches, and what we propose next.
Internal: v8 (D67) = changes 38, 41; v7 (D66) = changes 34–37 + speaker notes; v6 (D64), v5 (D59) see change lists in my_notes.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hypothesis H2 asks: does the same car configuration always need the same test time? If not, part of the test time can never be predicted from the configuration, and that part sets a limit for every model. We test this with cars that are identical in all 376 columns, and then with three different algorithms, as the coaches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data: 4,209 tested cars from the official Kaggle competition. Each car is described by 376 columns – Mercedes-Benz hid the real names, so they are just called X0, X1 and so on. For each car we know the measured test time, between 72 and 265 seconds. That test time is what we predict.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data tells us in five points. First, even identical cars get different test times, so at most about 60 % of the differences can be explained. Test times cluster in a few groups, and one column, X0, sorts the cars into these groups. Many yes/no columns carry no information of their own. I will show the key plots on the next three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one group of identical cars, each dot is one car. Even inside the same group the times spread – the largest group of nine identical cars ranges from 106 to 128 seconds. From my experience in automotive R&amp;D: reasons like human error at the bench are not recorded in the data. This is why at most about 60 % of the differences can be predicted.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cars need about 75, 90, 100 or 108 seconds – the test times come in groups. One car took 265 seconds while the next longest took 170 seconds; we removed it from training as a likely faulty test. This is our assumption, because no column records a faulty test. The other 49 long tests stay in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box plot shows the test time per X0 code, sorted from fast to slow. The X0 code alone explains 57.5 % of the differences between cars. The next best text column, X2, explains 22.6 %, every other text column at most 4.2 %. So one column already carries almost everything that can be predicted.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predictions. Giving every car the same average time misses by about 12.4 seconds. Using the average of the car's X0 group cuts this to about 8 seconds – about 4.5 seconds better per car. The remaining 8 seconds are the noise floor, because identical cars differ by about 8.1 seconds. Adding all 310 columns does not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four simple predictions side by side, tested with 5-fold cross-validation on 4,208 cars. The average per X0 group and Ridge with X0 give exactly the same result: 7.97 seconds and 58.7 % explained. With all 310 columns Ridge gets slightly worse, 8.09 seconds. 58.7 % is about 98 % of the limit of 59.7 %.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best model. Ridge, Random Forest and XGBoost all miss by about 8 seconds and explain about 59 % – they are equal. So we keep the simplest: Ridge with only X0. On cars it had not seen, 62 of 100 cars are within 5 seconds and 91 within 10 seconds. On Kaggle's hidden cars we reach 97 % of the winner's score with one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results in one chart: the two simple rules and four models. All models end between 7.91 and 8.09 seconds typical miss. The differences are at most 0.6 percentage points, smaller than the normal variation between the 5 test rounds of about 3.5 points. The dashed line is the noise floor of 8.1 seconds that no model can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the model fail? It was tested on cars it had not seen. For 62 of 100 cars the prediction is at most 5 seconds off, for 91 of 100 at most 10 seconds. The 10 biggest misses are all long tests that took longer than predicted. Rare X0 codes are not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a good score? On Kaggle's 4,209 hidden cars our model explains 54.1 %, the competition winner 55.6 %, and the limit from identical cars is about 59.7 %. So we reach 97 % of the winner's score and 91 % of what is possible, with one single column. In seconds, the typical miss drops from 12.4 to 8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product is a test-bench planner. The car order brings the configuration, the model predicts the test time about 4.5 seconds closer than the average, and the plan gets a slot per car plus a buffer of about 10 seconds, which covers 91 of 100 cars. My expert view: plan with predicted times to reduce energy use, and keep a buffer for extraordinary tests. The test itself does not get shorter – the plan gets more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recommendations. Plan with predictions: at about 1,300 cars a day, 4.5 seconds per car add up to about 1.6 hours of more accurate planning per day. Test the energy saving in a pilot on one bench, first for a day, then a month. Record test-run data, because long tests cannot be predicted from the configuration. And keep the limits in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section – used only when questions come up. Each slide names the main slide it belongs to and its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the problem. Almost every car is configured differently, every car is tested before delivery, and a longer bench time means more energy and CO2. So differing test times make the bench hard to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the question. The input is a car's configuration – all 376 column values. The output is the predicted test time in seconds. Everything in this project tries to learn this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the data. 4,209 tested cars, 376 anonymised columns – 8 text and 368 yes/no – and test times from 72.11 to 265.32 seconds. We see the values, but not what the columns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section – used only when questions come up. Each slide names the main slide it belongs to and its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found identical cars: we wrote all 376 values of a car into one key and compared the keys. 515 cars have at least one identical twin, in 217 groups – from 167 pairs to one group of 9 cars. A person can check every group by hand. The two examples show identical cars up to 22 and 8.8 seconds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60 % comes from. All cars spread about 12.7 seconds around the average of 100.7 seconds, which is 160.8 seconds squared. Identical cars still spread 8.1 seconds, 64.9 seconds squared – that part is noise. 64.9 out of 160.8 is 40 % noise, so at most 60 % can be 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noise calculation step by step. For each group of identical cars we take the group average, square each car's distance to it, and add everything up: 19,332.3 seconds squared. We divide by 515 cars minus 217 groups, because each group uses up one value for its own average. That gives 64.9 seconds squared.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X0 is not an algorithm – it is one column of the data. Every car has exactly one X0 code, and there are 47 codes. For the models each code becomes its own yes/no column, which is called one-hot encoding.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strong column that tells nothing new: X314 alone explains 36.7 % of the differences. But every X0 code is always with or always without X314. So once X0 is known, X314 adds nothing – the lesson is that a strong single link is not new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proves the point: 0 of the 47 X0 codes have both X314 values. 14 codes always have X314, 33 never. So X0 already decides X314.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we removed yes/no columns: of 368, 12 never change, 45 are exact copies and 8 are exact opposites of another column, so 303 stay. The strong ones only repeat X0. All columns together did not beat X0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section – used only when questions come up. Each slide names the main slide it belongs to and its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engineering was only cleanup: we dropped the 265-second car, left out X4 and reduced the yes/no columns to 303 – 310 columns in total. More columns made the model slightly worse, because it has to learn hundreds of weights from 4,208 cars and starts to learn noise. That is overfitting, so we keep X0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section – used only when questions come up. Each slide names the main slide it belongs to and its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three algorithms? Ridge is one straight-line formula and cannot see combinations of columns. Random Forest averages many decision trees and can catch combinations that Ridge misses. XGBoost builds trees that correct each other and is usually the strongest for table data. If hidden combinations existed, the two tree methods would score clearly better – they did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training and testing worked. Cross-validation is a testing method, not part of a model: the 4,208 cars are split into 5 parts, and each round trains on 4 parts and tests on the fifth. The same 5 parts were used for all three models, so the comparison is fair. Only the final Ridge model, retrained on all 4,208 cars, predicted Kaggle's 4,209 hidden cars. Internal note (R77): in Step 28 alpha was chosen on the same 5 folds that gave the 0.587 score; it does not change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model got a small grid of settings, tested inside the same cross-validation so the test part is never used to choose settings. The best settings were always at the simple end. A wider grid was not needed, because no setting can pass the limit of about 60 %.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long tests be predicted? Six long-test cars have identical twins, and all 9 twins ran normally – 26 to 58 seconds faster. The best warning rule is right for only 1 in 39 flagged cars, about twice as good as chance. So long tests come from the test run itself, and we propose recording test-run data as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rtlCol="0"/>
          <a:lstStyle>
            <a:lvl1pPr algn="l" indent="0" marL="0">
              <a:buNone/>
              <a:defRPr lang="en-US" sz="2600" b="1" dirty="0">
                <a:solidFill>
                  <a:schemeClr val="tx2"/>
                </a:solidFill>
                <a:latin typeface="Cambria" pitchFamily="34" charset="0"/>
                <a:ea typeface="Cambria" pitchFamily="34" charset="-122"/>
                <a:cs typeface="Cambria" pitchFamily="34" charset="-120"/>
              </a:defRPr>
            </a:lvl1pPr>
          </a:lstStyle>
          <a:p>
            <a:pPr algn="l" indent="0" marL="0">
              <a:buNone/>
            </a:pPr>
            <a:r>
              <a:rPr lang="en-US" sz="2600" b="1" dirty="0">
                <a:solidFill>
                  <a:schemeClr val="tx2"/>
                </a:solidFill>
                <a:latin typeface="Cambria" pitchFamily="34" charset="0"/>
                <a:ea typeface="Cambria" pitchFamily="34" charset="-122"/>
                <a:cs typeface="Cambria" pitchFamily="34" charset="-120"/>
              </a:rPr>
              <a:t>Title</a:t>
            </a:r>
            <a:endParaRPr lang="en-US" sz="2600" dirty="0"/>
          </a:p>
        </p:txBody>
      </p:sp>
      <p:sp>
        <p:nvSpPr>
          <p:cNvPr id="3" name="Text 0"/>
          <p:cNvSpPr/>
          <p:nvPr/>
        </p:nvSpPr>
        <p:spPr>
          <a:xfrm>
            <a:off x="457200" y="4846320"/>
            <a:ext cx="7680960" cy="228600"/>
          </a:xfrm>
          <a:prstGeom prst="rect">
            <a:avLst/>
          </a:prstGeom>
          <a:noFill/>
          <a:ln/>
        </p:spPr>
        <p:txBody>
          <a:bodyPr wrap="square" lIns="0" tIns="0" rIns="0" bIns="0" rtlCol="0" anchor="ctr"/>
          <a:lstStyle/>
          <a:p>
            <a:pPr indent="0" marL="0">
              <a:buNone/>
            </a:pPr>
            <a:r>
              <a:rPr lang="en-US" sz="700" dirty="0">
                <a:solidFill>
                  <a:srgbClr val="5B6670"/>
                </a:solidFill>
                <a:latin typeface="Calibri" pitchFamily="34" charset="0"/>
                <a:ea typeface="Calibri" pitchFamily="34" charset="-122"/>
                <a:cs typeface="Calibri" pitchFamily="34" charset="-120"/>
              </a:rPr>
              <a:t>© 2026 Mohammad Bajbouj. All rights reserved. Decisions by Mohammad Bajbouj; drafted with Claude by Anthropic (Cowork, Claude Code); winner research drafted by Gemini (Google). Practice project, neuefische AI PM bootcamp. Kaggle data (Mercedes-Benz) is not covered by this copyright notice.</a:t>
            </a:r>
            <a:endParaRPr lang="en-US" sz="7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63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005840"/>
          </a:xfrm>
          <a:prstGeom prst="rect">
            <a:avLst/>
          </a:prstGeom>
          <a:noFill/>
          <a:ln/>
        </p:spPr>
        <p:txBody>
          <a:bodyPr wrap="square" rtlCol="0"/>
          <a:lstStyle>
            <a:lvl1pPr indent="0" marL="0">
              <a:buNone/>
              <a:defRPr lang="en-US" sz="4000" b="1" dirty="0">
                <a:solidFill>
                  <a:schemeClr val="bg1"/>
                </a:solidFill>
                <a:latin typeface="Cambria" pitchFamily="34" charset="0"/>
                <a:ea typeface="Cambria" pitchFamily="34" charset="-122"/>
                <a:cs typeface="Cambria" pitchFamily="34" charset="-120"/>
              </a:defRPr>
            </a:lvl1pPr>
          </a:lstStyle>
          <a:p>
            <a:pPr indent="0" marL="0">
              <a:buNone/>
            </a:pPr>
            <a:r>
              <a:rPr lang="en-US" sz="4000" b="1" dirty="0">
                <a:solidFill>
                  <a:schemeClr val="bg1"/>
                </a:solidFill>
                <a:latin typeface="Cambria" pitchFamily="34" charset="0"/>
                <a:ea typeface="Cambria" pitchFamily="34" charset="-122"/>
                <a:cs typeface="Cambria" pitchFamily="34" charset="-120"/>
              </a:rPr>
              <a:t>Title</a:t>
            </a: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2.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00584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Faster tests, greener cars</a:t>
            </a:r>
            <a:endParaRPr lang="en-US" sz="4000" dirty="0"/>
          </a:p>
        </p:txBody>
      </p:sp>
      <p:sp>
        <p:nvSpPr>
          <p:cNvPr id="3" name="Text 1"/>
          <p:cNvSpPr txBox="1"/>
          <p:nvPr/>
        </p:nvSpPr>
        <p:spPr>
          <a:xfrm>
            <a:off x="548640" y="2514600"/>
            <a:ext cx="8046720" cy="457200"/>
          </a:xfrm>
          <a:prstGeom prst="rect">
            <a:avLst/>
          </a:prstGeom>
          <a:noFill/>
          <a:ln/>
        </p:spPr>
        <p:txBody>
          <a:bodyPr wrap="square" lIns="0" tIns="0" rIns="0" bIns="0" rtlCol="0" anchor="t"/>
          <a:lstStyle/>
          <a:p>
            <a:pPr indent="0" marL="0">
              <a:buNone/>
            </a:pPr>
            <a:r>
              <a:rPr lang="en-US" sz="1800" dirty="0">
                <a:solidFill>
                  <a:srgbClr val="CFD8E3"/>
                </a:solidFill>
                <a:latin typeface="Calibri" pitchFamily="34" charset="0"/>
                <a:ea typeface="Calibri" pitchFamily="34" charset="-122"/>
                <a:cs typeface="Calibri" pitchFamily="34" charset="-120"/>
              </a:rPr>
              <a:t>Can we predict how long a Mercedes-Benz car stays on the test bench?</a:t>
            </a:r>
            <a:endParaRPr lang="en-US" sz="1800" dirty="0"/>
          </a:p>
        </p:txBody>
      </p:sp>
      <p:sp>
        <p:nvSpPr>
          <p:cNvPr id="4" name="Text 2"/>
          <p:cNvSpPr txBox="1"/>
          <p:nvPr/>
        </p:nvSpPr>
        <p:spPr>
          <a:xfrm>
            <a:off x="548640" y="3154680"/>
            <a:ext cx="8046720" cy="365760"/>
          </a:xfrm>
          <a:prstGeom prst="rect">
            <a:avLst/>
          </a:prstGeom>
          <a:noFill/>
          <a:ln/>
        </p:spPr>
        <p:txBody>
          <a:bodyPr wrap="square" lIns="0" tIns="0" rIns="0" bIns="0" rtlCol="0" anchor="t"/>
          <a:lstStyle/>
          <a:p>
            <a:pPr indent="0" marL="0">
              <a:buNone/>
            </a:pPr>
            <a:r>
              <a:rPr lang="en-US" sz="1200" dirty="0">
                <a:solidFill>
                  <a:srgbClr val="9FB0C2"/>
                </a:solidFill>
                <a:latin typeface="Calibri" pitchFamily="34" charset="0"/>
                <a:ea typeface="Calibri" pitchFamily="34" charset="-122"/>
                <a:cs typeface="Calibri" pitchFamily="34" charset="-120"/>
              </a:rPr>
              <a:t>Mohammad Bajbouj · ML project (Kaggle: Mercedes-Benz Greener Manufacturing) · neuefische AI PM bootcamp · October 2026</a:t>
            </a:r>
            <a:endParaRPr lang="en-US" sz="1200" dirty="0"/>
          </a:p>
        </p:txBody>
      </p:sp>
      <p:pic>
        <p:nvPicPr>
          <p:cNvPr id="5" name="leaf" descr="preencoded.png">    </p:cNvPr>
          <p:cNvPicPr>
            <a:picLocks noChangeAspect="1"/>
          </p:cNvPicPr>
          <p:nvPr/>
        </p:nvPicPr>
        <p:blipFill>
          <a:blip r:embed="rId1"/>
          <a:stretch>
            <a:fillRect/>
          </a:stretch>
        </p:blipFill>
        <p:spPr>
          <a:xfrm>
            <a:off x="548640" y="731520"/>
            <a:ext cx="502920" cy="502920"/>
          </a:xfrm>
          <a:prstGeom prst="rect">
            <a:avLst/>
          </a:prstGeom>
        </p:spPr>
      </p:pic>
      <p:sp>
        <p:nvSpPr>
          <p:cNvPr id="6" name="Text 3"/>
          <p:cNvSpPr txBox="1"/>
          <p:nvPr/>
        </p:nvSpPr>
        <p:spPr>
          <a:xfrm>
            <a:off x="548640" y="4617720"/>
            <a:ext cx="8046720" cy="320040"/>
          </a:xfrm>
          <a:prstGeom prst="rect">
            <a:avLst/>
          </a:prstGeom>
          <a:noFill/>
          <a:ln/>
        </p:spPr>
        <p:txBody>
          <a:bodyPr wrap="square" lIns="0" tIns="0" rIns="0" bIns="0" rtlCol="0" anchor="t"/>
          <a:lstStyle/>
          <a:p>
            <a:pPr indent="0" marL="0">
              <a:buNone/>
            </a:pPr>
            <a:r>
              <a:rPr lang="en-US" sz="800" dirty="0">
                <a:solidFill>
                  <a:srgbClr val="8899AA"/>
                </a:solidFill>
                <a:latin typeface="Calibri" pitchFamily="34" charset="0"/>
                <a:ea typeface="Calibri" pitchFamily="34" charset="-122"/>
                <a:cs typeface="Calibri" pitchFamily="34" charset="-120"/>
              </a:rPr>
              <a:t>© 2026 Mohammad Bajbouj. All rights reserved. Decisions by Mohammad Bajbouj; drafted with Claude by Anthropic (Cowork, Claude Code); winner research drafted by Gemini (Google). Practice project, neuefische AI PM bootcamp. Kaggle data (Mercedes-Benz) is not covered by this copyright notice.</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Our hypothesis (H2)</a:t>
            </a:r>
            <a:endParaRPr lang="en-US" sz="2600" dirty="0"/>
          </a:p>
        </p:txBody>
      </p:sp>
      <p:sp>
        <p:nvSpPr>
          <p:cNvPr id="3" name="tag"/>
          <p:cNvSpPr/>
          <p:nvPr/>
        </p:nvSpPr>
        <p:spPr>
          <a:xfrm>
            <a:off x="7818120" y="347472"/>
            <a:ext cx="868680" cy="274320"/>
          </a:xfrm>
          <a:prstGeom prst="roundRect">
            <a:avLst>
              <a:gd name="adj" fmla="val 26667"/>
            </a:avLst>
          </a:prstGeom>
          <a:solidFill>
            <a:srgbClr val="2E8B57"/>
          </a:solidFill>
          <a:ln w="12700">
            <a:solidFill>
              <a:srgbClr val="2E8B57"/>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Main · H2</a:t>
            </a:r>
            <a:endParaRPr lang="en-US" sz="900" dirty="0"/>
          </a:p>
        </p:txBody>
      </p:sp>
      <p:sp>
        <p:nvSpPr>
          <p:cNvPr id="6" name="card"/>
          <p:cNvSpPr/>
          <p:nvPr/>
        </p:nvSpPr>
        <p:spPr>
          <a:xfrm>
            <a:off x="457200" y="1051560"/>
            <a:ext cx="8229600" cy="868680"/>
          </a:xfrm>
          <a:prstGeom prst="roundRect">
            <a:avLst>
              <a:gd name="adj" fmla="val 10526"/>
            </a:avLst>
          </a:prstGeom>
          <a:solidFill>
            <a:srgbClr val="EAF2FB"/>
          </a:solidFill>
          <a:ln w="12700">
            <a:solidFill>
              <a:srgbClr val="EAF2FB"/>
            </a:solidFill>
            <a:prstDash val="solid"/>
          </a:ln>
        </p:spPr>
      </p:sp>
      <p:sp>
        <p:nvSpPr>
          <p:cNvPr id="7" name="Text 4"/>
          <p:cNvSpPr txBox="1"/>
          <p:nvPr/>
        </p:nvSpPr>
        <p:spPr>
          <a:xfrm>
            <a:off x="685800" y="1051560"/>
            <a:ext cx="7863840" cy="868680"/>
          </a:xfrm>
          <a:prstGeom prst="rect">
            <a:avLst/>
          </a:prstGeom>
          <a:noFill/>
          <a:ln/>
        </p:spPr>
        <p:txBody>
          <a:bodyPr wrap="square" lIns="0" tIns="0" rIns="0" bIns="0" rtlCol="0" anchor="ctr"/>
          <a:lstStyle/>
          <a:p>
            <a:pPr indent="0" marL="0">
              <a:buNone/>
            </a:pPr>
            <a:r>
              <a:rPr lang="en-US" sz="2000" b="1" dirty="0">
                <a:solidFill>
                  <a:srgbClr val="2B7BD8"/>
                </a:solidFill>
                <a:latin typeface="Calibri" pitchFamily="34" charset="0"/>
                <a:ea typeface="Calibri" pitchFamily="34" charset="-122"/>
                <a:cs typeface="Calibri" pitchFamily="34" charset="-120"/>
              </a:rPr>
              <a:t>H2: </a:t>
            </a:r>
            <a:pPr indent="0" marL="0">
              <a:buNone/>
            </a:pPr>
            <a:r>
              <a:rPr lang="en-US" sz="2000" b="1" dirty="0">
                <a:solidFill>
                  <a:srgbClr val="164A82"/>
                </a:solidFill>
                <a:latin typeface="Calibri" pitchFamily="34" charset="0"/>
                <a:ea typeface="Calibri" pitchFamily="34" charset="-122"/>
                <a:cs typeface="Calibri" pitchFamily="34" charset="-120"/>
              </a:rPr>
              <a:t>Does the same car configuration always need the same test time?</a:t>
            </a:r>
            <a:endParaRPr lang="en-US" sz="2000" dirty="0"/>
          </a:p>
        </p:txBody>
      </p:sp>
      <p:sp>
        <p:nvSpPr>
          <p:cNvPr id="8" name="card"/>
          <p:cNvSpPr/>
          <p:nvPr/>
        </p:nvSpPr>
        <p:spPr>
          <a:xfrm>
            <a:off x="457200" y="2103120"/>
            <a:ext cx="2606040" cy="1874520"/>
          </a:xfrm>
          <a:prstGeom prst="roundRect">
            <a:avLst>
              <a:gd name="adj" fmla="val 4878"/>
            </a:avLst>
          </a:prstGeom>
          <a:solidFill>
            <a:srgbClr val="F3F6F9"/>
          </a:solidFill>
          <a:ln w="12700">
            <a:solidFill>
              <a:srgbClr val="F3F6F9"/>
            </a:solidFill>
            <a:prstDash val="solid"/>
          </a:ln>
        </p:spPr>
      </p:sp>
      <p:sp>
        <p:nvSpPr>
          <p:cNvPr id="9" name="Text 6"/>
          <p:cNvSpPr txBox="1"/>
          <p:nvPr/>
        </p:nvSpPr>
        <p:spPr>
          <a:xfrm>
            <a:off x="640080" y="2194560"/>
            <a:ext cx="2240280" cy="365760"/>
          </a:xfrm>
          <a:prstGeom prst="rect">
            <a:avLst/>
          </a:prstGeom>
          <a:noFill/>
          <a:ln/>
        </p:spPr>
        <p:txBody>
          <a:bodyPr wrap="square" lIns="0" tIns="0" rIns="0" bIns="0" rtlCol="0" anchor="t"/>
          <a:lstStyle/>
          <a:p>
            <a:pPr indent="0" marL="0">
              <a:buNone/>
            </a:pPr>
            <a:r>
              <a:rPr lang="en-US" sz="1500" b="1" dirty="0">
                <a:solidFill>
                  <a:srgbClr val="164A82"/>
                </a:solidFill>
                <a:latin typeface="Calibri" pitchFamily="34" charset="0"/>
                <a:ea typeface="Calibri" pitchFamily="34" charset="-122"/>
                <a:cs typeface="Calibri" pitchFamily="34" charset="-120"/>
              </a:rPr>
              <a:t>Why it matters</a:t>
            </a:r>
            <a:endParaRPr lang="en-US" sz="1500" dirty="0"/>
          </a:p>
        </p:txBody>
      </p:sp>
      <p:sp>
        <p:nvSpPr>
          <p:cNvPr id="10" name="Text 7"/>
          <p:cNvSpPr txBox="1"/>
          <p:nvPr/>
        </p:nvSpPr>
        <p:spPr>
          <a:xfrm>
            <a:off x="640080" y="2606040"/>
            <a:ext cx="2240280" cy="13258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If identical cars get different test times, that part cannot be predicted from the configuration – it sets a limit for every model.</a:t>
            </a:r>
            <a:endParaRPr lang="en-US" sz="1300" dirty="0"/>
          </a:p>
        </p:txBody>
      </p:sp>
      <p:sp>
        <p:nvSpPr>
          <p:cNvPr id="11" name="card"/>
          <p:cNvSpPr/>
          <p:nvPr/>
        </p:nvSpPr>
        <p:spPr>
          <a:xfrm>
            <a:off x="3246120" y="2103120"/>
            <a:ext cx="2606040" cy="1874520"/>
          </a:xfrm>
          <a:prstGeom prst="roundRect">
            <a:avLst>
              <a:gd name="adj" fmla="val 4878"/>
            </a:avLst>
          </a:prstGeom>
          <a:solidFill>
            <a:srgbClr val="F3F6F9"/>
          </a:solidFill>
          <a:ln w="12700">
            <a:solidFill>
              <a:srgbClr val="F3F6F9"/>
            </a:solidFill>
            <a:prstDash val="solid"/>
          </a:ln>
        </p:spPr>
      </p:sp>
      <p:sp>
        <p:nvSpPr>
          <p:cNvPr id="12" name="Text 9"/>
          <p:cNvSpPr txBox="1"/>
          <p:nvPr/>
        </p:nvSpPr>
        <p:spPr>
          <a:xfrm>
            <a:off x="3429000" y="2194560"/>
            <a:ext cx="2240280" cy="365760"/>
          </a:xfrm>
          <a:prstGeom prst="rect">
            <a:avLst/>
          </a:prstGeom>
          <a:noFill/>
          <a:ln/>
        </p:spPr>
        <p:txBody>
          <a:bodyPr wrap="square" lIns="0" tIns="0" rIns="0" bIns="0" rtlCol="0" anchor="t"/>
          <a:lstStyle/>
          <a:p>
            <a:pPr indent="0" marL="0">
              <a:buNone/>
            </a:pPr>
            <a:r>
              <a:rPr lang="en-US" sz="1500" b="1" dirty="0">
                <a:solidFill>
                  <a:srgbClr val="164A82"/>
                </a:solidFill>
                <a:latin typeface="Calibri" pitchFamily="34" charset="0"/>
                <a:ea typeface="Calibri" pitchFamily="34" charset="-122"/>
                <a:cs typeface="Calibri" pitchFamily="34" charset="-120"/>
              </a:rPr>
              <a:t>How we test it</a:t>
            </a:r>
            <a:endParaRPr lang="en-US" sz="1500" dirty="0"/>
          </a:p>
        </p:txBody>
      </p:sp>
      <p:sp>
        <p:nvSpPr>
          <p:cNvPr id="13" name="Text 10"/>
          <p:cNvSpPr txBox="1"/>
          <p:nvPr/>
        </p:nvSpPr>
        <p:spPr>
          <a:xfrm>
            <a:off x="3429000" y="2606040"/>
            <a:ext cx="2240280" cy="13258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Find cars with identical configurations (all 376 columns the same) and compare their test times. Then predict with three different algorithms: Ridge, Random Forest and XGBoost.</a:t>
            </a:r>
            <a:endParaRPr lang="en-US" sz="1300" dirty="0"/>
          </a:p>
        </p:txBody>
      </p:sp>
      <p:sp>
        <p:nvSpPr>
          <p:cNvPr id="14" name="card"/>
          <p:cNvSpPr/>
          <p:nvPr/>
        </p:nvSpPr>
        <p:spPr>
          <a:xfrm>
            <a:off x="6035040" y="2103120"/>
            <a:ext cx="2606040" cy="1874520"/>
          </a:xfrm>
          <a:prstGeom prst="roundRect">
            <a:avLst>
              <a:gd name="adj" fmla="val 4878"/>
            </a:avLst>
          </a:prstGeom>
          <a:solidFill>
            <a:srgbClr val="F3F6F9"/>
          </a:solidFill>
          <a:ln w="12700">
            <a:solidFill>
              <a:srgbClr val="F3F6F9"/>
            </a:solidFill>
            <a:prstDash val="solid"/>
          </a:ln>
        </p:spPr>
      </p:sp>
      <p:sp>
        <p:nvSpPr>
          <p:cNvPr id="15" name="Text 12"/>
          <p:cNvSpPr txBox="1"/>
          <p:nvPr/>
        </p:nvSpPr>
        <p:spPr>
          <a:xfrm>
            <a:off x="6217920" y="2194560"/>
            <a:ext cx="2240280" cy="365760"/>
          </a:xfrm>
          <a:prstGeom prst="rect">
            <a:avLst/>
          </a:prstGeom>
          <a:noFill/>
          <a:ln/>
        </p:spPr>
        <p:txBody>
          <a:bodyPr wrap="square" lIns="0" tIns="0" rIns="0" bIns="0" rtlCol="0" anchor="t"/>
          <a:lstStyle/>
          <a:p>
            <a:pPr indent="0" marL="0">
              <a:buNone/>
            </a:pPr>
            <a:r>
              <a:rPr lang="en-US" sz="1500" b="1" dirty="0">
                <a:solidFill>
                  <a:srgbClr val="164A82"/>
                </a:solidFill>
                <a:latin typeface="Calibri" pitchFamily="34" charset="0"/>
                <a:ea typeface="Calibri" pitchFamily="34" charset="-122"/>
                <a:cs typeface="Calibri" pitchFamily="34" charset="-120"/>
              </a:rPr>
              <a:t>Where we answer it</a:t>
            </a:r>
            <a:endParaRPr lang="en-US" sz="1500" dirty="0"/>
          </a:p>
        </p:txBody>
      </p:sp>
      <p:sp>
        <p:nvSpPr>
          <p:cNvPr id="16" name="Text 13"/>
          <p:cNvSpPr txBox="1"/>
          <p:nvPr/>
        </p:nvSpPr>
        <p:spPr>
          <a:xfrm>
            <a:off x="6217920" y="2606040"/>
            <a:ext cx="2240280" cy="13258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Identical cars: slide 5. Three algorithms compared: slide 11.</a:t>
            </a:r>
            <a:endParaRPr lang="en-US" sz="1300" dirty="0"/>
          </a:p>
        </p:txBody>
      </p:sp>
      <p:sp>
        <p:nvSpPr>
          <p:cNvPr id="17" name="meaning"/>
          <p:cNvSpPr/>
          <p:nvPr/>
        </p:nvSpPr>
        <p:spPr>
          <a:xfrm>
            <a:off x="457200" y="4023360"/>
            <a:ext cx="8229600" cy="411480"/>
          </a:xfrm>
          <a:prstGeom prst="roundRect">
            <a:avLst>
              <a:gd name="adj" fmla="val 17778"/>
            </a:avLst>
          </a:prstGeom>
          <a:solidFill>
            <a:srgbClr val="E6F3EC"/>
          </a:solidFill>
          <a:ln w="12700">
            <a:solidFill>
              <a:srgbClr val="E6F3EC"/>
            </a:solidFill>
            <a:prstDash val="solid"/>
          </a:ln>
        </p:spPr>
      </p:sp>
      <p:sp>
        <p:nvSpPr>
          <p:cNvPr id="18" name="Text 15"/>
          <p:cNvSpPr txBox="1"/>
          <p:nvPr/>
        </p:nvSpPr>
        <p:spPr>
          <a:xfrm>
            <a:off x="640080" y="4023360"/>
            <a:ext cx="7863840" cy="411480"/>
          </a:xfrm>
          <a:prstGeom prst="rect">
            <a:avLst/>
          </a:prstGeom>
          <a:noFill/>
          <a:ln/>
        </p:spPr>
        <p:txBody>
          <a:bodyPr wrap="square" lIns="0" tIns="0" rIns="0" bIns="0" rtlCol="0" anchor="ctr"/>
          <a:lstStyle/>
          <a:p>
            <a:pPr indent="0" marL="0">
              <a:buNone/>
            </a:pPr>
            <a:r>
              <a:rPr lang="en-US" sz="1400" b="1" dirty="0">
                <a:solidFill>
                  <a:srgbClr val="2E8B57"/>
                </a:solidFill>
                <a:latin typeface="Calibri" pitchFamily="34" charset="0"/>
                <a:ea typeface="Calibri" pitchFamily="34" charset="-122"/>
                <a:cs typeface="Calibri" pitchFamily="34" charset="-120"/>
              </a:rPr>
              <a:t>Meaning: </a:t>
            </a:r>
            <a:pPr indent="0" marL="0">
              <a:buNone/>
            </a:pPr>
            <a:r>
              <a:rPr lang="en-US" sz="1400" dirty="0">
                <a:solidFill>
                  <a:srgbClr val="1F2933"/>
                </a:solidFill>
                <a:latin typeface="Calibri" pitchFamily="34" charset="0"/>
                <a:ea typeface="Calibri" pitchFamily="34" charset="-122"/>
                <a:cs typeface="Calibri" pitchFamily="34" charset="-120"/>
              </a:rPr>
              <a:t>one hypothesis, three different algorithms – as the coaches asked.</a:t>
            </a:r>
            <a:endParaRPr lang="en-US" sz="1400" dirty="0"/>
          </a:p>
        </p:txBody>
      </p:sp>
      <p:sp>
        <p:nvSpPr>
          <p:cNvPr id="19" name="Text 16"/>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explained on slides 17–18   </a:t>
            </a:r>
            <a:pPr indent="0" marL="0">
              <a:buNone/>
            </a:pPr>
            <a:r>
              <a:rPr lang="en-US" sz="900" i="1" dirty="0">
                <a:solidFill>
                  <a:srgbClr val="5B6670"/>
                </a:solidFill>
                <a:latin typeface="Calibri" pitchFamily="34" charset="0"/>
                <a:ea typeface="Calibri" pitchFamily="34" charset="-122"/>
                <a:cs typeface="Calibri" pitchFamily="34" charset="-120"/>
              </a:rPr>
              <a:t>Source: H2 chosen: D13; three algorithms: D15, D33; question: framing_h2_v3.md; slide added: change 11 (D59)</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M0 – the data</a:t>
            </a:r>
            <a:endParaRPr lang="en-US" sz="2600" dirty="0"/>
          </a:p>
        </p:txBody>
      </p:sp>
      <p:sp>
        <p:nvSpPr>
          <p:cNvPr id="3" name="tag"/>
          <p:cNvSpPr/>
          <p:nvPr/>
        </p:nvSpPr>
        <p:spPr>
          <a:xfrm>
            <a:off x="7818120" y="347472"/>
            <a:ext cx="868680" cy="274320"/>
          </a:xfrm>
          <a:prstGeom prst="roundRect">
            <a:avLst>
              <a:gd name="adj" fmla="val 26667"/>
            </a:avLst>
          </a:prstGeom>
          <a:solidFill>
            <a:srgbClr val="2E8B57"/>
          </a:solidFill>
          <a:ln w="12700">
            <a:solidFill>
              <a:srgbClr val="2E8B57"/>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Main · M0</a:t>
            </a:r>
            <a:endParaRPr lang="en-US" sz="900" dirty="0"/>
          </a:p>
        </p:txBody>
      </p:sp>
      <p:sp>
        <p:nvSpPr>
          <p:cNvPr id="6" name="card"/>
          <p:cNvSpPr/>
          <p:nvPr/>
        </p:nvSpPr>
        <p:spPr>
          <a:xfrm>
            <a:off x="457200" y="1143000"/>
            <a:ext cx="2606040" cy="2331720"/>
          </a:xfrm>
          <a:prstGeom prst="roundRect">
            <a:avLst>
              <a:gd name="adj" fmla="val 3922"/>
            </a:avLst>
          </a:prstGeom>
          <a:solidFill>
            <a:srgbClr val="F3F6F9"/>
          </a:solidFill>
          <a:ln w="12700">
            <a:solidFill>
              <a:srgbClr val="F3F6F9"/>
            </a:solidFill>
            <a:prstDash val="solid"/>
          </a:ln>
        </p:spPr>
      </p:sp>
      <p:pic>
        <p:nvPicPr>
          <p:cNvPr id="7" name="Image 0" descr="preencoded.png">    </p:cNvPr>
          <p:cNvPicPr>
            <a:picLocks noChangeAspect="1"/>
          </p:cNvPicPr>
          <p:nvPr/>
        </p:nvPicPr>
        <p:blipFill>
          <a:blip r:embed="rId1"/>
          <a:stretch>
            <a:fillRect/>
          </a:stretch>
        </p:blipFill>
        <p:spPr>
          <a:xfrm>
            <a:off x="731520" y="1371600"/>
            <a:ext cx="457200" cy="457200"/>
          </a:xfrm>
          <a:prstGeom prst="rect">
            <a:avLst/>
          </a:prstGeom>
        </p:spPr>
      </p:pic>
      <p:sp>
        <p:nvSpPr>
          <p:cNvPr id="8" name="Text 4"/>
          <p:cNvSpPr txBox="1"/>
          <p:nvPr/>
        </p:nvSpPr>
        <p:spPr>
          <a:xfrm>
            <a:off x="731520" y="1828800"/>
            <a:ext cx="2194560" cy="685800"/>
          </a:xfrm>
          <a:prstGeom prst="rect">
            <a:avLst/>
          </a:prstGeom>
          <a:noFill/>
          <a:ln/>
        </p:spPr>
        <p:txBody>
          <a:bodyPr wrap="square" lIns="0" tIns="0" rIns="0" bIns="0" rtlCol="0" anchor="b"/>
          <a:lstStyle/>
          <a:p>
            <a:pPr indent="0" marL="0">
              <a:buNone/>
            </a:pPr>
            <a:r>
              <a:rPr lang="en-US" sz="4000" b="1" dirty="0">
                <a:solidFill>
                  <a:srgbClr val="2B7BD8"/>
                </a:solidFill>
                <a:latin typeface="Cambria" pitchFamily="34" charset="0"/>
                <a:ea typeface="Cambria" pitchFamily="34" charset="-122"/>
                <a:cs typeface="Cambria" pitchFamily="34" charset="-120"/>
              </a:rPr>
              <a:t>4,209</a:t>
            </a:r>
            <a:endParaRPr lang="en-US" sz="4000" dirty="0"/>
          </a:p>
        </p:txBody>
      </p:sp>
      <p:sp>
        <p:nvSpPr>
          <p:cNvPr id="9" name="Text 5"/>
          <p:cNvSpPr txBox="1"/>
          <p:nvPr/>
        </p:nvSpPr>
        <p:spPr>
          <a:xfrm>
            <a:off x="731520" y="2560320"/>
            <a:ext cx="2194560" cy="868680"/>
          </a:xfrm>
          <a:prstGeom prst="rect">
            <a:avLst/>
          </a:prstGeom>
          <a:noFill/>
          <a:ln/>
        </p:spPr>
        <p:txBody>
          <a:bodyPr wrap="square" lIns="0" tIns="0" rIns="0" bIns="0" rtlCol="0" anchor="t"/>
          <a:lstStyle/>
          <a:p>
            <a:pPr indent="0" marL="0">
              <a:buNone/>
            </a:pPr>
            <a:r>
              <a:rPr lang="en-US" sz="1200" dirty="0">
                <a:solidFill>
                  <a:srgbClr val="5B6670"/>
                </a:solidFill>
                <a:latin typeface="Calibri" pitchFamily="34" charset="0"/>
                <a:ea typeface="Calibri" pitchFamily="34" charset="-122"/>
                <a:cs typeface="Calibri" pitchFamily="34" charset="-120"/>
              </a:rPr>
              <a:t>tested cars</a:t>
            </a:r>
            <a:endParaRPr lang="en-US" sz="1200" dirty="0"/>
          </a:p>
        </p:txBody>
      </p:sp>
      <p:sp>
        <p:nvSpPr>
          <p:cNvPr id="10" name="card"/>
          <p:cNvSpPr/>
          <p:nvPr/>
        </p:nvSpPr>
        <p:spPr>
          <a:xfrm>
            <a:off x="3246120" y="1143000"/>
            <a:ext cx="2606040" cy="2331720"/>
          </a:xfrm>
          <a:prstGeom prst="roundRect">
            <a:avLst>
              <a:gd name="adj" fmla="val 3922"/>
            </a:avLst>
          </a:prstGeom>
          <a:solidFill>
            <a:srgbClr val="F3F6F9"/>
          </a:solidFill>
          <a:ln w="12700">
            <a:solidFill>
              <a:srgbClr val="F3F6F9"/>
            </a:solidFill>
            <a:prstDash val="solid"/>
          </a:ln>
        </p:spPr>
      </p:sp>
      <p:pic>
        <p:nvPicPr>
          <p:cNvPr id="11" name="Image 1" descr="preencoded.png">    </p:cNvPr>
          <p:cNvPicPr>
            <a:picLocks noChangeAspect="1"/>
          </p:cNvPicPr>
          <p:nvPr/>
        </p:nvPicPr>
        <p:blipFill>
          <a:blip r:embed="rId2"/>
          <a:stretch>
            <a:fillRect/>
          </a:stretch>
        </p:blipFill>
        <p:spPr>
          <a:xfrm>
            <a:off x="3520440" y="1371600"/>
            <a:ext cx="457200" cy="457200"/>
          </a:xfrm>
          <a:prstGeom prst="rect">
            <a:avLst/>
          </a:prstGeom>
        </p:spPr>
      </p:pic>
      <p:sp>
        <p:nvSpPr>
          <p:cNvPr id="12" name="Text 7"/>
          <p:cNvSpPr txBox="1"/>
          <p:nvPr/>
        </p:nvSpPr>
        <p:spPr>
          <a:xfrm>
            <a:off x="3520440" y="1828800"/>
            <a:ext cx="2194560" cy="685800"/>
          </a:xfrm>
          <a:prstGeom prst="rect">
            <a:avLst/>
          </a:prstGeom>
          <a:noFill/>
          <a:ln/>
        </p:spPr>
        <p:txBody>
          <a:bodyPr wrap="square" lIns="0" tIns="0" rIns="0" bIns="0" rtlCol="0" anchor="b"/>
          <a:lstStyle/>
          <a:p>
            <a:pPr indent="0" marL="0">
              <a:buNone/>
            </a:pPr>
            <a:r>
              <a:rPr lang="en-US" sz="4000" b="1" dirty="0">
                <a:solidFill>
                  <a:srgbClr val="2B7BD8"/>
                </a:solidFill>
                <a:latin typeface="Cambria" pitchFamily="34" charset="0"/>
                <a:ea typeface="Cambria" pitchFamily="34" charset="-122"/>
                <a:cs typeface="Cambria" pitchFamily="34" charset="-120"/>
              </a:rPr>
              <a:t>376</a:t>
            </a:r>
            <a:endParaRPr lang="en-US" sz="4000" dirty="0"/>
          </a:p>
        </p:txBody>
      </p:sp>
      <p:sp>
        <p:nvSpPr>
          <p:cNvPr id="13" name="Text 8"/>
          <p:cNvSpPr txBox="1"/>
          <p:nvPr/>
        </p:nvSpPr>
        <p:spPr>
          <a:xfrm>
            <a:off x="3520440" y="2560320"/>
            <a:ext cx="2194560" cy="868680"/>
          </a:xfrm>
          <a:prstGeom prst="rect">
            <a:avLst/>
          </a:prstGeom>
          <a:noFill/>
          <a:ln/>
        </p:spPr>
        <p:txBody>
          <a:bodyPr wrap="square" lIns="0" tIns="0" rIns="0" bIns="0" rtlCol="0" anchor="t"/>
          <a:lstStyle/>
          <a:p>
            <a:pPr indent="0" marL="0">
              <a:buNone/>
            </a:pPr>
            <a:r>
              <a:rPr lang="en-US" sz="1200" dirty="0">
                <a:solidFill>
                  <a:srgbClr val="5B6670"/>
                </a:solidFill>
                <a:latin typeface="Calibri" pitchFamily="34" charset="0"/>
                <a:ea typeface="Calibri" pitchFamily="34" charset="-122"/>
                <a:cs typeface="Calibri" pitchFamily="34" charset="-120"/>
              </a:rPr>
              <a:t>columns per car (8 text + 368 yes/no (0/1)); Mercedes-Benz hid the real names and replaced them with X0, X1, X2 …</a:t>
            </a:r>
            <a:endParaRPr lang="en-US" sz="1200" dirty="0"/>
          </a:p>
        </p:txBody>
      </p:sp>
      <p:sp>
        <p:nvSpPr>
          <p:cNvPr id="14" name="card"/>
          <p:cNvSpPr/>
          <p:nvPr/>
        </p:nvSpPr>
        <p:spPr>
          <a:xfrm>
            <a:off x="6035040" y="1143000"/>
            <a:ext cx="2606040" cy="2331720"/>
          </a:xfrm>
          <a:prstGeom prst="roundRect">
            <a:avLst>
              <a:gd name="adj" fmla="val 3922"/>
            </a:avLst>
          </a:prstGeom>
          <a:solidFill>
            <a:srgbClr val="F3F6F9"/>
          </a:solidFill>
          <a:ln w="12700">
            <a:solidFill>
              <a:srgbClr val="F3F6F9"/>
            </a:solidFill>
            <a:prstDash val="solid"/>
          </a:ln>
        </p:spPr>
      </p:sp>
      <p:pic>
        <p:nvPicPr>
          <p:cNvPr id="15" name="Image 2" descr="preencoded.png">    </p:cNvPr>
          <p:cNvPicPr>
            <a:picLocks noChangeAspect="1"/>
          </p:cNvPicPr>
          <p:nvPr/>
        </p:nvPicPr>
        <p:blipFill>
          <a:blip r:embed="rId3"/>
          <a:stretch>
            <a:fillRect/>
          </a:stretch>
        </p:blipFill>
        <p:spPr>
          <a:xfrm>
            <a:off x="6309360" y="1371600"/>
            <a:ext cx="457200" cy="457200"/>
          </a:xfrm>
          <a:prstGeom prst="rect">
            <a:avLst/>
          </a:prstGeom>
        </p:spPr>
      </p:pic>
      <p:sp>
        <p:nvSpPr>
          <p:cNvPr id="16" name="Text 10"/>
          <p:cNvSpPr txBox="1"/>
          <p:nvPr/>
        </p:nvSpPr>
        <p:spPr>
          <a:xfrm>
            <a:off x="6309360" y="1828800"/>
            <a:ext cx="2194560" cy="685800"/>
          </a:xfrm>
          <a:prstGeom prst="rect">
            <a:avLst/>
          </a:prstGeom>
          <a:noFill/>
          <a:ln/>
        </p:spPr>
        <p:txBody>
          <a:bodyPr wrap="square" lIns="0" tIns="0" rIns="0" bIns="0" rtlCol="0" anchor="b"/>
          <a:lstStyle/>
          <a:p>
            <a:pPr indent="0" marL="0">
              <a:buNone/>
            </a:pPr>
            <a:r>
              <a:rPr lang="en-US" sz="4000" b="1" dirty="0">
                <a:solidFill>
                  <a:srgbClr val="164A82"/>
                </a:solidFill>
                <a:latin typeface="Cambria" pitchFamily="34" charset="0"/>
                <a:ea typeface="Cambria" pitchFamily="34" charset="-122"/>
                <a:cs typeface="Cambria" pitchFamily="34" charset="-120"/>
              </a:rPr>
              <a:t>72–265 s</a:t>
            </a:r>
            <a:endParaRPr lang="en-US" sz="4000" dirty="0"/>
          </a:p>
        </p:txBody>
      </p:sp>
      <p:sp>
        <p:nvSpPr>
          <p:cNvPr id="17" name="Text 11"/>
          <p:cNvSpPr txBox="1"/>
          <p:nvPr/>
        </p:nvSpPr>
        <p:spPr>
          <a:xfrm>
            <a:off x="6309360" y="2560320"/>
            <a:ext cx="2194560" cy="868680"/>
          </a:xfrm>
          <a:prstGeom prst="rect">
            <a:avLst/>
          </a:prstGeom>
          <a:noFill/>
          <a:ln/>
        </p:spPr>
        <p:txBody>
          <a:bodyPr wrap="square" lIns="0" tIns="0" rIns="0" bIns="0" rtlCol="0" anchor="t"/>
          <a:lstStyle/>
          <a:p>
            <a:pPr indent="0" marL="0">
              <a:buNone/>
            </a:pPr>
            <a:r>
              <a:rPr lang="en-US" sz="1200" dirty="0">
                <a:solidFill>
                  <a:srgbClr val="5B6670"/>
                </a:solidFill>
                <a:latin typeface="Calibri" pitchFamily="34" charset="0"/>
                <a:ea typeface="Calibri" pitchFamily="34" charset="-122"/>
                <a:cs typeface="Calibri" pitchFamily="34" charset="-120"/>
              </a:rPr>
              <a:t>test time per car (what we predict): shortest 72.11 s, longest 265.32 s</a:t>
            </a:r>
            <a:endParaRPr lang="en-US" sz="1200" dirty="0"/>
          </a:p>
        </p:txBody>
      </p:sp>
      <p:sp>
        <p:nvSpPr>
          <p:cNvPr id="18" name="meaning"/>
          <p:cNvSpPr/>
          <p:nvPr/>
        </p:nvSpPr>
        <p:spPr>
          <a:xfrm>
            <a:off x="457200" y="3657600"/>
            <a:ext cx="8229600" cy="548640"/>
          </a:xfrm>
          <a:prstGeom prst="roundRect">
            <a:avLst>
              <a:gd name="adj" fmla="val 13333"/>
            </a:avLst>
          </a:prstGeom>
          <a:solidFill>
            <a:srgbClr val="E6F3EC"/>
          </a:solidFill>
          <a:ln w="12700">
            <a:solidFill>
              <a:srgbClr val="E6F3EC"/>
            </a:solidFill>
            <a:prstDash val="solid"/>
          </a:ln>
        </p:spPr>
      </p:sp>
      <p:sp>
        <p:nvSpPr>
          <p:cNvPr id="19" name="Text 13"/>
          <p:cNvSpPr txBox="1"/>
          <p:nvPr/>
        </p:nvSpPr>
        <p:spPr>
          <a:xfrm>
            <a:off x="640080" y="3657600"/>
            <a:ext cx="7863840" cy="548640"/>
          </a:xfrm>
          <a:prstGeom prst="rect">
            <a:avLst/>
          </a:prstGeom>
          <a:noFill/>
          <a:ln/>
        </p:spPr>
        <p:txBody>
          <a:bodyPr wrap="square" lIns="0" tIns="0" rIns="0" bIns="0" rtlCol="0" anchor="ctr"/>
          <a:lstStyle/>
          <a:p>
            <a:pPr indent="0" marL="0">
              <a:buNone/>
            </a:pPr>
            <a:r>
              <a:rPr lang="en-US" sz="1400" b="1" dirty="0">
                <a:solidFill>
                  <a:srgbClr val="2E8B57"/>
                </a:solidFill>
                <a:latin typeface="Calibri" pitchFamily="34" charset="0"/>
                <a:ea typeface="Calibri" pitchFamily="34" charset="-122"/>
                <a:cs typeface="Calibri" pitchFamily="34" charset="-120"/>
              </a:rPr>
              <a:t>Meaning: </a:t>
            </a:r>
            <a:pPr indent="0" marL="0">
              <a:buNone/>
            </a:pPr>
            <a:r>
              <a:rPr lang="en-US" sz="1400" dirty="0">
                <a:solidFill>
                  <a:srgbClr val="1F2933"/>
                </a:solidFill>
                <a:latin typeface="Calibri" pitchFamily="34" charset="0"/>
                <a:ea typeface="Calibri" pitchFamily="34" charset="-122"/>
                <a:cs typeface="Calibri" pitchFamily="34" charset="-120"/>
              </a:rPr>
              <a:t>we have the official Kaggle data – each car's configuration and its measured test time (→ slide 19).</a:t>
            </a:r>
            <a:endParaRPr lang="en-US" sz="1400" dirty="0"/>
          </a:p>
        </p:txBody>
      </p:sp>
      <p:sp>
        <p:nvSpPr>
          <p:cNvPr id="20" name="Text 14"/>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explained on slide 19   </a:t>
            </a:r>
            <a:pPr indent="0" marL="0">
              <a:buNone/>
            </a:pPr>
            <a:r>
              <a:rPr lang="en-US" sz="900" i="1" dirty="0">
                <a:solidFill>
                  <a:srgbClr val="5B6670"/>
                </a:solidFill>
                <a:latin typeface="Calibri" pitchFamily="34" charset="0"/>
                <a:ea typeface="Calibri" pitchFamily="34" charset="-122"/>
                <a:cs typeface="Calibri" pitchFamily="34" charset="-120"/>
              </a:rPr>
              <a:t>Source: content list #5 (D37); 4,209 cars: Step 10; 376 columns: Step 1 (D17); 72.11 s / 265.32 s: D50, Step 9 (D23); data: D4; merged with #4: change 14 (D59)</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M1 – what the data tells us</a:t>
            </a:r>
            <a:endParaRPr lang="en-US" sz="2600" dirty="0"/>
          </a:p>
        </p:txBody>
      </p:sp>
      <p:sp>
        <p:nvSpPr>
          <p:cNvPr id="3" name="tag"/>
          <p:cNvSpPr/>
          <p:nvPr/>
        </p:nvSpPr>
        <p:spPr>
          <a:xfrm>
            <a:off x="7818120" y="347472"/>
            <a:ext cx="868680" cy="274320"/>
          </a:xfrm>
          <a:prstGeom prst="roundRect">
            <a:avLst>
              <a:gd name="adj" fmla="val 26667"/>
            </a:avLst>
          </a:prstGeom>
          <a:solidFill>
            <a:srgbClr val="2E8B57"/>
          </a:solidFill>
          <a:ln w="12700">
            <a:solidFill>
              <a:srgbClr val="2E8B57"/>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Main · M1</a:t>
            </a:r>
            <a:endParaRPr lang="en-US" sz="900" dirty="0"/>
          </a:p>
        </p:txBody>
      </p:sp>
      <p:sp>
        <p:nvSpPr>
          <p:cNvPr id="6" name="num1"/>
          <p:cNvSpPr/>
          <p:nvPr/>
        </p:nvSpPr>
        <p:spPr>
          <a:xfrm>
            <a:off x="457200" y="1115568"/>
            <a:ext cx="329184" cy="329184"/>
          </a:xfrm>
          <a:prstGeom prst="ellipse">
            <a:avLst/>
          </a:prstGeom>
          <a:solidFill>
            <a:srgbClr val="2B7BD8"/>
          </a:solidFill>
          <a:ln w="12700">
            <a:solidFill>
              <a:srgbClr val="2B7BD8"/>
            </a:solidFill>
            <a:prstDash val="solid"/>
          </a:ln>
        </p:spPr>
      </p:sp>
      <p:sp>
        <p:nvSpPr>
          <p:cNvPr id="7" name="Text 4"/>
          <p:cNvSpPr txBox="1"/>
          <p:nvPr/>
        </p:nvSpPr>
        <p:spPr>
          <a:xfrm>
            <a:off x="457200" y="11155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txBox="1"/>
          <p:nvPr/>
        </p:nvSpPr>
        <p:spPr>
          <a:xfrm>
            <a:off x="914400" y="1097280"/>
            <a:ext cx="7772400" cy="521208"/>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Even identical cars get different test times → at most about 60 % of the differences in test time can be explained by the configuration (→ slide 22)</a:t>
            </a:r>
            <a:endParaRPr lang="en-US" sz="1500" dirty="0"/>
          </a:p>
        </p:txBody>
      </p:sp>
      <p:sp>
        <p:nvSpPr>
          <p:cNvPr id="9" name="num2"/>
          <p:cNvSpPr/>
          <p:nvPr/>
        </p:nvSpPr>
        <p:spPr>
          <a:xfrm>
            <a:off x="457200" y="1682496"/>
            <a:ext cx="329184" cy="329184"/>
          </a:xfrm>
          <a:prstGeom prst="ellipse">
            <a:avLst/>
          </a:prstGeom>
          <a:solidFill>
            <a:srgbClr val="2B7BD8"/>
          </a:solidFill>
          <a:ln w="12700">
            <a:solidFill>
              <a:srgbClr val="2B7BD8"/>
            </a:solidFill>
            <a:prstDash val="solid"/>
          </a:ln>
        </p:spPr>
      </p:sp>
      <p:sp>
        <p:nvSpPr>
          <p:cNvPr id="10" name="Text 7"/>
          <p:cNvSpPr txBox="1"/>
          <p:nvPr/>
        </p:nvSpPr>
        <p:spPr>
          <a:xfrm>
            <a:off x="457200" y="1682496"/>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914400" y="1664208"/>
            <a:ext cx="7772400" cy="521208"/>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Most test times cluster around 75, 90, 100 or 108 seconds (→ slide 6)</a:t>
            </a:r>
            <a:endParaRPr lang="en-US" sz="1500" dirty="0"/>
          </a:p>
        </p:txBody>
      </p:sp>
      <p:sp>
        <p:nvSpPr>
          <p:cNvPr id="12" name="num3"/>
          <p:cNvSpPr/>
          <p:nvPr/>
        </p:nvSpPr>
        <p:spPr>
          <a:xfrm>
            <a:off x="457200" y="2249424"/>
            <a:ext cx="329184" cy="329184"/>
          </a:xfrm>
          <a:prstGeom prst="ellipse">
            <a:avLst/>
          </a:prstGeom>
          <a:solidFill>
            <a:srgbClr val="2B7BD8"/>
          </a:solidFill>
          <a:ln w="12700">
            <a:solidFill>
              <a:srgbClr val="2B7BD8"/>
            </a:solidFill>
            <a:prstDash val="solid"/>
          </a:ln>
        </p:spPr>
      </p:sp>
      <p:sp>
        <p:nvSpPr>
          <p:cNvPr id="13" name="Text 10"/>
          <p:cNvSpPr txBox="1"/>
          <p:nvPr/>
        </p:nvSpPr>
        <p:spPr>
          <a:xfrm>
            <a:off x="457200" y="2249424"/>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txBox="1"/>
          <p:nvPr/>
        </p:nvSpPr>
        <p:spPr>
          <a:xfrm>
            <a:off x="914400" y="2231136"/>
            <a:ext cx="7772400" cy="521208"/>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One test of 265 seconds (next longest: 170 seconds) was removed as a likely faulty test (→ slide 6)</a:t>
            </a:r>
            <a:endParaRPr lang="en-US" sz="1500" dirty="0"/>
          </a:p>
        </p:txBody>
      </p:sp>
      <p:sp>
        <p:nvSpPr>
          <p:cNvPr id="15" name="num4"/>
          <p:cNvSpPr/>
          <p:nvPr/>
        </p:nvSpPr>
        <p:spPr>
          <a:xfrm>
            <a:off x="457200" y="2816352"/>
            <a:ext cx="329184" cy="329184"/>
          </a:xfrm>
          <a:prstGeom prst="ellipse">
            <a:avLst/>
          </a:prstGeom>
          <a:solidFill>
            <a:srgbClr val="2B7BD8"/>
          </a:solidFill>
          <a:ln w="12700">
            <a:solidFill>
              <a:srgbClr val="2B7BD8"/>
            </a:solidFill>
            <a:prstDash val="solid"/>
          </a:ln>
        </p:spPr>
      </p:sp>
      <p:sp>
        <p:nvSpPr>
          <p:cNvPr id="16" name="Text 13"/>
          <p:cNvSpPr txBox="1"/>
          <p:nvPr/>
        </p:nvSpPr>
        <p:spPr>
          <a:xfrm>
            <a:off x="457200" y="281635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txBox="1"/>
          <p:nvPr/>
        </p:nvSpPr>
        <p:spPr>
          <a:xfrm>
            <a:off x="914400" y="2798064"/>
            <a:ext cx="7772400" cy="521208"/>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One column, X0, sorts the cars into these time groups – alone it explains 57.5 % of the differences (→ slide 7)</a:t>
            </a:r>
            <a:endParaRPr lang="en-US" sz="1500" dirty="0"/>
          </a:p>
        </p:txBody>
      </p:sp>
      <p:sp>
        <p:nvSpPr>
          <p:cNvPr id="18" name="num5"/>
          <p:cNvSpPr/>
          <p:nvPr/>
        </p:nvSpPr>
        <p:spPr>
          <a:xfrm>
            <a:off x="457200" y="3383280"/>
            <a:ext cx="329184" cy="329184"/>
          </a:xfrm>
          <a:prstGeom prst="ellipse">
            <a:avLst/>
          </a:prstGeom>
          <a:solidFill>
            <a:srgbClr val="2B7BD8"/>
          </a:solidFill>
          <a:ln w="12700">
            <a:solidFill>
              <a:srgbClr val="2B7BD8"/>
            </a:solidFill>
            <a:prstDash val="solid"/>
          </a:ln>
        </p:spPr>
      </p:sp>
      <p:sp>
        <p:nvSpPr>
          <p:cNvPr id="19" name="Text 16"/>
          <p:cNvSpPr txBox="1"/>
          <p:nvPr/>
        </p:nvSpPr>
        <p:spPr>
          <a:xfrm>
            <a:off x="457200" y="338328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7"/>
          <p:cNvSpPr txBox="1"/>
          <p:nvPr/>
        </p:nvSpPr>
        <p:spPr>
          <a:xfrm>
            <a:off x="914400" y="3364992"/>
            <a:ext cx="7772400" cy="521208"/>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Of 368 yes/no (0/1) columns, 65 never change, copy or mirror another column; the strong ones only repeat what X0 already says (→ slide 27)</a:t>
            </a:r>
            <a:endParaRPr lang="en-US" sz="1500" dirty="0"/>
          </a:p>
        </p:txBody>
      </p:sp>
      <p:sp>
        <p:nvSpPr>
          <p:cNvPr id="21" name="meaning"/>
          <p:cNvSpPr/>
          <p:nvPr/>
        </p:nvSpPr>
        <p:spPr>
          <a:xfrm>
            <a:off x="457200" y="3931920"/>
            <a:ext cx="8229600" cy="502920"/>
          </a:xfrm>
          <a:prstGeom prst="roundRect">
            <a:avLst>
              <a:gd name="adj" fmla="val 14545"/>
            </a:avLst>
          </a:prstGeom>
          <a:solidFill>
            <a:srgbClr val="E6F3EC"/>
          </a:solidFill>
          <a:ln w="12700">
            <a:solidFill>
              <a:srgbClr val="E6F3EC"/>
            </a:solidFill>
            <a:prstDash val="solid"/>
          </a:ln>
        </p:spPr>
      </p:sp>
      <p:sp>
        <p:nvSpPr>
          <p:cNvPr id="22" name="Text 19"/>
          <p:cNvSpPr txBox="1"/>
          <p:nvPr/>
        </p:nvSpPr>
        <p:spPr>
          <a:xfrm>
            <a:off x="640080" y="3931920"/>
            <a:ext cx="7863840" cy="502920"/>
          </a:xfrm>
          <a:prstGeom prst="rect">
            <a:avLst/>
          </a:prstGeom>
          <a:noFill/>
          <a:ln/>
        </p:spPr>
        <p:txBody>
          <a:bodyPr wrap="square" lIns="0" tIns="0" rIns="0" bIns="0" rtlCol="0" anchor="ctr"/>
          <a:lstStyle/>
          <a:p>
            <a:pPr indent="0" marL="0">
              <a:buNone/>
            </a:pPr>
            <a:r>
              <a:rPr lang="en-US" sz="1400" b="1" dirty="0">
                <a:solidFill>
                  <a:srgbClr val="2E8B57"/>
                </a:solidFill>
                <a:latin typeface="Calibri" pitchFamily="34" charset="0"/>
                <a:ea typeface="Calibri" pitchFamily="34" charset="-122"/>
                <a:cs typeface="Calibri" pitchFamily="34" charset="-120"/>
              </a:rPr>
              <a:t>Meaning: </a:t>
            </a:r>
            <a:pPr indent="0" marL="0">
              <a:buNone/>
            </a:pPr>
            <a:r>
              <a:rPr lang="en-US" sz="1400" dirty="0">
                <a:solidFill>
                  <a:srgbClr val="1F2933"/>
                </a:solidFill>
                <a:latin typeface="Calibri" pitchFamily="34" charset="0"/>
                <a:ea typeface="Calibri" pitchFamily="34" charset="-122"/>
                <a:cs typeface="Calibri" pitchFamily="34" charset="-120"/>
              </a:rPr>
              <a:t>at most about 60 % of the differences can be predicted, and the column X0 alone already explains 57.5 %.</a:t>
            </a:r>
            <a:endParaRPr lang="en-US" sz="1400" dirty="0"/>
          </a:p>
        </p:txBody>
      </p:sp>
      <p:sp>
        <p:nvSpPr>
          <p:cNvPr id="23" name="Text 20"/>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explained on slides 25–27   </a:t>
            </a:r>
            <a:pPr indent="0" marL="0">
              <a:buNone/>
            </a:pPr>
            <a:r>
              <a:rPr lang="en-US" sz="900" i="1" dirty="0">
                <a:solidFill>
                  <a:srgbClr val="5B6670"/>
                </a:solidFill>
                <a:latin typeface="Calibri" pitchFamily="34" charset="0"/>
                <a:ea typeface="Calibri" pitchFamily="34" charset="-122"/>
                <a:cs typeface="Calibri" pitchFamily="34" charset="-120"/>
              </a:rPr>
              <a:t>Source: content list #14 (D37; pointers: change 25, D64); 60 %: Steps 5–6 (R8); groups: Step 11 (R18); faulty test: Steps 8–9 (D23); X0: Steps 11–12 (D25); yes/no: Steps 13–16 (D27, D29)</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Key finding: same car ≠ same time</a:t>
            </a:r>
            <a:endParaRPr lang="en-US" sz="2600" dirty="0"/>
          </a:p>
        </p:txBody>
      </p:sp>
      <p:sp>
        <p:nvSpPr>
          <p:cNvPr id="3" name="tag"/>
          <p:cNvSpPr/>
          <p:nvPr/>
        </p:nvSpPr>
        <p:spPr>
          <a:xfrm>
            <a:off x="7818120" y="347472"/>
            <a:ext cx="868680" cy="274320"/>
          </a:xfrm>
          <a:prstGeom prst="roundRect">
            <a:avLst>
              <a:gd name="adj" fmla="val 26667"/>
            </a:avLst>
          </a:prstGeom>
          <a:solidFill>
            <a:srgbClr val="2E8B57"/>
          </a:solidFill>
          <a:ln w="12700">
            <a:solidFill>
              <a:srgbClr val="2E8B57"/>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Main · M1</a:t>
            </a:r>
            <a:endParaRPr lang="en-US" sz="900" dirty="0"/>
          </a:p>
        </p:txBody>
      </p:sp>
      <p:sp>
        <p:nvSpPr>
          <p:cNvPr id="6" name="Text 3"/>
          <p:cNvSpPr txBox="1"/>
          <p:nvPr/>
        </p:nvSpPr>
        <p:spPr>
          <a:xfrm>
            <a:off x="457200" y="960120"/>
            <a:ext cx="2651760" cy="640080"/>
          </a:xfrm>
          <a:prstGeom prst="rect">
            <a:avLst/>
          </a:prstGeom>
          <a:noFill/>
          <a:ln/>
        </p:spPr>
        <p:txBody>
          <a:bodyPr wrap="square" lIns="0" tIns="0" rIns="0" bIns="0" rtlCol="0" anchor="b"/>
          <a:lstStyle/>
          <a:p>
            <a:pPr indent="0" marL="0">
              <a:buNone/>
            </a:pPr>
            <a:r>
              <a:rPr lang="en-US" sz="4000" b="1" dirty="0">
                <a:solidFill>
                  <a:srgbClr val="2E8B57"/>
                </a:solidFill>
                <a:latin typeface="Cambria" pitchFamily="34" charset="0"/>
                <a:ea typeface="Cambria" pitchFamily="34" charset="-122"/>
                <a:cs typeface="Cambria" pitchFamily="34" charset="-120"/>
              </a:rPr>
              <a:t>≈ 60 %</a:t>
            </a:r>
            <a:endParaRPr lang="en-US" sz="4000" dirty="0"/>
          </a:p>
        </p:txBody>
      </p:sp>
      <p:sp>
        <p:nvSpPr>
          <p:cNvPr id="7" name="Text 4"/>
          <p:cNvSpPr txBox="1"/>
          <p:nvPr/>
        </p:nvSpPr>
        <p:spPr>
          <a:xfrm>
            <a:off x="457200" y="1645920"/>
            <a:ext cx="2697480" cy="86868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Using the configuration as indicator, we can predict up to about 60 % of the differences in test time between different cars (range 60–70 %; slides 22–23).</a:t>
            </a:r>
            <a:endParaRPr lang="en-US" sz="1150" dirty="0"/>
          </a:p>
        </p:txBody>
      </p:sp>
      <p:sp>
        <p:nvSpPr>
          <p:cNvPr id="8" name="Text 5"/>
          <p:cNvSpPr txBox="1"/>
          <p:nvPr/>
        </p:nvSpPr>
        <p:spPr>
          <a:xfrm>
            <a:off x="457200" y="2542032"/>
            <a:ext cx="2697480" cy="548640"/>
          </a:xfrm>
          <a:prstGeom prst="rect">
            <a:avLst/>
          </a:prstGeom>
          <a:noFill/>
          <a:ln/>
        </p:spPr>
        <p:txBody>
          <a:bodyPr wrap="square" lIns="0" tIns="0" rIns="0" bIns="0" rtlCol="0" anchor="t"/>
          <a:lstStyle/>
          <a:p>
            <a:pPr indent="0" marL="0">
              <a:buNone/>
            </a:pPr>
            <a:r>
              <a:rPr lang="en-US" sz="1050" dirty="0">
                <a:solidFill>
                  <a:srgbClr val="5B6670"/>
                </a:solidFill>
                <a:latin typeface="Calibri" pitchFamily="34" charset="0"/>
                <a:ea typeface="Calibri" pitchFamily="34" charset="-122"/>
                <a:cs typeface="Calibri" pitchFamily="34" charset="-120"/>
              </a:rPr>
              <a:t>Each row = one group of identical cars; each dot = one car. Top row = the 9 identical cars (slide 21).</a:t>
            </a:r>
            <a:endParaRPr lang="en-US" sz="1050" dirty="0"/>
          </a:p>
        </p:txBody>
      </p:sp>
      <p:sp>
        <p:nvSpPr>
          <p:cNvPr id="9" name="card"/>
          <p:cNvSpPr/>
          <p:nvPr/>
        </p:nvSpPr>
        <p:spPr>
          <a:xfrm>
            <a:off x="457200" y="3127248"/>
            <a:ext cx="2697480" cy="1307592"/>
          </a:xfrm>
          <a:prstGeom prst="roundRect">
            <a:avLst>
              <a:gd name="adj" fmla="val 6993"/>
            </a:avLst>
          </a:prstGeom>
          <a:solidFill>
            <a:srgbClr val="E6F3EC"/>
          </a:solidFill>
          <a:ln w="12700">
            <a:solidFill>
              <a:srgbClr val="E6F3EC"/>
            </a:solidFill>
            <a:prstDash val="solid"/>
          </a:ln>
        </p:spPr>
      </p:sp>
      <p:sp>
        <p:nvSpPr>
          <p:cNvPr id="10" name="Text 7"/>
          <p:cNvSpPr txBox="1"/>
          <p:nvPr/>
        </p:nvSpPr>
        <p:spPr>
          <a:xfrm>
            <a:off x="566928" y="3172968"/>
            <a:ext cx="2487168" cy="1216152"/>
          </a:xfrm>
          <a:prstGeom prst="rect">
            <a:avLst/>
          </a:prstGeom>
          <a:noFill/>
          <a:ln/>
        </p:spPr>
        <p:txBody>
          <a:bodyPr wrap="square" lIns="0" tIns="0" rIns="0" bIns="0" rtlCol="0" anchor="ctr"/>
          <a:lstStyle/>
          <a:p>
            <a:pPr indent="0" marL="0">
              <a:buNone/>
            </a:pPr>
            <a:r>
              <a:rPr lang="en-US" sz="1100" b="1" dirty="0">
                <a:solidFill>
                  <a:srgbClr val="2E8B57"/>
                </a:solidFill>
                <a:latin typeface="Calibri" pitchFamily="34" charset="0"/>
                <a:ea typeface="Calibri" pitchFamily="34" charset="-122"/>
                <a:cs typeface="Calibri" pitchFamily="34" charset="-120"/>
              </a:rPr>
              <a:t>Expert view (Mohammad Bajbouj, automotive R&amp;D): </a:t>
            </a:r>
            <a:pPr indent="0" marL="0">
              <a:buNone/>
            </a:pPr>
            <a:r>
              <a:rPr lang="en-US" sz="1100" dirty="0">
                <a:solidFill>
                  <a:srgbClr val="1F2933"/>
                </a:solidFill>
                <a:latin typeface="Calibri" pitchFamily="34" charset="0"/>
                <a:ea typeface="Calibri" pitchFamily="34" charset="-122"/>
                <a:cs typeface="Calibri" pitchFamily="34" charset="-120"/>
              </a:rPr>
              <a:t>even identical cars can get different test times for reasons the data does not record, e.g. human error.</a:t>
            </a:r>
            <a:endParaRPr lang="en-US" sz="1100" dirty="0"/>
          </a:p>
        </p:txBody>
      </p:sp>
      <p:pic>
        <p:nvPicPr>
          <p:cNvPr id="11" name="step4plot" descr="img/cell16c.png">    </p:cNvPr>
          <p:cNvPicPr>
            <a:picLocks noChangeAspect="1"/>
          </p:cNvPicPr>
          <p:nvPr/>
        </p:nvPicPr>
        <p:blipFill>
          <a:blip r:embed="rId1"/>
          <a:stretch>
            <a:fillRect/>
          </a:stretch>
        </p:blipFill>
        <p:spPr>
          <a:xfrm>
            <a:off x="3291840" y="1017489"/>
            <a:ext cx="5394960" cy="3131383"/>
          </a:xfrm>
          <a:prstGeom prst="rect">
            <a:avLst/>
          </a:prstGeom>
        </p:spPr>
      </p:pic>
      <p:sp>
        <p:nvSpPr>
          <p:cNvPr id="12" name="Text 8"/>
          <p:cNvSpPr txBox="1"/>
          <p:nvPr/>
        </p:nvSpPr>
        <p:spPr>
          <a:xfrm>
            <a:off x="3291840" y="4187952"/>
            <a:ext cx="5394960" cy="256032"/>
          </a:xfrm>
          <a:prstGeom prst="rect">
            <a:avLst/>
          </a:prstGeom>
          <a:noFill/>
          <a:ln/>
        </p:spPr>
        <p:txBody>
          <a:bodyPr wrap="square" lIns="0" tIns="0" rIns="0" bIns="0" rtlCol="0" anchor="t"/>
          <a:lstStyle/>
          <a:p>
            <a:pPr algn="ctr" indent="0" marL="0">
              <a:buNone/>
            </a:pPr>
            <a:r>
              <a:rPr lang="en-US" sz="1000" dirty="0">
                <a:solidFill>
                  <a:srgbClr val="5B6670"/>
                </a:solidFill>
                <a:latin typeface="Calibri" pitchFamily="34" charset="0"/>
                <a:ea typeface="Calibri" pitchFamily="34" charset="-122"/>
                <a:cs typeface="Calibri" pitchFamily="34" charset="-120"/>
              </a:rPr>
              <a:t>test time (seconds); dot = one car, dark tick = group median</a:t>
            </a:r>
            <a:endParaRPr lang="en-US" sz="1000" dirty="0"/>
          </a:p>
        </p:txBody>
      </p:sp>
      <p:sp>
        <p:nvSpPr>
          <p:cNvPr id="13" name="Text 9"/>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explained on slides 21–23   </a:t>
            </a:r>
            <a:pPr indent="0" marL="0">
              <a:buNone/>
            </a:pPr>
            <a:r>
              <a:rPr lang="en-US" sz="900" i="1" dirty="0">
                <a:solidFill>
                  <a:srgbClr val="5B6670"/>
                </a:solidFill>
                <a:latin typeface="Calibri" pitchFamily="34" charset="0"/>
                <a:ea typeface="Calibri" pitchFamily="34" charset="-122"/>
                <a:cs typeface="Calibri" pitchFamily="34" charset="-120"/>
              </a:rPr>
              <a:t>Source: content list #6; plot: Step 4 (R5); ≈ 0.6, range 0.6–0.7: Steps 5–6 (R6, R8, R9; D18, D19); expert view: his statement, change 13 (D59); 60 % sentence: change 38 (D67)</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Test times come in groups, one unusual test</a:t>
            </a:r>
            <a:endParaRPr lang="en-US" sz="2600" dirty="0"/>
          </a:p>
        </p:txBody>
      </p:sp>
      <p:sp>
        <p:nvSpPr>
          <p:cNvPr id="3" name="tag"/>
          <p:cNvSpPr/>
          <p:nvPr/>
        </p:nvSpPr>
        <p:spPr>
          <a:xfrm>
            <a:off x="7818120" y="347472"/>
            <a:ext cx="868680" cy="274320"/>
          </a:xfrm>
          <a:prstGeom prst="roundRect">
            <a:avLst>
              <a:gd name="adj" fmla="val 26667"/>
            </a:avLst>
          </a:prstGeom>
          <a:solidFill>
            <a:srgbClr val="2E8B57"/>
          </a:solidFill>
          <a:ln w="12700">
            <a:solidFill>
              <a:srgbClr val="2E8B57"/>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Main · M1</a:t>
            </a:r>
            <a:endParaRPr lang="en-US" sz="900" dirty="0"/>
          </a:p>
        </p:txBody>
      </p:sp>
      <p:pic>
        <p:nvPicPr>
          <p:cNvPr id="6" name="step7hist" descr="img/cell29c.png">    </p:cNvPr>
          <p:cNvPicPr>
            <a:picLocks noChangeAspect="1"/>
          </p:cNvPicPr>
          <p:nvPr/>
        </p:nvPicPr>
        <p:blipFill>
          <a:blip r:embed="rId1"/>
          <a:stretch>
            <a:fillRect/>
          </a:stretch>
        </p:blipFill>
        <p:spPr>
          <a:xfrm>
            <a:off x="457200" y="1395154"/>
            <a:ext cx="5394960" cy="2330331"/>
          </a:xfrm>
          <a:prstGeom prst="rect">
            <a:avLst/>
          </a:prstGeom>
        </p:spPr>
      </p:pic>
      <p:sp>
        <p:nvSpPr>
          <p:cNvPr id="7" name="Text 3"/>
          <p:cNvSpPr txBox="1"/>
          <p:nvPr/>
        </p:nvSpPr>
        <p:spPr>
          <a:xfrm>
            <a:off x="457200" y="4133088"/>
            <a:ext cx="5394960" cy="256032"/>
          </a:xfrm>
          <a:prstGeom prst="rect">
            <a:avLst/>
          </a:prstGeom>
          <a:noFill/>
          <a:ln/>
        </p:spPr>
        <p:txBody>
          <a:bodyPr wrap="square" lIns="0" tIns="0" rIns="0" bIns="0" rtlCol="0" anchor="t"/>
          <a:lstStyle/>
          <a:p>
            <a:pPr algn="ctr" indent="0" marL="0">
              <a:buNone/>
            </a:pPr>
            <a:r>
              <a:rPr lang="en-US" sz="1000" dirty="0">
                <a:solidFill>
                  <a:srgbClr val="5B6670"/>
                </a:solidFill>
                <a:latin typeface="Calibri" pitchFamily="34" charset="0"/>
                <a:ea typeface="Calibri" pitchFamily="34" charset="-122"/>
                <a:cs typeface="Calibri" pitchFamily="34" charset="-120"/>
              </a:rPr>
              <a:t>test time (seconds) of all 4,209 cars, 2-second groups</a:t>
            </a:r>
            <a:endParaRPr lang="en-US" sz="1000" dirty="0"/>
          </a:p>
        </p:txBody>
      </p:sp>
      <p:sp>
        <p:nvSpPr>
          <p:cNvPr id="8" name="Text 4"/>
          <p:cNvSpPr txBox="1"/>
          <p:nvPr/>
        </p:nvSpPr>
        <p:spPr>
          <a:xfrm>
            <a:off x="6035040" y="1188720"/>
            <a:ext cx="2651760" cy="31089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2933"/>
                </a:solidFill>
                <a:latin typeface="Calibri" pitchFamily="34" charset="0"/>
                <a:ea typeface="Calibri" pitchFamily="34" charset="-122"/>
                <a:cs typeface="Calibri" pitchFamily="34" charset="-120"/>
              </a:rPr>
              <a:t>Most cars need about 75, 90, 100 or 108 s</a:t>
            </a:r>
            <a:endParaRPr lang="en-US" sz="1400" dirty="0"/>
          </a:p>
          <a:p>
            <a:pPr marL="342900" indent="-342900">
              <a:spcAft>
                <a:spcPts val="600"/>
              </a:spcAft>
              <a:buSzPct val="100000"/>
              <a:buChar char="•"/>
            </a:pPr>
            <a:r>
              <a:rPr lang="en-US" sz="1400" dirty="0">
                <a:solidFill>
                  <a:srgbClr val="1F2933"/>
                </a:solidFill>
                <a:latin typeface="Calibri" pitchFamily="34" charset="0"/>
                <a:ea typeface="Calibri" pitchFamily="34" charset="-122"/>
                <a:cs typeface="Calibri" pitchFamily="34" charset="-120"/>
              </a:rPr>
              <a:t>One car took 265 s (next longest 170 s) → removed from training as a likely faulty test (our assumption – no column records it)</a:t>
            </a:r>
            <a:endParaRPr lang="en-US" sz="1400" dirty="0"/>
          </a:p>
          <a:p>
            <a:pPr marL="342900" indent="-342900">
              <a:spcAft>
                <a:spcPts val="600"/>
              </a:spcAft>
              <a:buSzPct val="100000"/>
              <a:buChar char="•"/>
            </a:pPr>
            <a:r>
              <a:rPr lang="en-US" sz="1400" dirty="0">
                <a:solidFill>
                  <a:srgbClr val="1F2933"/>
                </a:solidFill>
                <a:latin typeface="Calibri" pitchFamily="34" charset="0"/>
                <a:ea typeface="Calibri" pitchFamily="34" charset="-122"/>
                <a:cs typeface="Calibri" pitchFamily="34" charset="-120"/>
              </a:rPr>
              <a:t>The other 49 long tests stay</a:t>
            </a:r>
            <a:endParaRPr lang="en-US" sz="1400" dirty="0"/>
          </a:p>
        </p:txBody>
      </p:sp>
      <p:sp>
        <p:nvSpPr>
          <p:cNvPr id="9" name="Text 5"/>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i="1" dirty="0">
                <a:solidFill>
                  <a:srgbClr val="5B6670"/>
                </a:solidFill>
                <a:latin typeface="Calibri" pitchFamily="34" charset="0"/>
                <a:ea typeface="Calibri" pitchFamily="34" charset="-122"/>
                <a:cs typeface="Calibri" pitchFamily="34" charset="-120"/>
              </a:rPr>
              <a:t>Source: content list #8; peaks: Step 11 (R18, D28); 265 s car ID 1770: Step 9 (R13, D23); 169.91 s: Step 5 (R7); 49 long tests: Step 8 (R11, D22); assumption: R12; histogram: Step 7 (R10)</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One column sorts the cars</a:t>
            </a:r>
            <a:endParaRPr lang="en-US" sz="2600" dirty="0"/>
          </a:p>
        </p:txBody>
      </p:sp>
      <p:sp>
        <p:nvSpPr>
          <p:cNvPr id="3" name="tag"/>
          <p:cNvSpPr/>
          <p:nvPr/>
        </p:nvSpPr>
        <p:spPr>
          <a:xfrm>
            <a:off x="7818120" y="347472"/>
            <a:ext cx="868680" cy="274320"/>
          </a:xfrm>
          <a:prstGeom prst="roundRect">
            <a:avLst>
              <a:gd name="adj" fmla="val 26667"/>
            </a:avLst>
          </a:prstGeom>
          <a:solidFill>
            <a:srgbClr val="2E8B57"/>
          </a:solidFill>
          <a:ln w="12700">
            <a:solidFill>
              <a:srgbClr val="2E8B57"/>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Main · M1</a:t>
            </a:r>
            <a:endParaRPr lang="en-US" sz="900" dirty="0"/>
          </a:p>
        </p:txBody>
      </p:sp>
      <p:pic>
        <p:nvPicPr>
          <p:cNvPr id="6" name="step11box" descr="img/cell46c.png">    </p:cNvPr>
          <p:cNvPicPr>
            <a:picLocks noChangeAspect="1"/>
          </p:cNvPicPr>
          <p:nvPr/>
        </p:nvPicPr>
        <p:blipFill>
          <a:blip r:embed="rId1"/>
          <a:stretch>
            <a:fillRect/>
          </a:stretch>
        </p:blipFill>
        <p:spPr>
          <a:xfrm>
            <a:off x="980209" y="960120"/>
            <a:ext cx="7183582" cy="2788920"/>
          </a:xfrm>
          <a:prstGeom prst="rect">
            <a:avLst/>
          </a:prstGeom>
        </p:spPr>
      </p:pic>
      <p:sp>
        <p:nvSpPr>
          <p:cNvPr id="7" name="meaning"/>
          <p:cNvSpPr/>
          <p:nvPr/>
        </p:nvSpPr>
        <p:spPr>
          <a:xfrm>
            <a:off x="457200" y="3840480"/>
            <a:ext cx="8229600" cy="548640"/>
          </a:xfrm>
          <a:prstGeom prst="roundRect">
            <a:avLst>
              <a:gd name="adj" fmla="val 13333"/>
            </a:avLst>
          </a:prstGeom>
          <a:solidFill>
            <a:srgbClr val="E6F3EC"/>
          </a:solidFill>
          <a:ln w="12700">
            <a:solidFill>
              <a:srgbClr val="E6F3EC"/>
            </a:solidFill>
            <a:prstDash val="solid"/>
          </a:ln>
        </p:spPr>
      </p:sp>
      <p:sp>
        <p:nvSpPr>
          <p:cNvPr id="8" name="Text 4"/>
          <p:cNvSpPr txBox="1"/>
          <p:nvPr/>
        </p:nvSpPr>
        <p:spPr>
          <a:xfrm>
            <a:off x="640080" y="3840480"/>
            <a:ext cx="7863840" cy="548640"/>
          </a:xfrm>
          <a:prstGeom prst="rect">
            <a:avLst/>
          </a:prstGeom>
          <a:noFill/>
          <a:ln/>
        </p:spPr>
        <p:txBody>
          <a:bodyPr wrap="square" lIns="0" tIns="0" rIns="0" bIns="0" rtlCol="0" anchor="ctr"/>
          <a:lstStyle/>
          <a:p>
            <a:pPr indent="0" marL="0">
              <a:buNone/>
            </a:pPr>
            <a:r>
              <a:rPr lang="en-US" sz="1400" b="1" dirty="0">
                <a:solidFill>
                  <a:srgbClr val="2E8B57"/>
                </a:solidFill>
                <a:latin typeface="Calibri" pitchFamily="34" charset="0"/>
                <a:ea typeface="Calibri" pitchFamily="34" charset="-122"/>
                <a:cs typeface="Calibri" pitchFamily="34" charset="-120"/>
              </a:rPr>
              <a:t>Meaning: </a:t>
            </a:r>
            <a:pPr indent="0" marL="0">
              <a:buNone/>
            </a:pPr>
            <a:r>
              <a:rPr lang="en-US" sz="1400" dirty="0">
                <a:solidFill>
                  <a:srgbClr val="1F2933"/>
                </a:solidFill>
                <a:latin typeface="Calibri" pitchFamily="34" charset="0"/>
                <a:ea typeface="Calibri" pitchFamily="34" charset="-122"/>
                <a:cs typeface="Calibri" pitchFamily="34" charset="-120"/>
              </a:rPr>
              <a:t>X0 alone explains 57.5 % of the differences (measured on the same cars it describes); the column X2 explains 22.6 %, every other text column at most 4.2 % (→ slide 24).</a:t>
            </a:r>
            <a:endParaRPr lang="en-US" sz="1400" dirty="0"/>
          </a:p>
        </p:txBody>
      </p:sp>
      <p:sp>
        <p:nvSpPr>
          <p:cNvPr id="9" name="Text 5"/>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explained on slide 24   </a:t>
            </a:r>
            <a:pPr indent="0" marL="0">
              <a:buNone/>
            </a:pPr>
            <a:r>
              <a:rPr lang="en-US" sz="900" i="1" dirty="0">
                <a:solidFill>
                  <a:srgbClr val="5B6670"/>
                </a:solidFill>
                <a:latin typeface="Calibri" pitchFamily="34" charset="0"/>
                <a:ea typeface="Calibri" pitchFamily="34" charset="-122"/>
                <a:cs typeface="Calibri" pitchFamily="34" charset="-120"/>
              </a:rPr>
              <a:t>Source: content list #10; X0 57.5 %: Steps 11–12 (R20, D25); X2 / other text columns: key M1.5 result (D25); box plot: Step 11 (R19, y-axis cut at 180 s)</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M2 – first predictions</a:t>
            </a:r>
            <a:endParaRPr lang="en-US" sz="2600" dirty="0"/>
          </a:p>
        </p:txBody>
      </p:sp>
      <p:sp>
        <p:nvSpPr>
          <p:cNvPr id="3" name="tag"/>
          <p:cNvSpPr/>
          <p:nvPr/>
        </p:nvSpPr>
        <p:spPr>
          <a:xfrm>
            <a:off x="7818120" y="347472"/>
            <a:ext cx="868680" cy="274320"/>
          </a:xfrm>
          <a:prstGeom prst="roundRect">
            <a:avLst>
              <a:gd name="adj" fmla="val 26667"/>
            </a:avLst>
          </a:prstGeom>
          <a:solidFill>
            <a:srgbClr val="2E8B57"/>
          </a:solidFill>
          <a:ln w="12700">
            <a:solidFill>
              <a:srgbClr val="2E8B57"/>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Main · M2</a:t>
            </a:r>
            <a:endParaRPr lang="en-US" sz="900" dirty="0"/>
          </a:p>
        </p:txBody>
      </p:sp>
      <p:sp>
        <p:nvSpPr>
          <p:cNvPr id="6" name="num1"/>
          <p:cNvSpPr/>
          <p:nvPr/>
        </p:nvSpPr>
        <p:spPr>
          <a:xfrm>
            <a:off x="457200" y="1069848"/>
            <a:ext cx="329184" cy="329184"/>
          </a:xfrm>
          <a:prstGeom prst="ellipse">
            <a:avLst/>
          </a:prstGeom>
          <a:solidFill>
            <a:srgbClr val="2B7BD8"/>
          </a:solidFill>
          <a:ln w="12700">
            <a:solidFill>
              <a:srgbClr val="2B7BD8"/>
            </a:solidFill>
            <a:prstDash val="solid"/>
          </a:ln>
        </p:spPr>
      </p:sp>
      <p:sp>
        <p:nvSpPr>
          <p:cNvPr id="7" name="Text 4"/>
          <p:cNvSpPr txBox="1"/>
          <p:nvPr/>
        </p:nvSpPr>
        <p:spPr>
          <a:xfrm>
            <a:off x="457200" y="106984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txBox="1"/>
          <p:nvPr/>
        </p:nvSpPr>
        <p:spPr>
          <a:xfrm>
            <a:off x="914400" y="1051560"/>
            <a:ext cx="7772400" cy="521208"/>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Predicting the same average time for every car misses by about 12.4 seconds and explains nothing (0 %) (→ slide 9)</a:t>
            </a:r>
            <a:endParaRPr lang="en-US" sz="1400" dirty="0"/>
          </a:p>
        </p:txBody>
      </p:sp>
      <p:sp>
        <p:nvSpPr>
          <p:cNvPr id="9" name="num2"/>
          <p:cNvSpPr/>
          <p:nvPr/>
        </p:nvSpPr>
        <p:spPr>
          <a:xfrm>
            <a:off x="457200" y="1636776"/>
            <a:ext cx="329184" cy="329184"/>
          </a:xfrm>
          <a:prstGeom prst="ellipse">
            <a:avLst/>
          </a:prstGeom>
          <a:solidFill>
            <a:srgbClr val="2B7BD8"/>
          </a:solidFill>
          <a:ln w="12700">
            <a:solidFill>
              <a:srgbClr val="2B7BD8"/>
            </a:solidFill>
            <a:prstDash val="solid"/>
          </a:ln>
        </p:spPr>
      </p:sp>
      <p:sp>
        <p:nvSpPr>
          <p:cNvPr id="10" name="Text 7"/>
          <p:cNvSpPr txBox="1"/>
          <p:nvPr/>
        </p:nvSpPr>
        <p:spPr>
          <a:xfrm>
            <a:off x="457200" y="1636776"/>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914400" y="1618488"/>
            <a:ext cx="7772400" cy="521208"/>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Predicting the average of the car's X0 group cuts the typical miss from 12.43 to 7.97 seconds – about 4.5 seconds better per car – and explains 58.7 % of the differences (→ slide 9)</a:t>
            </a:r>
            <a:endParaRPr lang="en-US" sz="1400" dirty="0"/>
          </a:p>
        </p:txBody>
      </p:sp>
      <p:sp>
        <p:nvSpPr>
          <p:cNvPr id="12" name="num3"/>
          <p:cNvSpPr/>
          <p:nvPr/>
        </p:nvSpPr>
        <p:spPr>
          <a:xfrm>
            <a:off x="457200" y="2203704"/>
            <a:ext cx="329184" cy="329184"/>
          </a:xfrm>
          <a:prstGeom prst="ellipse">
            <a:avLst/>
          </a:prstGeom>
          <a:solidFill>
            <a:srgbClr val="2B7BD8"/>
          </a:solidFill>
          <a:ln w="12700">
            <a:solidFill>
              <a:srgbClr val="2B7BD8"/>
            </a:solidFill>
            <a:prstDash val="solid"/>
          </a:ln>
        </p:spPr>
      </p:sp>
      <p:sp>
        <p:nvSpPr>
          <p:cNvPr id="13" name="Text 10"/>
          <p:cNvSpPr txBox="1"/>
          <p:nvPr/>
        </p:nvSpPr>
        <p:spPr>
          <a:xfrm>
            <a:off x="457200" y="2203704"/>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txBox="1"/>
          <p:nvPr/>
        </p:nvSpPr>
        <p:spPr>
          <a:xfrm>
            <a:off x="914400" y="2185416"/>
            <a:ext cx="7772400" cy="521208"/>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remaining 8 seconds are the noise floor: identical cars still differ by 8.1 seconds, so no model can explain much more than the limit of 59.7 % (→ slide 22)</a:t>
            </a:r>
            <a:endParaRPr lang="en-US" sz="1400" dirty="0"/>
          </a:p>
        </p:txBody>
      </p:sp>
      <p:sp>
        <p:nvSpPr>
          <p:cNvPr id="15" name="num4"/>
          <p:cNvSpPr/>
          <p:nvPr/>
        </p:nvSpPr>
        <p:spPr>
          <a:xfrm>
            <a:off x="457200" y="2770632"/>
            <a:ext cx="329184" cy="329184"/>
          </a:xfrm>
          <a:prstGeom prst="ellipse">
            <a:avLst/>
          </a:prstGeom>
          <a:solidFill>
            <a:srgbClr val="2B7BD8"/>
          </a:solidFill>
          <a:ln w="12700">
            <a:solidFill>
              <a:srgbClr val="2B7BD8"/>
            </a:solidFill>
            <a:prstDash val="solid"/>
          </a:ln>
        </p:spPr>
      </p:sp>
      <p:sp>
        <p:nvSpPr>
          <p:cNvPr id="16" name="Text 13"/>
          <p:cNvSpPr txBox="1"/>
          <p:nvPr/>
        </p:nvSpPr>
        <p:spPr>
          <a:xfrm>
            <a:off x="457200" y="277063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txBox="1"/>
          <p:nvPr/>
        </p:nvSpPr>
        <p:spPr>
          <a:xfrm>
            <a:off x="914400" y="2752344"/>
            <a:ext cx="7772400" cy="521208"/>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A real model (Ridge) with X0 alone gives exactly the same result as the X0 group averages (7.97 seconds, 58.7 %) – the same rule, written as a formula (→ slide 9)</a:t>
            </a:r>
            <a:endParaRPr lang="en-US" sz="1400" dirty="0"/>
          </a:p>
        </p:txBody>
      </p:sp>
      <p:sp>
        <p:nvSpPr>
          <p:cNvPr id="18" name="num5"/>
          <p:cNvSpPr/>
          <p:nvPr/>
        </p:nvSpPr>
        <p:spPr>
          <a:xfrm>
            <a:off x="457200" y="3337560"/>
            <a:ext cx="329184" cy="329184"/>
          </a:xfrm>
          <a:prstGeom prst="ellipse">
            <a:avLst/>
          </a:prstGeom>
          <a:solidFill>
            <a:srgbClr val="2B7BD8"/>
          </a:solidFill>
          <a:ln w="12700">
            <a:solidFill>
              <a:srgbClr val="2B7BD8"/>
            </a:solidFill>
            <a:prstDash val="solid"/>
          </a:ln>
        </p:spPr>
      </p:sp>
      <p:sp>
        <p:nvSpPr>
          <p:cNvPr id="19" name="Text 16"/>
          <p:cNvSpPr txBox="1"/>
          <p:nvPr/>
        </p:nvSpPr>
        <p:spPr>
          <a:xfrm>
            <a:off x="457200" y="333756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7"/>
          <p:cNvSpPr txBox="1"/>
          <p:nvPr/>
        </p:nvSpPr>
        <p:spPr>
          <a:xfrm>
            <a:off x="914400" y="3319272"/>
            <a:ext cx="7772400" cy="521208"/>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Adding all 310 columns (376 − 66 removed in M1) does not help: typical miss 7.97 → 8.09 seconds (→ slide 29)</a:t>
            </a:r>
            <a:endParaRPr lang="en-US" sz="1400" dirty="0"/>
          </a:p>
        </p:txBody>
      </p:sp>
      <p:sp>
        <p:nvSpPr>
          <p:cNvPr id="21" name="meaning"/>
          <p:cNvSpPr/>
          <p:nvPr/>
        </p:nvSpPr>
        <p:spPr>
          <a:xfrm>
            <a:off x="457200" y="3886200"/>
            <a:ext cx="8229600" cy="548640"/>
          </a:xfrm>
          <a:prstGeom prst="roundRect">
            <a:avLst>
              <a:gd name="adj" fmla="val 13333"/>
            </a:avLst>
          </a:prstGeom>
          <a:solidFill>
            <a:srgbClr val="E6F3EC"/>
          </a:solidFill>
          <a:ln w="12700">
            <a:solidFill>
              <a:srgbClr val="E6F3EC"/>
            </a:solidFill>
            <a:prstDash val="solid"/>
          </a:ln>
        </p:spPr>
      </p:sp>
      <p:sp>
        <p:nvSpPr>
          <p:cNvPr id="22" name="Text 19"/>
          <p:cNvSpPr txBox="1"/>
          <p:nvPr/>
        </p:nvSpPr>
        <p:spPr>
          <a:xfrm>
            <a:off x="640080" y="3886200"/>
            <a:ext cx="7863840" cy="548640"/>
          </a:xfrm>
          <a:prstGeom prst="rect">
            <a:avLst/>
          </a:prstGeom>
          <a:noFill/>
          <a:ln/>
        </p:spPr>
        <p:txBody>
          <a:bodyPr wrap="square" lIns="0" tIns="0" rIns="0" bIns="0" rtlCol="0" anchor="ctr"/>
          <a:lstStyle/>
          <a:p>
            <a:pPr indent="0" marL="0">
              <a:buNone/>
            </a:pPr>
            <a:r>
              <a:rPr lang="en-US" sz="1400" b="1" dirty="0">
                <a:solidFill>
                  <a:srgbClr val="2E8B57"/>
                </a:solidFill>
                <a:latin typeface="Calibri" pitchFamily="34" charset="0"/>
                <a:ea typeface="Calibri" pitchFamily="34" charset="-122"/>
                <a:cs typeface="Calibri" pitchFamily="34" charset="-120"/>
              </a:rPr>
              <a:t>Meaning: </a:t>
            </a:r>
            <a:pPr indent="0" marL="0">
              <a:buNone/>
            </a:pPr>
            <a:r>
              <a:rPr lang="en-US" sz="1400" dirty="0">
                <a:solidFill>
                  <a:srgbClr val="1F2933"/>
                </a:solidFill>
                <a:latin typeface="Calibri" pitchFamily="34" charset="0"/>
                <a:ea typeface="Calibri" pitchFamily="34" charset="-122"/>
                <a:cs typeface="Calibri" pitchFamily="34" charset="-120"/>
              </a:rPr>
              <a:t>X0 carries almost all predictable information; the rest is test-bench scatter the data does not record.</a:t>
            </a:r>
            <a:endParaRPr lang="en-US" sz="1400" dirty="0"/>
          </a:p>
        </p:txBody>
      </p:sp>
      <p:sp>
        <p:nvSpPr>
          <p:cNvPr id="23" name="Text 20"/>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explained on slide 29   </a:t>
            </a:r>
            <a:pPr indent="0" marL="0">
              <a:buNone/>
            </a:pPr>
            <a:r>
              <a:rPr lang="en-US" sz="900" i="1" dirty="0">
                <a:solidFill>
                  <a:srgbClr val="5B6670"/>
                </a:solidFill>
                <a:latin typeface="Calibri" pitchFamily="34" charset="0"/>
                <a:ea typeface="Calibri" pitchFamily="34" charset="-122"/>
                <a:cs typeface="Calibri" pitchFamily="34" charset="-120"/>
              </a:rPr>
              <a:t>Source: content list #16 (D37; reworded: changes 21, 22, D59; 24, 25, 28, D64); 4.5 s = 12.43 − 7.97 = 4.46 s: Steps 19–20; 8.1 s noise: Step 5, handover 28; 12 s / 8 s / 0.59: Step 19; limit: Steps 5–6 (R8, R37); Ridge 0.587 vs 0.574: Step 20 (R47); D32</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Baseline: simple predictions</a:t>
            </a:r>
            <a:endParaRPr lang="en-US" sz="2600" dirty="0"/>
          </a:p>
        </p:txBody>
      </p:sp>
      <p:sp>
        <p:nvSpPr>
          <p:cNvPr id="3" name="tag"/>
          <p:cNvSpPr/>
          <p:nvPr/>
        </p:nvSpPr>
        <p:spPr>
          <a:xfrm>
            <a:off x="7818120" y="347472"/>
            <a:ext cx="868680" cy="274320"/>
          </a:xfrm>
          <a:prstGeom prst="roundRect">
            <a:avLst>
              <a:gd name="adj" fmla="val 26667"/>
            </a:avLst>
          </a:prstGeom>
          <a:solidFill>
            <a:srgbClr val="2E8B57"/>
          </a:solidFill>
          <a:ln w="12700">
            <a:solidFill>
              <a:srgbClr val="2E8B57"/>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Main · M2</a:t>
            </a:r>
            <a:endParaRPr lang="en-US" sz="900" dirty="0"/>
          </a:p>
        </p:txBody>
      </p:sp>
      <p:sp>
        <p:nvSpPr>
          <p:cNvPr id="6" name="Text 3"/>
          <p:cNvSpPr txBox="1"/>
          <p:nvPr/>
        </p:nvSpPr>
        <p:spPr>
          <a:xfrm>
            <a:off x="457200" y="1051560"/>
            <a:ext cx="2926080" cy="502920"/>
          </a:xfrm>
          <a:prstGeom prst="rect">
            <a:avLst/>
          </a:prstGeom>
          <a:noFill/>
          <a:ln/>
        </p:spPr>
        <p:txBody>
          <a:bodyPr wrap="square" lIns="0" tIns="0" rIns="0" bIns="0" rtlCol="0" anchor="ctr"/>
          <a:lstStyle/>
          <a:p>
            <a:pPr algn="r" indent="0" marL="0">
              <a:buNone/>
            </a:pPr>
            <a:r>
              <a:rPr lang="en-US" sz="1200" dirty="0">
                <a:solidFill>
                  <a:srgbClr val="1F2933"/>
                </a:solidFill>
                <a:latin typeface="Calibri" pitchFamily="34" charset="0"/>
                <a:ea typeface="Calibri" pitchFamily="34" charset="-122"/>
                <a:cs typeface="Calibri" pitchFamily="34" charset="-120"/>
              </a:rPr>
              <a:t>Same average for every car (no columns used)</a:t>
            </a:r>
            <a:endParaRPr lang="en-US" sz="1200" dirty="0"/>
          </a:p>
        </p:txBody>
      </p:sp>
      <p:sp>
        <p:nvSpPr>
          <p:cNvPr id="7" name="bar0"/>
          <p:cNvSpPr/>
          <p:nvPr/>
        </p:nvSpPr>
        <p:spPr>
          <a:xfrm>
            <a:off x="3474720" y="1142086"/>
            <a:ext cx="3890666" cy="321869"/>
          </a:xfrm>
          <a:prstGeom prst="rect">
            <a:avLst/>
          </a:prstGeom>
          <a:solidFill>
            <a:srgbClr val="5B6670"/>
          </a:solidFill>
          <a:ln w="12700">
            <a:solidFill>
              <a:srgbClr val="5B6670"/>
            </a:solidFill>
            <a:prstDash val="solid"/>
          </a:ln>
        </p:spPr>
      </p:sp>
      <p:sp>
        <p:nvSpPr>
          <p:cNvPr id="8" name="Text 5"/>
          <p:cNvSpPr txBox="1"/>
          <p:nvPr/>
        </p:nvSpPr>
        <p:spPr>
          <a:xfrm>
            <a:off x="7438538" y="1051560"/>
            <a:ext cx="1737360" cy="50292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12.43 s · explains 0 %</a:t>
            </a:r>
            <a:endParaRPr lang="en-US" sz="1200" dirty="0"/>
          </a:p>
        </p:txBody>
      </p:sp>
      <p:sp>
        <p:nvSpPr>
          <p:cNvPr id="9" name="Text 6"/>
          <p:cNvSpPr txBox="1"/>
          <p:nvPr/>
        </p:nvSpPr>
        <p:spPr>
          <a:xfrm>
            <a:off x="457200" y="1554480"/>
            <a:ext cx="2926080" cy="502920"/>
          </a:xfrm>
          <a:prstGeom prst="rect">
            <a:avLst/>
          </a:prstGeom>
          <a:noFill/>
          <a:ln/>
        </p:spPr>
        <p:txBody>
          <a:bodyPr wrap="square" lIns="0" tIns="0" rIns="0" bIns="0" rtlCol="0" anchor="ctr"/>
          <a:lstStyle/>
          <a:p>
            <a:pPr algn="r" indent="0" marL="0">
              <a:buNone/>
            </a:pPr>
            <a:r>
              <a:rPr lang="en-US" sz="1200" dirty="0">
                <a:solidFill>
                  <a:srgbClr val="1F2933"/>
                </a:solidFill>
                <a:latin typeface="Calibri" pitchFamily="34" charset="0"/>
                <a:ea typeface="Calibri" pitchFamily="34" charset="-122"/>
                <a:cs typeface="Calibri" pitchFamily="34" charset="-120"/>
              </a:rPr>
              <a:t>Average per X0 group</a:t>
            </a:r>
            <a:endParaRPr lang="en-US" sz="1200" dirty="0"/>
          </a:p>
        </p:txBody>
      </p:sp>
      <p:sp>
        <p:nvSpPr>
          <p:cNvPr id="10" name="bar1"/>
          <p:cNvSpPr/>
          <p:nvPr/>
        </p:nvSpPr>
        <p:spPr>
          <a:xfrm>
            <a:off x="3474720" y="1645006"/>
            <a:ext cx="2494659" cy="321869"/>
          </a:xfrm>
          <a:prstGeom prst="rect">
            <a:avLst/>
          </a:prstGeom>
          <a:solidFill>
            <a:srgbClr val="2B7BD8"/>
          </a:solidFill>
          <a:ln w="12700">
            <a:solidFill>
              <a:srgbClr val="2B7BD8"/>
            </a:solidFill>
            <a:prstDash val="solid"/>
          </a:ln>
        </p:spPr>
      </p:sp>
      <p:sp>
        <p:nvSpPr>
          <p:cNvPr id="11" name="Text 8"/>
          <p:cNvSpPr txBox="1"/>
          <p:nvPr/>
        </p:nvSpPr>
        <p:spPr>
          <a:xfrm>
            <a:off x="6042531" y="1554480"/>
            <a:ext cx="1737360" cy="50292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7.97 s · 58.7 %</a:t>
            </a:r>
            <a:endParaRPr lang="en-US" sz="1200" dirty="0"/>
          </a:p>
        </p:txBody>
      </p:sp>
      <p:sp>
        <p:nvSpPr>
          <p:cNvPr id="12" name="Text 9"/>
          <p:cNvSpPr txBox="1"/>
          <p:nvPr/>
        </p:nvSpPr>
        <p:spPr>
          <a:xfrm>
            <a:off x="457200" y="2057400"/>
            <a:ext cx="2926080" cy="502920"/>
          </a:xfrm>
          <a:prstGeom prst="rect">
            <a:avLst/>
          </a:prstGeom>
          <a:noFill/>
          <a:ln/>
        </p:spPr>
        <p:txBody>
          <a:bodyPr wrap="square" lIns="0" tIns="0" rIns="0" bIns="0" rtlCol="0" anchor="ctr"/>
          <a:lstStyle/>
          <a:p>
            <a:pPr algn="r" indent="0" marL="0">
              <a:buNone/>
            </a:pPr>
            <a:r>
              <a:rPr lang="en-US" sz="1200" dirty="0">
                <a:solidFill>
                  <a:srgbClr val="1F2933"/>
                </a:solidFill>
                <a:latin typeface="Calibri" pitchFamily="34" charset="0"/>
                <a:ea typeface="Calibri" pitchFamily="34" charset="-122"/>
                <a:cs typeface="Calibri" pitchFamily="34" charset="-120"/>
              </a:rPr>
              <a:t>Ridge: X0 only</a:t>
            </a:r>
            <a:endParaRPr lang="en-US" sz="1200" dirty="0"/>
          </a:p>
        </p:txBody>
      </p:sp>
      <p:sp>
        <p:nvSpPr>
          <p:cNvPr id="13" name="bar2"/>
          <p:cNvSpPr/>
          <p:nvPr/>
        </p:nvSpPr>
        <p:spPr>
          <a:xfrm>
            <a:off x="3474720" y="2147926"/>
            <a:ext cx="2494659" cy="321869"/>
          </a:xfrm>
          <a:prstGeom prst="rect">
            <a:avLst/>
          </a:prstGeom>
          <a:solidFill>
            <a:srgbClr val="2B7BD8"/>
          </a:solidFill>
          <a:ln w="12700">
            <a:solidFill>
              <a:srgbClr val="2B7BD8"/>
            </a:solidFill>
            <a:prstDash val="solid"/>
          </a:ln>
        </p:spPr>
      </p:sp>
      <p:sp>
        <p:nvSpPr>
          <p:cNvPr id="14" name="Text 11"/>
          <p:cNvSpPr txBox="1"/>
          <p:nvPr/>
        </p:nvSpPr>
        <p:spPr>
          <a:xfrm>
            <a:off x="6042531" y="2057400"/>
            <a:ext cx="1737360" cy="50292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7.97 s · 58.7 %</a:t>
            </a:r>
            <a:endParaRPr lang="en-US" sz="1200" dirty="0"/>
          </a:p>
        </p:txBody>
      </p:sp>
      <p:sp>
        <p:nvSpPr>
          <p:cNvPr id="15" name="Text 12"/>
          <p:cNvSpPr txBox="1"/>
          <p:nvPr/>
        </p:nvSpPr>
        <p:spPr>
          <a:xfrm>
            <a:off x="457200" y="2560320"/>
            <a:ext cx="2926080" cy="502920"/>
          </a:xfrm>
          <a:prstGeom prst="rect">
            <a:avLst/>
          </a:prstGeom>
          <a:noFill/>
          <a:ln/>
        </p:spPr>
        <p:txBody>
          <a:bodyPr wrap="square" lIns="0" tIns="0" rIns="0" bIns="0" rtlCol="0" anchor="ctr"/>
          <a:lstStyle/>
          <a:p>
            <a:pPr algn="r" indent="0" marL="0">
              <a:buNone/>
            </a:pPr>
            <a:r>
              <a:rPr lang="en-US" sz="1200" dirty="0">
                <a:solidFill>
                  <a:srgbClr val="1F2933"/>
                </a:solidFill>
                <a:latin typeface="Calibri" pitchFamily="34" charset="0"/>
                <a:ea typeface="Calibri" pitchFamily="34" charset="-122"/>
                <a:cs typeface="Calibri" pitchFamily="34" charset="-120"/>
              </a:rPr>
              <a:t>Ridge: all 310 columns</a:t>
            </a:r>
            <a:endParaRPr lang="en-US" sz="1200" dirty="0"/>
          </a:p>
        </p:txBody>
      </p:sp>
      <p:sp>
        <p:nvSpPr>
          <p:cNvPr id="16" name="bar3"/>
          <p:cNvSpPr/>
          <p:nvPr/>
        </p:nvSpPr>
        <p:spPr>
          <a:xfrm>
            <a:off x="3474720" y="2650846"/>
            <a:ext cx="2532220" cy="321869"/>
          </a:xfrm>
          <a:prstGeom prst="rect">
            <a:avLst/>
          </a:prstGeom>
          <a:solidFill>
            <a:srgbClr val="164A82"/>
          </a:solidFill>
          <a:ln w="12700">
            <a:solidFill>
              <a:srgbClr val="164A82"/>
            </a:solidFill>
            <a:prstDash val="solid"/>
          </a:ln>
        </p:spPr>
      </p:sp>
      <p:sp>
        <p:nvSpPr>
          <p:cNvPr id="17" name="Text 14"/>
          <p:cNvSpPr txBox="1"/>
          <p:nvPr/>
        </p:nvSpPr>
        <p:spPr>
          <a:xfrm>
            <a:off x="6080092" y="2560320"/>
            <a:ext cx="1737360" cy="50292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8.09 s · 57.4 %</a:t>
            </a:r>
            <a:endParaRPr lang="en-US" sz="1200" dirty="0"/>
          </a:p>
        </p:txBody>
      </p:sp>
      <p:sp>
        <p:nvSpPr>
          <p:cNvPr id="18" name="refline"/>
          <p:cNvSpPr/>
          <p:nvPr/>
        </p:nvSpPr>
        <p:spPr>
          <a:xfrm>
            <a:off x="6010070" y="1005840"/>
            <a:ext cx="0" cy="2103120"/>
          </a:xfrm>
          <a:prstGeom prst="line">
            <a:avLst/>
          </a:prstGeom>
          <a:noFill/>
          <a:ln w="19050">
            <a:solidFill>
              <a:srgbClr val="2E8B57"/>
            </a:solidFill>
            <a:prstDash val="dash"/>
          </a:ln>
        </p:spPr>
      </p:sp>
      <p:sp>
        <p:nvSpPr>
          <p:cNvPr id="19" name="Text 16"/>
          <p:cNvSpPr txBox="1"/>
          <p:nvPr/>
        </p:nvSpPr>
        <p:spPr>
          <a:xfrm>
            <a:off x="4547030" y="3081528"/>
            <a:ext cx="2926080" cy="256032"/>
          </a:xfrm>
          <a:prstGeom prst="rect">
            <a:avLst/>
          </a:prstGeom>
          <a:noFill/>
          <a:ln/>
        </p:spPr>
        <p:txBody>
          <a:bodyPr wrap="square" lIns="0" tIns="0" rIns="0" bIns="0" rtlCol="0" anchor="t"/>
          <a:lstStyle/>
          <a:p>
            <a:pPr algn="ctr" indent="0" marL="0">
              <a:buNone/>
            </a:pPr>
            <a:r>
              <a:rPr lang="en-US" sz="1000" b="1" dirty="0">
                <a:solidFill>
                  <a:srgbClr val="2E8B57"/>
                </a:solidFill>
                <a:latin typeface="Calibri" pitchFamily="34" charset="0"/>
                <a:ea typeface="Calibri" pitchFamily="34" charset="-122"/>
                <a:cs typeface="Calibri" pitchFamily="34" charset="-120"/>
              </a:rPr>
              <a:t>noise floor 8.1 s (identical cars)</a:t>
            </a:r>
            <a:endParaRPr lang="en-US" sz="1000" dirty="0"/>
          </a:p>
        </p:txBody>
      </p:sp>
      <p:sp>
        <p:nvSpPr>
          <p:cNvPr id="20" name="Text 17"/>
          <p:cNvSpPr txBox="1"/>
          <p:nvPr/>
        </p:nvSpPr>
        <p:spPr>
          <a:xfrm>
            <a:off x="457200" y="3383280"/>
            <a:ext cx="8229600" cy="45720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Typical miss in seconds · share of the differences explained. Our own test: 5-fold cross-validation on 4,208 cars (→ slide 32). 58.7 % is about 98 % of the limit 59.7 %. The official Kaggle test: slide 13.</a:t>
            </a:r>
            <a:endParaRPr lang="en-US" sz="1200" dirty="0"/>
          </a:p>
        </p:txBody>
      </p:sp>
      <p:sp>
        <p:nvSpPr>
          <p:cNvPr id="21" name="meaning"/>
          <p:cNvSpPr/>
          <p:nvPr/>
        </p:nvSpPr>
        <p:spPr>
          <a:xfrm>
            <a:off x="457200" y="3886200"/>
            <a:ext cx="8229600" cy="502920"/>
          </a:xfrm>
          <a:prstGeom prst="roundRect">
            <a:avLst>
              <a:gd name="adj" fmla="val 14545"/>
            </a:avLst>
          </a:prstGeom>
          <a:solidFill>
            <a:srgbClr val="E6F3EC"/>
          </a:solidFill>
          <a:ln w="12700">
            <a:solidFill>
              <a:srgbClr val="E6F3EC"/>
            </a:solidFill>
            <a:prstDash val="solid"/>
          </a:ln>
        </p:spPr>
      </p:sp>
      <p:sp>
        <p:nvSpPr>
          <p:cNvPr id="22" name="Text 19"/>
          <p:cNvSpPr txBox="1"/>
          <p:nvPr/>
        </p:nvSpPr>
        <p:spPr>
          <a:xfrm>
            <a:off x="640080" y="3886200"/>
            <a:ext cx="7863840" cy="502920"/>
          </a:xfrm>
          <a:prstGeom prst="rect">
            <a:avLst/>
          </a:prstGeom>
          <a:noFill/>
          <a:ln/>
        </p:spPr>
        <p:txBody>
          <a:bodyPr wrap="square" lIns="0" tIns="0" rIns="0" bIns="0" rtlCol="0" anchor="ctr"/>
          <a:lstStyle/>
          <a:p>
            <a:pPr indent="0" marL="0">
              <a:buNone/>
            </a:pPr>
            <a:r>
              <a:rPr lang="en-US" sz="1400" b="1" dirty="0">
                <a:solidFill>
                  <a:srgbClr val="2E8B57"/>
                </a:solidFill>
                <a:latin typeface="Calibri" pitchFamily="34" charset="0"/>
                <a:ea typeface="Calibri" pitchFamily="34" charset="-122"/>
                <a:cs typeface="Calibri" pitchFamily="34" charset="-120"/>
              </a:rPr>
              <a:t>Meaning: </a:t>
            </a:r>
            <a:pPr indent="0" marL="0">
              <a:buNone/>
            </a:pPr>
            <a:r>
              <a:rPr lang="en-US" sz="1400" dirty="0">
                <a:solidFill>
                  <a:srgbClr val="1F2933"/>
                </a:solidFill>
                <a:latin typeface="Calibri" pitchFamily="34" charset="0"/>
                <a:ea typeface="Calibri" pitchFamily="34" charset="-122"/>
                <a:cs typeface="Calibri" pitchFamily="34" charset="-120"/>
              </a:rPr>
              <a:t>knowing only X0 cuts the typical miss by about 4.5 seconds per car (12.43 → 7.97 s); the remaining 8 seconds are the noise floor.</a:t>
            </a:r>
            <a:endParaRPr lang="en-US" sz="1400" dirty="0"/>
          </a:p>
        </p:txBody>
      </p:sp>
      <p:sp>
        <p:nvSpPr>
          <p:cNvPr id="23" name="Text 20"/>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i="1" dirty="0">
                <a:solidFill>
                  <a:srgbClr val="5B6670"/>
                </a:solidFill>
                <a:latin typeface="Calibri" pitchFamily="34" charset="0"/>
                <a:ea typeface="Calibri" pitchFamily="34" charset="-122"/>
                <a:cs typeface="Calibri" pitchFamily="34" charset="-120"/>
              </a:rPr>
              <a:t>Source: content list #15; chart redrawn with plain labels from Step 21 values (changes 26–28, D64); Step 19 (R49); Step 20 (R47); chart: Step 21 (R50); 98 %: handover 16 result; CV ≠ Kaggle: D44; D32</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M3 – best model</a:t>
            </a:r>
            <a:endParaRPr lang="en-US" sz="2600" dirty="0"/>
          </a:p>
        </p:txBody>
      </p:sp>
      <p:sp>
        <p:nvSpPr>
          <p:cNvPr id="3" name="tag"/>
          <p:cNvSpPr/>
          <p:nvPr/>
        </p:nvSpPr>
        <p:spPr>
          <a:xfrm>
            <a:off x="7818120" y="347472"/>
            <a:ext cx="868680" cy="274320"/>
          </a:xfrm>
          <a:prstGeom prst="roundRect">
            <a:avLst>
              <a:gd name="adj" fmla="val 26667"/>
            </a:avLst>
          </a:prstGeom>
          <a:solidFill>
            <a:srgbClr val="2E8B57"/>
          </a:solidFill>
          <a:ln w="12700">
            <a:solidFill>
              <a:srgbClr val="2E8B57"/>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Main · M3</a:t>
            </a:r>
            <a:endParaRPr lang="en-US" sz="900" dirty="0"/>
          </a:p>
        </p:txBody>
      </p:sp>
      <p:sp>
        <p:nvSpPr>
          <p:cNvPr id="6" name="num1"/>
          <p:cNvSpPr/>
          <p:nvPr/>
        </p:nvSpPr>
        <p:spPr>
          <a:xfrm>
            <a:off x="457200" y="1069848"/>
            <a:ext cx="329184" cy="329184"/>
          </a:xfrm>
          <a:prstGeom prst="ellipse">
            <a:avLst/>
          </a:prstGeom>
          <a:solidFill>
            <a:srgbClr val="2B7BD8"/>
          </a:solidFill>
          <a:ln w="12700">
            <a:solidFill>
              <a:srgbClr val="2B7BD8"/>
            </a:solidFill>
            <a:prstDash val="solid"/>
          </a:ln>
        </p:spPr>
      </p:sp>
      <p:sp>
        <p:nvSpPr>
          <p:cNvPr id="7" name="Text 4"/>
          <p:cNvSpPr txBox="1"/>
          <p:nvPr/>
        </p:nvSpPr>
        <p:spPr>
          <a:xfrm>
            <a:off x="457200" y="106984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txBox="1"/>
          <p:nvPr/>
        </p:nvSpPr>
        <p:spPr>
          <a:xfrm>
            <a:off x="914400" y="1051560"/>
            <a:ext cx="7772400" cy="521208"/>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Ridge, Random Forest and XGBoost all miss by about 8 seconds (4.5 s better than one average for all) and explain 58.7 %, 58.9 %, 59.3 % – equal (→ slide 11)</a:t>
            </a:r>
            <a:endParaRPr lang="en-US" sz="1400" dirty="0"/>
          </a:p>
        </p:txBody>
      </p:sp>
      <p:sp>
        <p:nvSpPr>
          <p:cNvPr id="9" name="num2"/>
          <p:cNvSpPr/>
          <p:nvPr/>
        </p:nvSpPr>
        <p:spPr>
          <a:xfrm>
            <a:off x="457200" y="1636776"/>
            <a:ext cx="329184" cy="329184"/>
          </a:xfrm>
          <a:prstGeom prst="ellipse">
            <a:avLst/>
          </a:prstGeom>
          <a:solidFill>
            <a:srgbClr val="2B7BD8"/>
          </a:solidFill>
          <a:ln w="12700">
            <a:solidFill>
              <a:srgbClr val="2B7BD8"/>
            </a:solidFill>
            <a:prstDash val="solid"/>
          </a:ln>
        </p:spPr>
      </p:sp>
      <p:sp>
        <p:nvSpPr>
          <p:cNvPr id="10" name="Text 7"/>
          <p:cNvSpPr txBox="1"/>
          <p:nvPr/>
        </p:nvSpPr>
        <p:spPr>
          <a:xfrm>
            <a:off x="457200" y="1636776"/>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914400" y="1618488"/>
            <a:ext cx="7772400" cy="521208"/>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So we keep the simplest model: Ridge, using only the column X0 (→ slide 31)</a:t>
            </a:r>
            <a:endParaRPr lang="en-US" sz="1400" dirty="0"/>
          </a:p>
        </p:txBody>
      </p:sp>
      <p:sp>
        <p:nvSpPr>
          <p:cNvPr id="12" name="num3"/>
          <p:cNvSpPr/>
          <p:nvPr/>
        </p:nvSpPr>
        <p:spPr>
          <a:xfrm>
            <a:off x="457200" y="2203704"/>
            <a:ext cx="329184" cy="329184"/>
          </a:xfrm>
          <a:prstGeom prst="ellipse">
            <a:avLst/>
          </a:prstGeom>
          <a:solidFill>
            <a:srgbClr val="2B7BD8"/>
          </a:solidFill>
          <a:ln w="12700">
            <a:solidFill>
              <a:srgbClr val="2B7BD8"/>
            </a:solidFill>
            <a:prstDash val="solid"/>
          </a:ln>
        </p:spPr>
      </p:sp>
      <p:sp>
        <p:nvSpPr>
          <p:cNvPr id="13" name="Text 10"/>
          <p:cNvSpPr txBox="1"/>
          <p:nvPr/>
        </p:nvSpPr>
        <p:spPr>
          <a:xfrm>
            <a:off x="457200" y="2203704"/>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txBox="1"/>
          <p:nvPr/>
        </p:nvSpPr>
        <p:spPr>
          <a:xfrm>
            <a:off x="914400" y="2185416"/>
            <a:ext cx="7772400" cy="521208"/>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Tested on cars the model had not seen: for 62 of every 100 cars the prediction is at most 5 seconds off, for 91 of every 100 at most 10 seconds (→ slide 12)</a:t>
            </a:r>
            <a:endParaRPr lang="en-US" sz="1400" dirty="0"/>
          </a:p>
        </p:txBody>
      </p:sp>
      <p:sp>
        <p:nvSpPr>
          <p:cNvPr id="15" name="num4"/>
          <p:cNvSpPr/>
          <p:nvPr/>
        </p:nvSpPr>
        <p:spPr>
          <a:xfrm>
            <a:off x="457200" y="2770632"/>
            <a:ext cx="329184" cy="329184"/>
          </a:xfrm>
          <a:prstGeom prst="ellipse">
            <a:avLst/>
          </a:prstGeom>
          <a:solidFill>
            <a:srgbClr val="2B7BD8"/>
          </a:solidFill>
          <a:ln w="12700">
            <a:solidFill>
              <a:srgbClr val="2B7BD8"/>
            </a:solidFill>
            <a:prstDash val="solid"/>
          </a:ln>
        </p:spPr>
      </p:sp>
      <p:sp>
        <p:nvSpPr>
          <p:cNvPr id="16" name="Text 13"/>
          <p:cNvSpPr txBox="1"/>
          <p:nvPr/>
        </p:nvSpPr>
        <p:spPr>
          <a:xfrm>
            <a:off x="457200" y="277063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txBox="1"/>
          <p:nvPr/>
        </p:nvSpPr>
        <p:spPr>
          <a:xfrm>
            <a:off x="914400" y="2752344"/>
            <a:ext cx="7772400" cy="521208"/>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10 biggest misses are all long tests (over 136 seconds) that took longer than predicted – they cannot be predicted from the configuration (→ slide 34)</a:t>
            </a:r>
            <a:endParaRPr lang="en-US" sz="1400" dirty="0"/>
          </a:p>
        </p:txBody>
      </p:sp>
      <p:sp>
        <p:nvSpPr>
          <p:cNvPr id="18" name="num5"/>
          <p:cNvSpPr/>
          <p:nvPr/>
        </p:nvSpPr>
        <p:spPr>
          <a:xfrm>
            <a:off x="457200" y="3337560"/>
            <a:ext cx="329184" cy="329184"/>
          </a:xfrm>
          <a:prstGeom prst="ellipse">
            <a:avLst/>
          </a:prstGeom>
          <a:solidFill>
            <a:srgbClr val="2B7BD8"/>
          </a:solidFill>
          <a:ln w="12700">
            <a:solidFill>
              <a:srgbClr val="2B7BD8"/>
            </a:solidFill>
            <a:prstDash val="solid"/>
          </a:ln>
        </p:spPr>
      </p:sp>
      <p:sp>
        <p:nvSpPr>
          <p:cNvPr id="19" name="Text 16"/>
          <p:cNvSpPr txBox="1"/>
          <p:nvPr/>
        </p:nvSpPr>
        <p:spPr>
          <a:xfrm>
            <a:off x="457200" y="333756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7"/>
          <p:cNvSpPr txBox="1"/>
          <p:nvPr/>
        </p:nvSpPr>
        <p:spPr>
          <a:xfrm>
            <a:off x="914400" y="3319272"/>
            <a:ext cx="7772400" cy="521208"/>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Official Kaggle test on 4,209 hidden cars: our model explains 54.1 %, the winner 55.6 % → 97 % of the winner and 91 % of the limit, with one column (→ slide 13)</a:t>
            </a:r>
            <a:endParaRPr lang="en-US" sz="1400" dirty="0"/>
          </a:p>
        </p:txBody>
      </p:sp>
      <p:sp>
        <p:nvSpPr>
          <p:cNvPr id="21" name="meaning"/>
          <p:cNvSpPr/>
          <p:nvPr/>
        </p:nvSpPr>
        <p:spPr>
          <a:xfrm>
            <a:off x="457200" y="3931920"/>
            <a:ext cx="8229600" cy="457200"/>
          </a:xfrm>
          <a:prstGeom prst="roundRect">
            <a:avLst>
              <a:gd name="adj" fmla="val 16000"/>
            </a:avLst>
          </a:prstGeom>
          <a:solidFill>
            <a:srgbClr val="E6F3EC"/>
          </a:solidFill>
          <a:ln w="12700">
            <a:solidFill>
              <a:srgbClr val="E6F3EC"/>
            </a:solidFill>
            <a:prstDash val="solid"/>
          </a:ln>
        </p:spPr>
      </p:sp>
      <p:sp>
        <p:nvSpPr>
          <p:cNvPr id="22" name="Text 19"/>
          <p:cNvSpPr txBox="1"/>
          <p:nvPr/>
        </p:nvSpPr>
        <p:spPr>
          <a:xfrm>
            <a:off x="640080" y="3931920"/>
            <a:ext cx="7863840" cy="457200"/>
          </a:xfrm>
          <a:prstGeom prst="rect">
            <a:avLst/>
          </a:prstGeom>
          <a:noFill/>
          <a:ln/>
        </p:spPr>
        <p:txBody>
          <a:bodyPr wrap="square" lIns="0" tIns="0" rIns="0" bIns="0" rtlCol="0" anchor="ctr"/>
          <a:lstStyle/>
          <a:p>
            <a:pPr indent="0" marL="0">
              <a:buNone/>
            </a:pPr>
            <a:r>
              <a:rPr lang="en-US" sz="1400" b="1" dirty="0">
                <a:solidFill>
                  <a:srgbClr val="2E8B57"/>
                </a:solidFill>
                <a:latin typeface="Calibri" pitchFamily="34" charset="0"/>
                <a:ea typeface="Calibri" pitchFamily="34" charset="-122"/>
                <a:cs typeface="Calibri" pitchFamily="34" charset="-120"/>
              </a:rPr>
              <a:t>Meaning: </a:t>
            </a:r>
            <a:pPr indent="0" marL="0">
              <a:buNone/>
            </a:pPr>
            <a:r>
              <a:rPr lang="en-US" sz="1400" dirty="0">
                <a:solidFill>
                  <a:srgbClr val="1F2933"/>
                </a:solidFill>
                <a:latin typeface="Calibri" pitchFamily="34" charset="0"/>
                <a:ea typeface="Calibri" pitchFamily="34" charset="-122"/>
                <a:cs typeface="Calibri" pitchFamily="34" charset="-120"/>
              </a:rPr>
              <a:t>the data, not the choice of algorithm, sets the limit – this answers H2.</a:t>
            </a:r>
            <a:endParaRPr lang="en-US" sz="1400" dirty="0"/>
          </a:p>
        </p:txBody>
      </p:sp>
      <p:sp>
        <p:nvSpPr>
          <p:cNvPr id="23" name="Text 20"/>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i="1" dirty="0">
                <a:solidFill>
                  <a:srgbClr val="5B6670"/>
                </a:solidFill>
                <a:latin typeface="Calibri" pitchFamily="34" charset="0"/>
                <a:ea typeface="Calibri" pitchFamily="34" charset="-122"/>
                <a:cs typeface="Calibri" pitchFamily="34" charset="-120"/>
              </a:rPr>
              <a:t>Source: content list #21 (D37; reworded: changes 22, 23, D59; 25, 27, 28, D64); long tests not predictable: Step 29 (D61); test basis ±5 / ±10 s: Step 26 (out-of-fold, 4,208 cars); Steps 20, 23, 24 (D40); final model D43; ±5 / ±10 s: Steps 26–27 (D42); Kaggle 0.54107 vs 0.55550: D47, D44; 91 % = 0.54107 / 0.5965: handover 23 Part B (D50)</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Three models compared</a:t>
            </a:r>
            <a:endParaRPr lang="en-US" sz="2600" dirty="0"/>
          </a:p>
        </p:txBody>
      </p:sp>
      <p:sp>
        <p:nvSpPr>
          <p:cNvPr id="3" name="tag"/>
          <p:cNvSpPr/>
          <p:nvPr/>
        </p:nvSpPr>
        <p:spPr>
          <a:xfrm>
            <a:off x="7818120" y="347472"/>
            <a:ext cx="868680" cy="274320"/>
          </a:xfrm>
          <a:prstGeom prst="roundRect">
            <a:avLst>
              <a:gd name="adj" fmla="val 26667"/>
            </a:avLst>
          </a:prstGeom>
          <a:solidFill>
            <a:srgbClr val="2E8B57"/>
          </a:solidFill>
          <a:ln w="12700">
            <a:solidFill>
              <a:srgbClr val="2E8B57"/>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Main · M3</a:t>
            </a:r>
            <a:endParaRPr lang="en-US" sz="900" dirty="0"/>
          </a:p>
        </p:txBody>
      </p:sp>
      <p:sp>
        <p:nvSpPr>
          <p:cNvPr id="6" name="Text 3"/>
          <p:cNvSpPr txBox="1"/>
          <p:nvPr/>
        </p:nvSpPr>
        <p:spPr>
          <a:xfrm>
            <a:off x="457200" y="1005840"/>
            <a:ext cx="2194560" cy="441960"/>
          </a:xfrm>
          <a:prstGeom prst="rect">
            <a:avLst/>
          </a:prstGeom>
          <a:noFill/>
          <a:ln/>
        </p:spPr>
        <p:txBody>
          <a:bodyPr wrap="square" lIns="0" tIns="0" rIns="0" bIns="0" rtlCol="0" anchor="ctr"/>
          <a:lstStyle/>
          <a:p>
            <a:pPr algn="r" indent="0" marL="0">
              <a:buNone/>
            </a:pPr>
            <a:r>
              <a:rPr lang="en-US" sz="1100" dirty="0">
                <a:solidFill>
                  <a:srgbClr val="1F2933"/>
                </a:solidFill>
                <a:latin typeface="Calibri" pitchFamily="34" charset="0"/>
                <a:ea typeface="Calibri" pitchFamily="34" charset="-122"/>
                <a:cs typeface="Calibri" pitchFamily="34" charset="-120"/>
              </a:rPr>
              <a:t>Same average for every car</a:t>
            </a:r>
            <a:endParaRPr lang="en-US" sz="1100" dirty="0"/>
          </a:p>
        </p:txBody>
      </p:sp>
      <p:sp>
        <p:nvSpPr>
          <p:cNvPr id="7" name="bar0"/>
          <p:cNvSpPr/>
          <p:nvPr/>
        </p:nvSpPr>
        <p:spPr>
          <a:xfrm>
            <a:off x="2743200" y="1085393"/>
            <a:ext cx="2229483" cy="282854"/>
          </a:xfrm>
          <a:prstGeom prst="rect">
            <a:avLst/>
          </a:prstGeom>
          <a:solidFill>
            <a:srgbClr val="5B6670"/>
          </a:solidFill>
          <a:ln w="12700">
            <a:solidFill>
              <a:srgbClr val="5B6670"/>
            </a:solidFill>
            <a:prstDash val="solid"/>
          </a:ln>
        </p:spPr>
      </p:sp>
      <p:sp>
        <p:nvSpPr>
          <p:cNvPr id="8" name="Text 5"/>
          <p:cNvSpPr txBox="1"/>
          <p:nvPr/>
        </p:nvSpPr>
        <p:spPr>
          <a:xfrm>
            <a:off x="5045835" y="1005840"/>
            <a:ext cx="1737360" cy="44196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12.43 s · 0 %</a:t>
            </a:r>
            <a:endParaRPr lang="en-US" sz="1100" dirty="0"/>
          </a:p>
        </p:txBody>
      </p:sp>
      <p:sp>
        <p:nvSpPr>
          <p:cNvPr id="9" name="Text 6"/>
          <p:cNvSpPr txBox="1"/>
          <p:nvPr/>
        </p:nvSpPr>
        <p:spPr>
          <a:xfrm>
            <a:off x="457200" y="1447800"/>
            <a:ext cx="2194560" cy="441960"/>
          </a:xfrm>
          <a:prstGeom prst="rect">
            <a:avLst/>
          </a:prstGeom>
          <a:noFill/>
          <a:ln/>
        </p:spPr>
        <p:txBody>
          <a:bodyPr wrap="square" lIns="0" tIns="0" rIns="0" bIns="0" rtlCol="0" anchor="ctr"/>
          <a:lstStyle/>
          <a:p>
            <a:pPr algn="r" indent="0" marL="0">
              <a:buNone/>
            </a:pPr>
            <a:r>
              <a:rPr lang="en-US" sz="1100" dirty="0">
                <a:solidFill>
                  <a:srgbClr val="1F2933"/>
                </a:solidFill>
                <a:latin typeface="Calibri" pitchFamily="34" charset="0"/>
                <a:ea typeface="Calibri" pitchFamily="34" charset="-122"/>
                <a:cs typeface="Calibri" pitchFamily="34" charset="-120"/>
              </a:rPr>
              <a:t>Average per X0 group</a:t>
            </a:r>
            <a:endParaRPr lang="en-US" sz="1100" dirty="0"/>
          </a:p>
        </p:txBody>
      </p:sp>
      <p:sp>
        <p:nvSpPr>
          <p:cNvPr id="10" name="bar1"/>
          <p:cNvSpPr/>
          <p:nvPr/>
        </p:nvSpPr>
        <p:spPr>
          <a:xfrm>
            <a:off x="2743200" y="1527353"/>
            <a:ext cx="1429524" cy="282854"/>
          </a:xfrm>
          <a:prstGeom prst="rect">
            <a:avLst/>
          </a:prstGeom>
          <a:solidFill>
            <a:srgbClr val="2B7BD8"/>
          </a:solidFill>
          <a:ln w="12700">
            <a:solidFill>
              <a:srgbClr val="2B7BD8"/>
            </a:solidFill>
            <a:prstDash val="solid"/>
          </a:ln>
        </p:spPr>
      </p:sp>
      <p:sp>
        <p:nvSpPr>
          <p:cNvPr id="11" name="Text 8"/>
          <p:cNvSpPr txBox="1"/>
          <p:nvPr/>
        </p:nvSpPr>
        <p:spPr>
          <a:xfrm>
            <a:off x="4245876" y="1447800"/>
            <a:ext cx="1737360" cy="44196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7.97 s · 58.7 %</a:t>
            </a:r>
            <a:endParaRPr lang="en-US" sz="1100" dirty="0"/>
          </a:p>
        </p:txBody>
      </p:sp>
      <p:sp>
        <p:nvSpPr>
          <p:cNvPr id="12" name="Text 9"/>
          <p:cNvSpPr txBox="1"/>
          <p:nvPr/>
        </p:nvSpPr>
        <p:spPr>
          <a:xfrm>
            <a:off x="457200" y="1889760"/>
            <a:ext cx="2194560" cy="441960"/>
          </a:xfrm>
          <a:prstGeom prst="rect">
            <a:avLst/>
          </a:prstGeom>
          <a:noFill/>
          <a:ln/>
        </p:spPr>
        <p:txBody>
          <a:bodyPr wrap="square" lIns="0" tIns="0" rIns="0" bIns="0" rtlCol="0" anchor="ctr"/>
          <a:lstStyle/>
          <a:p>
            <a:pPr algn="r" indent="0" marL="0">
              <a:buNone/>
            </a:pPr>
            <a:r>
              <a:rPr lang="en-US" sz="1100" dirty="0">
                <a:solidFill>
                  <a:srgbClr val="1F2933"/>
                </a:solidFill>
                <a:latin typeface="Calibri" pitchFamily="34" charset="0"/>
                <a:ea typeface="Calibri" pitchFamily="34" charset="-122"/>
                <a:cs typeface="Calibri" pitchFamily="34" charset="-120"/>
              </a:rPr>
              <a:t>Ridge: X0 only</a:t>
            </a:r>
            <a:endParaRPr lang="en-US" sz="1100" dirty="0"/>
          </a:p>
        </p:txBody>
      </p:sp>
      <p:sp>
        <p:nvSpPr>
          <p:cNvPr id="13" name="bar2"/>
          <p:cNvSpPr/>
          <p:nvPr/>
        </p:nvSpPr>
        <p:spPr>
          <a:xfrm>
            <a:off x="2743200" y="1969313"/>
            <a:ext cx="1429524" cy="282854"/>
          </a:xfrm>
          <a:prstGeom prst="rect">
            <a:avLst/>
          </a:prstGeom>
          <a:solidFill>
            <a:srgbClr val="2B7BD8"/>
          </a:solidFill>
          <a:ln w="12700">
            <a:solidFill>
              <a:srgbClr val="2B7BD8"/>
            </a:solidFill>
            <a:prstDash val="solid"/>
          </a:ln>
        </p:spPr>
      </p:sp>
      <p:sp>
        <p:nvSpPr>
          <p:cNvPr id="14" name="Text 11"/>
          <p:cNvSpPr txBox="1"/>
          <p:nvPr/>
        </p:nvSpPr>
        <p:spPr>
          <a:xfrm>
            <a:off x="4245876" y="1889760"/>
            <a:ext cx="1737360" cy="44196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7.97 s · 58.7 %</a:t>
            </a:r>
            <a:endParaRPr lang="en-US" sz="1100" dirty="0"/>
          </a:p>
        </p:txBody>
      </p:sp>
      <p:sp>
        <p:nvSpPr>
          <p:cNvPr id="15" name="Text 12"/>
          <p:cNvSpPr txBox="1"/>
          <p:nvPr/>
        </p:nvSpPr>
        <p:spPr>
          <a:xfrm>
            <a:off x="457200" y="2331720"/>
            <a:ext cx="2194560" cy="441960"/>
          </a:xfrm>
          <a:prstGeom prst="rect">
            <a:avLst/>
          </a:prstGeom>
          <a:noFill/>
          <a:ln/>
        </p:spPr>
        <p:txBody>
          <a:bodyPr wrap="square" lIns="0" tIns="0" rIns="0" bIns="0" rtlCol="0" anchor="ctr"/>
          <a:lstStyle/>
          <a:p>
            <a:pPr algn="r" indent="0" marL="0">
              <a:buNone/>
            </a:pPr>
            <a:r>
              <a:rPr lang="en-US" sz="1100" dirty="0">
                <a:solidFill>
                  <a:srgbClr val="1F2933"/>
                </a:solidFill>
                <a:latin typeface="Calibri" pitchFamily="34" charset="0"/>
                <a:ea typeface="Calibri" pitchFamily="34" charset="-122"/>
                <a:cs typeface="Calibri" pitchFamily="34" charset="-120"/>
              </a:rPr>
              <a:t>Ridge: all 310 columns</a:t>
            </a:r>
            <a:endParaRPr lang="en-US" sz="1100" dirty="0"/>
          </a:p>
        </p:txBody>
      </p:sp>
      <p:sp>
        <p:nvSpPr>
          <p:cNvPr id="16" name="bar3"/>
          <p:cNvSpPr/>
          <p:nvPr/>
        </p:nvSpPr>
        <p:spPr>
          <a:xfrm>
            <a:off x="2743200" y="2411273"/>
            <a:ext cx="1451047" cy="282854"/>
          </a:xfrm>
          <a:prstGeom prst="rect">
            <a:avLst/>
          </a:prstGeom>
          <a:solidFill>
            <a:srgbClr val="2B7BD8"/>
          </a:solidFill>
          <a:ln w="12700">
            <a:solidFill>
              <a:srgbClr val="2B7BD8"/>
            </a:solidFill>
            <a:prstDash val="solid"/>
          </a:ln>
        </p:spPr>
      </p:sp>
      <p:sp>
        <p:nvSpPr>
          <p:cNvPr id="17" name="Text 14"/>
          <p:cNvSpPr txBox="1"/>
          <p:nvPr/>
        </p:nvSpPr>
        <p:spPr>
          <a:xfrm>
            <a:off x="4267399" y="2331720"/>
            <a:ext cx="1737360" cy="44196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8.09 s · 57.4 %</a:t>
            </a:r>
            <a:endParaRPr lang="en-US" sz="1100" dirty="0"/>
          </a:p>
        </p:txBody>
      </p:sp>
      <p:sp>
        <p:nvSpPr>
          <p:cNvPr id="18" name="Text 15"/>
          <p:cNvSpPr txBox="1"/>
          <p:nvPr/>
        </p:nvSpPr>
        <p:spPr>
          <a:xfrm>
            <a:off x="457200" y="2773680"/>
            <a:ext cx="2194560" cy="441960"/>
          </a:xfrm>
          <a:prstGeom prst="rect">
            <a:avLst/>
          </a:prstGeom>
          <a:noFill/>
          <a:ln/>
        </p:spPr>
        <p:txBody>
          <a:bodyPr wrap="square" lIns="0" tIns="0" rIns="0" bIns="0" rtlCol="0" anchor="ctr"/>
          <a:lstStyle/>
          <a:p>
            <a:pPr algn="r" indent="0" marL="0">
              <a:buNone/>
            </a:pPr>
            <a:r>
              <a:rPr lang="en-US" sz="1100" dirty="0">
                <a:solidFill>
                  <a:srgbClr val="1F2933"/>
                </a:solidFill>
                <a:latin typeface="Calibri" pitchFamily="34" charset="0"/>
                <a:ea typeface="Calibri" pitchFamily="34" charset="-122"/>
                <a:cs typeface="Calibri" pitchFamily="34" charset="-120"/>
              </a:rPr>
              <a:t>Random Forest: all 310 columns</a:t>
            </a:r>
            <a:endParaRPr lang="en-US" sz="1100" dirty="0"/>
          </a:p>
        </p:txBody>
      </p:sp>
      <p:sp>
        <p:nvSpPr>
          <p:cNvPr id="19" name="bar4"/>
          <p:cNvSpPr/>
          <p:nvPr/>
        </p:nvSpPr>
        <p:spPr>
          <a:xfrm>
            <a:off x="2743200" y="2853233"/>
            <a:ext cx="1425936" cy="282854"/>
          </a:xfrm>
          <a:prstGeom prst="rect">
            <a:avLst/>
          </a:prstGeom>
          <a:solidFill>
            <a:srgbClr val="164A82"/>
          </a:solidFill>
          <a:ln w="12700">
            <a:solidFill>
              <a:srgbClr val="164A82"/>
            </a:solidFill>
            <a:prstDash val="solid"/>
          </a:ln>
        </p:spPr>
      </p:sp>
      <p:sp>
        <p:nvSpPr>
          <p:cNvPr id="20" name="Text 17"/>
          <p:cNvSpPr txBox="1"/>
          <p:nvPr/>
        </p:nvSpPr>
        <p:spPr>
          <a:xfrm>
            <a:off x="4242288" y="2773680"/>
            <a:ext cx="1737360" cy="44196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7.95 s · 58.9 %</a:t>
            </a:r>
            <a:endParaRPr lang="en-US" sz="1100" dirty="0"/>
          </a:p>
        </p:txBody>
      </p:sp>
      <p:sp>
        <p:nvSpPr>
          <p:cNvPr id="21" name="Text 18"/>
          <p:cNvSpPr txBox="1"/>
          <p:nvPr/>
        </p:nvSpPr>
        <p:spPr>
          <a:xfrm>
            <a:off x="457200" y="3215640"/>
            <a:ext cx="2194560" cy="441960"/>
          </a:xfrm>
          <a:prstGeom prst="rect">
            <a:avLst/>
          </a:prstGeom>
          <a:noFill/>
          <a:ln/>
        </p:spPr>
        <p:txBody>
          <a:bodyPr wrap="square" lIns="0" tIns="0" rIns="0" bIns="0" rtlCol="0" anchor="ctr"/>
          <a:lstStyle/>
          <a:p>
            <a:pPr algn="r" indent="0" marL="0">
              <a:buNone/>
            </a:pPr>
            <a:r>
              <a:rPr lang="en-US" sz="1100" dirty="0">
                <a:solidFill>
                  <a:srgbClr val="1F2933"/>
                </a:solidFill>
                <a:latin typeface="Calibri" pitchFamily="34" charset="0"/>
                <a:ea typeface="Calibri" pitchFamily="34" charset="-122"/>
                <a:cs typeface="Calibri" pitchFamily="34" charset="-120"/>
              </a:rPr>
              <a:t>XGBoost: all 310 columns</a:t>
            </a:r>
            <a:endParaRPr lang="en-US" sz="1100" dirty="0"/>
          </a:p>
        </p:txBody>
      </p:sp>
      <p:sp>
        <p:nvSpPr>
          <p:cNvPr id="22" name="bar5"/>
          <p:cNvSpPr/>
          <p:nvPr/>
        </p:nvSpPr>
        <p:spPr>
          <a:xfrm>
            <a:off x="2743200" y="3295193"/>
            <a:ext cx="1418762" cy="282854"/>
          </a:xfrm>
          <a:prstGeom prst="rect">
            <a:avLst/>
          </a:prstGeom>
          <a:solidFill>
            <a:srgbClr val="164A82"/>
          </a:solidFill>
          <a:ln w="12700">
            <a:solidFill>
              <a:srgbClr val="164A82"/>
            </a:solidFill>
            <a:prstDash val="solid"/>
          </a:ln>
        </p:spPr>
      </p:sp>
      <p:sp>
        <p:nvSpPr>
          <p:cNvPr id="23" name="Text 20"/>
          <p:cNvSpPr txBox="1"/>
          <p:nvPr/>
        </p:nvSpPr>
        <p:spPr>
          <a:xfrm>
            <a:off x="4235114" y="3215640"/>
            <a:ext cx="1737360" cy="44196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7.91 s · 59.3 %</a:t>
            </a:r>
            <a:endParaRPr lang="en-US" sz="1100" dirty="0"/>
          </a:p>
        </p:txBody>
      </p:sp>
      <p:sp>
        <p:nvSpPr>
          <p:cNvPr id="24" name="refline"/>
          <p:cNvSpPr/>
          <p:nvPr/>
        </p:nvSpPr>
        <p:spPr>
          <a:xfrm>
            <a:off x="4196041" y="960120"/>
            <a:ext cx="0" cy="2743200"/>
          </a:xfrm>
          <a:prstGeom prst="line">
            <a:avLst/>
          </a:prstGeom>
          <a:noFill/>
          <a:ln w="19050">
            <a:solidFill>
              <a:srgbClr val="2E8B57"/>
            </a:solidFill>
            <a:prstDash val="dash"/>
          </a:ln>
        </p:spPr>
      </p:sp>
      <p:sp>
        <p:nvSpPr>
          <p:cNvPr id="25" name="Text 22"/>
          <p:cNvSpPr txBox="1"/>
          <p:nvPr/>
        </p:nvSpPr>
        <p:spPr>
          <a:xfrm>
            <a:off x="2733001" y="3675888"/>
            <a:ext cx="2926080" cy="256032"/>
          </a:xfrm>
          <a:prstGeom prst="rect">
            <a:avLst/>
          </a:prstGeom>
          <a:noFill/>
          <a:ln/>
        </p:spPr>
        <p:txBody>
          <a:bodyPr wrap="square" lIns="0" tIns="0" rIns="0" bIns="0" rtlCol="0" anchor="t"/>
          <a:lstStyle/>
          <a:p>
            <a:pPr algn="ctr" indent="0" marL="0">
              <a:buNone/>
            </a:pPr>
            <a:r>
              <a:rPr lang="en-US" sz="1000" b="1" dirty="0">
                <a:solidFill>
                  <a:srgbClr val="2E8B57"/>
                </a:solidFill>
                <a:latin typeface="Calibri" pitchFamily="34" charset="0"/>
                <a:ea typeface="Calibri" pitchFamily="34" charset="-122"/>
                <a:cs typeface="Calibri" pitchFamily="34" charset="-120"/>
              </a:rPr>
              <a:t>noise floor 8.1 s</a:t>
            </a:r>
            <a:endParaRPr lang="en-US" sz="1000" dirty="0"/>
          </a:p>
        </p:txBody>
      </p:sp>
      <p:sp>
        <p:nvSpPr>
          <p:cNvPr id="26" name="Text 23"/>
          <p:cNvSpPr txBox="1"/>
          <p:nvPr/>
        </p:nvSpPr>
        <p:spPr>
          <a:xfrm>
            <a:off x="6355080" y="1051560"/>
            <a:ext cx="2331720" cy="2834640"/>
          </a:xfrm>
          <a:prstGeom prst="rect">
            <a:avLst/>
          </a:prstGeom>
          <a:noFill/>
          <a:ln/>
        </p:spPr>
        <p:txBody>
          <a:bodyPr wrap="square" lIns="0" tIns="0" rIns="0" bIns="0" rtlCol="0" anchor="t"/>
          <a:lstStyle/>
          <a:p>
            <a:pPr indent="0" marL="0">
              <a:buNone/>
            </a:pPr>
            <a:r>
              <a:rPr lang="en-US" sz="1200" b="1" dirty="0">
                <a:solidFill>
                  <a:srgbClr val="1F2933"/>
                </a:solidFill>
                <a:latin typeface="Calibri" pitchFamily="34" charset="0"/>
                <a:ea typeface="Calibri" pitchFamily="34" charset="-122"/>
                <a:cs typeface="Calibri" pitchFamily="34" charset="-120"/>
              </a:rPr>
              <a:t>Typical miss · share explained (our own test, 4,208 cars)</a:t>
            </a:r>
            <a:endParaRPr lang="en-US" sz="1200" dirty="0"/>
          </a:p>
          <a:p>
            <a:pPr indent="0" marL="0">
              <a:buNone/>
            </a:pPr>
            <a:r>
              <a:rPr lang="en-US" sz="1200" dirty="0">
                <a:solidFill>
                  <a:srgbClr val="1F2933"/>
                </a:solidFill>
                <a:latin typeface="Calibri" pitchFamily="34" charset="0"/>
                <a:ea typeface="Calibri" pitchFamily="34" charset="-122"/>
                <a:cs typeface="Calibri" pitchFamily="34" charset="-120"/>
              </a:rPr>
              <a:t>All three miss by about 8 seconds. The differences (at most 0.6 percentage points) are smaller than the normal variation between the 5 test rounds (about ± 3.5 points) → equal. (→ slide 32)</a:t>
            </a:r>
            <a:endParaRPr lang="en-US" sz="1200" dirty="0"/>
          </a:p>
        </p:txBody>
      </p:sp>
      <p:sp>
        <p:nvSpPr>
          <p:cNvPr id="27" name="meaning"/>
          <p:cNvSpPr/>
          <p:nvPr/>
        </p:nvSpPr>
        <p:spPr>
          <a:xfrm>
            <a:off x="457200" y="4023360"/>
            <a:ext cx="8229600" cy="411480"/>
          </a:xfrm>
          <a:prstGeom prst="roundRect">
            <a:avLst>
              <a:gd name="adj" fmla="val 17778"/>
            </a:avLst>
          </a:prstGeom>
          <a:solidFill>
            <a:srgbClr val="E6F3EC"/>
          </a:solidFill>
          <a:ln w="12700">
            <a:solidFill>
              <a:srgbClr val="E6F3EC"/>
            </a:solidFill>
            <a:prstDash val="solid"/>
          </a:ln>
        </p:spPr>
      </p:sp>
      <p:sp>
        <p:nvSpPr>
          <p:cNvPr id="28" name="Text 25"/>
          <p:cNvSpPr txBox="1"/>
          <p:nvPr/>
        </p:nvSpPr>
        <p:spPr>
          <a:xfrm>
            <a:off x="640080" y="4023360"/>
            <a:ext cx="7863840" cy="411480"/>
          </a:xfrm>
          <a:prstGeom prst="rect">
            <a:avLst/>
          </a:prstGeom>
          <a:noFill/>
          <a:ln/>
        </p:spPr>
        <p:txBody>
          <a:bodyPr wrap="square" lIns="0" tIns="0" rIns="0" bIns="0" rtlCol="0" anchor="ctr"/>
          <a:lstStyle/>
          <a:p>
            <a:pPr indent="0" marL="0">
              <a:buNone/>
            </a:pPr>
            <a:r>
              <a:rPr lang="en-US" sz="1400" b="1" dirty="0">
                <a:solidFill>
                  <a:srgbClr val="2E8B57"/>
                </a:solidFill>
                <a:latin typeface="Calibri" pitchFamily="34" charset="0"/>
                <a:ea typeface="Calibri" pitchFamily="34" charset="-122"/>
                <a:cs typeface="Calibri" pitchFamily="34" charset="-120"/>
              </a:rPr>
              <a:t>Meaning: </a:t>
            </a:r>
            <a:pPr indent="0" marL="0">
              <a:buNone/>
            </a:pPr>
            <a:r>
              <a:rPr lang="en-US" sz="1400" dirty="0">
                <a:solidFill>
                  <a:srgbClr val="1F2933"/>
                </a:solidFill>
                <a:latin typeface="Calibri" pitchFamily="34" charset="0"/>
                <a:ea typeface="Calibri" pitchFamily="34" charset="-122"/>
                <a:cs typeface="Calibri" pitchFamily="34" charset="-120"/>
              </a:rPr>
              <a:t>we keep the simplest model: Ridge with X0 only.</a:t>
            </a:r>
            <a:endParaRPr lang="en-US" sz="1400" dirty="0"/>
          </a:p>
        </p:txBody>
      </p:sp>
      <p:sp>
        <p:nvSpPr>
          <p:cNvPr id="29" name="Text 26"/>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explained on slides 31–33   </a:t>
            </a:r>
            <a:pPr indent="0" marL="0">
              <a:buNone/>
            </a:pPr>
            <a:r>
              <a:rPr lang="en-US" sz="900" i="1" dirty="0">
                <a:solidFill>
                  <a:srgbClr val="5B6670"/>
                </a:solidFill>
                <a:latin typeface="Calibri" pitchFamily="34" charset="0"/>
                <a:ea typeface="Calibri" pitchFamily="34" charset="-122"/>
                <a:cs typeface="Calibri" pitchFamily="34" charset="-120"/>
              </a:rPr>
              <a:t>Source: content list #19; chart redrawn with plain labels from the Step 25 table (changes 26, 27, D64); R²: Steps 20, 23, 24 (D40); ± 0.035–0.042 per model: handover 28 (D58); seconds per model: Step 25 chart; equal within noise: R54, D40; final model: D43</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Where the model fails</a:t>
            </a:r>
            <a:endParaRPr lang="en-US" sz="2600" dirty="0"/>
          </a:p>
        </p:txBody>
      </p:sp>
      <p:sp>
        <p:nvSpPr>
          <p:cNvPr id="3" name="tag"/>
          <p:cNvSpPr/>
          <p:nvPr/>
        </p:nvSpPr>
        <p:spPr>
          <a:xfrm>
            <a:off x="7818120" y="347472"/>
            <a:ext cx="868680" cy="274320"/>
          </a:xfrm>
          <a:prstGeom prst="roundRect">
            <a:avLst>
              <a:gd name="adj" fmla="val 26667"/>
            </a:avLst>
          </a:prstGeom>
          <a:solidFill>
            <a:srgbClr val="2E8B57"/>
          </a:solidFill>
          <a:ln w="12700">
            <a:solidFill>
              <a:srgbClr val="2E8B57"/>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Main · M3</a:t>
            </a:r>
            <a:endParaRPr lang="en-US" sz="900" dirty="0"/>
          </a:p>
        </p:txBody>
      </p:sp>
      <p:sp>
        <p:nvSpPr>
          <p:cNvPr id="6" name="Text 3"/>
          <p:cNvSpPr txBox="1"/>
          <p:nvPr/>
        </p:nvSpPr>
        <p:spPr>
          <a:xfrm>
            <a:off x="457200" y="1005840"/>
            <a:ext cx="2377440" cy="685800"/>
          </a:xfrm>
          <a:prstGeom prst="rect">
            <a:avLst/>
          </a:prstGeom>
          <a:noFill/>
          <a:ln/>
        </p:spPr>
        <p:txBody>
          <a:bodyPr wrap="square" lIns="0" tIns="0" rIns="0" bIns="0" rtlCol="0" anchor="b"/>
          <a:lstStyle/>
          <a:p>
            <a:pPr indent="0" marL="0">
              <a:buNone/>
            </a:pPr>
            <a:r>
              <a:rPr lang="en-US" sz="4000" b="1" dirty="0">
                <a:solidFill>
                  <a:srgbClr val="2B7BD8"/>
                </a:solidFill>
                <a:latin typeface="Cambria" pitchFamily="34" charset="0"/>
                <a:ea typeface="Cambria" pitchFamily="34" charset="-122"/>
                <a:cs typeface="Cambria" pitchFamily="34" charset="-120"/>
              </a:rPr>
              <a:t>62 %</a:t>
            </a:r>
            <a:endParaRPr lang="en-US" sz="4000" dirty="0"/>
          </a:p>
        </p:txBody>
      </p:sp>
      <p:sp>
        <p:nvSpPr>
          <p:cNvPr id="7" name="Text 4"/>
          <p:cNvSpPr txBox="1"/>
          <p:nvPr/>
        </p:nvSpPr>
        <p:spPr>
          <a:xfrm>
            <a:off x="457200" y="1737360"/>
            <a:ext cx="2377440" cy="548640"/>
          </a:xfrm>
          <a:prstGeom prst="rect">
            <a:avLst/>
          </a:prstGeom>
          <a:noFill/>
          <a:ln/>
        </p:spPr>
        <p:txBody>
          <a:bodyPr wrap="square" lIns="0" tIns="0" rIns="0" bIns="0" rtlCol="0" anchor="t"/>
          <a:lstStyle/>
          <a:p>
            <a:pPr indent="0" marL="0">
              <a:buNone/>
            </a:pPr>
            <a:r>
              <a:rPr lang="en-US" sz="1300" dirty="0">
                <a:solidFill>
                  <a:srgbClr val="5B6670"/>
                </a:solidFill>
                <a:latin typeface="Calibri" pitchFamily="34" charset="0"/>
                <a:ea typeface="Calibri" pitchFamily="34" charset="-122"/>
                <a:cs typeface="Calibri" pitchFamily="34" charset="-120"/>
              </a:rPr>
              <a:t>of cars: prediction at most 5 seconds off</a:t>
            </a:r>
            <a:endParaRPr lang="en-US" sz="1300" dirty="0"/>
          </a:p>
        </p:txBody>
      </p:sp>
      <p:sp>
        <p:nvSpPr>
          <p:cNvPr id="8" name="Text 5"/>
          <p:cNvSpPr txBox="1"/>
          <p:nvPr/>
        </p:nvSpPr>
        <p:spPr>
          <a:xfrm>
            <a:off x="2834640" y="1005840"/>
            <a:ext cx="2377440" cy="685800"/>
          </a:xfrm>
          <a:prstGeom prst="rect">
            <a:avLst/>
          </a:prstGeom>
          <a:noFill/>
          <a:ln/>
        </p:spPr>
        <p:txBody>
          <a:bodyPr wrap="square" lIns="0" tIns="0" rIns="0" bIns="0" rtlCol="0" anchor="b"/>
          <a:lstStyle/>
          <a:p>
            <a:pPr indent="0" marL="0">
              <a:buNone/>
            </a:pPr>
            <a:r>
              <a:rPr lang="en-US" sz="4000" b="1" dirty="0">
                <a:solidFill>
                  <a:srgbClr val="2E8B57"/>
                </a:solidFill>
                <a:latin typeface="Cambria" pitchFamily="34" charset="0"/>
                <a:ea typeface="Cambria" pitchFamily="34" charset="-122"/>
                <a:cs typeface="Cambria" pitchFamily="34" charset="-120"/>
              </a:rPr>
              <a:t>91 %</a:t>
            </a:r>
            <a:endParaRPr lang="en-US" sz="4000" dirty="0"/>
          </a:p>
        </p:txBody>
      </p:sp>
      <p:sp>
        <p:nvSpPr>
          <p:cNvPr id="9" name="Text 6"/>
          <p:cNvSpPr txBox="1"/>
          <p:nvPr/>
        </p:nvSpPr>
        <p:spPr>
          <a:xfrm>
            <a:off x="2834640" y="1737360"/>
            <a:ext cx="2377440" cy="548640"/>
          </a:xfrm>
          <a:prstGeom prst="rect">
            <a:avLst/>
          </a:prstGeom>
          <a:noFill/>
          <a:ln/>
        </p:spPr>
        <p:txBody>
          <a:bodyPr wrap="square" lIns="0" tIns="0" rIns="0" bIns="0" rtlCol="0" anchor="t"/>
          <a:lstStyle/>
          <a:p>
            <a:pPr indent="0" marL="0">
              <a:buNone/>
            </a:pPr>
            <a:r>
              <a:rPr lang="en-US" sz="1300" dirty="0">
                <a:solidFill>
                  <a:srgbClr val="5B6670"/>
                </a:solidFill>
                <a:latin typeface="Calibri" pitchFamily="34" charset="0"/>
                <a:ea typeface="Calibri" pitchFamily="34" charset="-122"/>
                <a:cs typeface="Calibri" pitchFamily="34" charset="-120"/>
              </a:rPr>
              <a:t>of cars: at most 10 seconds off</a:t>
            </a:r>
            <a:endParaRPr lang="en-US" sz="1300" dirty="0"/>
          </a:p>
        </p:txBody>
      </p:sp>
      <p:sp>
        <p:nvSpPr>
          <p:cNvPr id="10" name="Text 7"/>
          <p:cNvSpPr txBox="1"/>
          <p:nvPr/>
        </p:nvSpPr>
        <p:spPr>
          <a:xfrm>
            <a:off x="457200" y="2377440"/>
            <a:ext cx="4754880" cy="20116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Tested on cars the model had not seen (5-fold cross-validation, 4,208 cars) (→ slide 32)</a:t>
            </a:r>
            <a:endParaRPr lang="en-US" sz="1300" dirty="0"/>
          </a:p>
          <a:p>
            <a:pPr marL="342900" indent="-3429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The 10 biggest misses are all long tests (over 136 seconds), and all took longer than predicted (→ slide 34)</a:t>
            </a:r>
            <a:endParaRPr lang="en-US" sz="1300" dirty="0"/>
          </a:p>
          <a:p>
            <a:pPr marL="342900" indent="-3429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Cars with rare X0 codes are not the problem: average miss 5.7 seconds vs 5.3 seconds for common codes</a:t>
            </a:r>
            <a:endParaRPr lang="en-US" sz="1300" dirty="0"/>
          </a:p>
        </p:txBody>
      </p:sp>
      <p:pic>
        <p:nvPicPr>
          <p:cNvPr id="11" name="step27bars" descr="img/cell115c.png">    </p:cNvPr>
          <p:cNvPicPr>
            <a:picLocks noChangeAspect="1"/>
          </p:cNvPicPr>
          <p:nvPr/>
        </p:nvPicPr>
        <p:blipFill>
          <a:blip r:embed="rId1"/>
          <a:stretch>
            <a:fillRect/>
          </a:stretch>
        </p:blipFill>
        <p:spPr>
          <a:xfrm>
            <a:off x="5644074" y="960120"/>
            <a:ext cx="2793612" cy="3246120"/>
          </a:xfrm>
          <a:prstGeom prst="rect">
            <a:avLst/>
          </a:prstGeom>
        </p:spPr>
      </p:pic>
      <p:sp>
        <p:nvSpPr>
          <p:cNvPr id="12" name="Text 8"/>
          <p:cNvSpPr txBox="1"/>
          <p:nvPr/>
        </p:nvSpPr>
        <p:spPr>
          <a:xfrm>
            <a:off x="5394960" y="4224528"/>
            <a:ext cx="3291840" cy="228600"/>
          </a:xfrm>
          <a:prstGeom prst="rect">
            <a:avLst/>
          </a:prstGeom>
          <a:noFill/>
          <a:ln/>
        </p:spPr>
        <p:txBody>
          <a:bodyPr wrap="square" lIns="0" tIns="0" rIns="0" bIns="0" rtlCol="0" anchor="t"/>
          <a:lstStyle/>
          <a:p>
            <a:pPr algn="ctr" indent="0" marL="0">
              <a:buNone/>
            </a:pPr>
            <a:r>
              <a:rPr lang="en-US" sz="1000" dirty="0">
                <a:solidFill>
                  <a:srgbClr val="5B6670"/>
                </a:solidFill>
                <a:latin typeface="Calibri" pitchFamily="34" charset="0"/>
                <a:ea typeface="Calibri" pitchFamily="34" charset="-122"/>
                <a:cs typeface="Calibri" pitchFamily="34" charset="-120"/>
              </a:rPr>
              <a:t>average miss per X0 code (seconds)</a:t>
            </a:r>
            <a:endParaRPr lang="en-US" sz="1000" dirty="0"/>
          </a:p>
        </p:txBody>
      </p:sp>
      <p:sp>
        <p:nvSpPr>
          <p:cNvPr id="13" name="Text 9"/>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explained on slide 34   </a:t>
            </a:r>
            <a:pPr indent="0" marL="0">
              <a:buNone/>
            </a:pPr>
            <a:r>
              <a:rPr lang="en-US" sz="900" i="1" dirty="0">
                <a:solidFill>
                  <a:srgbClr val="5B6670"/>
                </a:solidFill>
                <a:latin typeface="Calibri" pitchFamily="34" charset="0"/>
                <a:ea typeface="Calibri" pitchFamily="34" charset="-122"/>
                <a:cs typeface="Calibri" pitchFamily="34" charset="-120"/>
              </a:rPr>
              <a:t>Source: content list #20; out-of-fold test: Step 26 (each car predicted by the model that did not see it); 62.1 % / 90.8 %, 10 worst &gt; 136.30 s: Steps 26–27 (R59–R63, D42); 5.72 s rare vs 5.29 s common: Step 27 (D42)</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What is a good score?</a:t>
            </a:r>
            <a:endParaRPr lang="en-US" sz="2600" dirty="0"/>
          </a:p>
        </p:txBody>
      </p:sp>
      <p:sp>
        <p:nvSpPr>
          <p:cNvPr id="3" name="tag"/>
          <p:cNvSpPr/>
          <p:nvPr/>
        </p:nvSpPr>
        <p:spPr>
          <a:xfrm>
            <a:off x="7818120" y="347472"/>
            <a:ext cx="868680" cy="274320"/>
          </a:xfrm>
          <a:prstGeom prst="roundRect">
            <a:avLst>
              <a:gd name="adj" fmla="val 26667"/>
            </a:avLst>
          </a:prstGeom>
          <a:solidFill>
            <a:srgbClr val="2E8B57"/>
          </a:solidFill>
          <a:ln w="12700">
            <a:solidFill>
              <a:srgbClr val="2E8B57"/>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Main · M3</a:t>
            </a:r>
            <a:endParaRPr lang="en-US" sz="900" dirty="0"/>
          </a:p>
        </p:txBody>
      </p:sp>
      <p:sp>
        <p:nvSpPr>
          <p:cNvPr id="6" name="Text 3"/>
          <p:cNvSpPr txBox="1"/>
          <p:nvPr/>
        </p:nvSpPr>
        <p:spPr>
          <a:xfrm>
            <a:off x="457200" y="1143000"/>
            <a:ext cx="1737360" cy="792480"/>
          </a:xfrm>
          <a:prstGeom prst="rect">
            <a:avLst/>
          </a:prstGeom>
          <a:noFill/>
          <a:ln/>
        </p:spPr>
        <p:txBody>
          <a:bodyPr wrap="square" lIns="0" tIns="0" rIns="0" bIns="0" rtlCol="0" anchor="ctr"/>
          <a:lstStyle/>
          <a:p>
            <a:pPr algn="r" indent="0" marL="0">
              <a:buNone/>
            </a:pPr>
            <a:r>
              <a:rPr lang="en-US" sz="1200" dirty="0">
                <a:solidFill>
                  <a:srgbClr val="1F2933"/>
                </a:solidFill>
                <a:latin typeface="Calibri" pitchFamily="34" charset="0"/>
                <a:ea typeface="Calibri" pitchFamily="34" charset="-122"/>
                <a:cs typeface="Calibri" pitchFamily="34" charset="-120"/>
              </a:rPr>
              <a:t>Our final model (Ridge, X0 only)</a:t>
            </a:r>
            <a:endParaRPr lang="en-US" sz="1200" dirty="0"/>
          </a:p>
        </p:txBody>
      </p:sp>
      <p:sp>
        <p:nvSpPr>
          <p:cNvPr id="7" name="bar0"/>
          <p:cNvSpPr/>
          <p:nvPr/>
        </p:nvSpPr>
        <p:spPr>
          <a:xfrm>
            <a:off x="2286000" y="1285646"/>
            <a:ext cx="1590076" cy="507187"/>
          </a:xfrm>
          <a:prstGeom prst="rect">
            <a:avLst/>
          </a:prstGeom>
          <a:solidFill>
            <a:srgbClr val="2B7BD8"/>
          </a:solidFill>
          <a:ln w="12700">
            <a:solidFill>
              <a:srgbClr val="2B7BD8"/>
            </a:solidFill>
            <a:prstDash val="solid"/>
          </a:ln>
        </p:spPr>
      </p:sp>
      <p:sp>
        <p:nvSpPr>
          <p:cNvPr id="8" name="Text 5"/>
          <p:cNvSpPr txBox="1"/>
          <p:nvPr/>
        </p:nvSpPr>
        <p:spPr>
          <a:xfrm>
            <a:off x="3949228" y="1143000"/>
            <a:ext cx="1737360" cy="79248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54.1 %</a:t>
            </a:r>
            <a:endParaRPr lang="en-US" sz="1200" dirty="0"/>
          </a:p>
        </p:txBody>
      </p:sp>
      <p:sp>
        <p:nvSpPr>
          <p:cNvPr id="9" name="Text 6"/>
          <p:cNvSpPr txBox="1"/>
          <p:nvPr/>
        </p:nvSpPr>
        <p:spPr>
          <a:xfrm>
            <a:off x="457200" y="1935480"/>
            <a:ext cx="1737360" cy="792480"/>
          </a:xfrm>
          <a:prstGeom prst="rect">
            <a:avLst/>
          </a:prstGeom>
          <a:noFill/>
          <a:ln/>
        </p:spPr>
        <p:txBody>
          <a:bodyPr wrap="square" lIns="0" tIns="0" rIns="0" bIns="0" rtlCol="0" anchor="ctr"/>
          <a:lstStyle/>
          <a:p>
            <a:pPr algn="r" indent="0" marL="0">
              <a:buNone/>
            </a:pPr>
            <a:r>
              <a:rPr lang="en-US" sz="1200" dirty="0">
                <a:solidFill>
                  <a:srgbClr val="1F2933"/>
                </a:solidFill>
                <a:latin typeface="Calibri" pitchFamily="34" charset="0"/>
                <a:ea typeface="Calibri" pitchFamily="34" charset="-122"/>
                <a:cs typeface="Calibri" pitchFamily="34" charset="-120"/>
              </a:rPr>
              <a:t>Kaggle winner</a:t>
            </a:r>
            <a:endParaRPr lang="en-US" sz="1200" dirty="0"/>
          </a:p>
        </p:txBody>
      </p:sp>
      <p:sp>
        <p:nvSpPr>
          <p:cNvPr id="10" name="bar1"/>
          <p:cNvSpPr/>
          <p:nvPr/>
        </p:nvSpPr>
        <p:spPr>
          <a:xfrm>
            <a:off x="2286000" y="2078126"/>
            <a:ext cx="1634163" cy="507187"/>
          </a:xfrm>
          <a:prstGeom prst="rect">
            <a:avLst/>
          </a:prstGeom>
          <a:solidFill>
            <a:srgbClr val="164A82"/>
          </a:solidFill>
          <a:ln w="12700">
            <a:solidFill>
              <a:srgbClr val="164A82"/>
            </a:solidFill>
            <a:prstDash val="solid"/>
          </a:ln>
        </p:spPr>
      </p:sp>
      <p:sp>
        <p:nvSpPr>
          <p:cNvPr id="11" name="Text 8"/>
          <p:cNvSpPr txBox="1"/>
          <p:nvPr/>
        </p:nvSpPr>
        <p:spPr>
          <a:xfrm>
            <a:off x="3993315" y="1935480"/>
            <a:ext cx="1737360" cy="79248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55.6 %</a:t>
            </a:r>
            <a:endParaRPr lang="en-US" sz="1200" dirty="0"/>
          </a:p>
        </p:txBody>
      </p:sp>
      <p:sp>
        <p:nvSpPr>
          <p:cNvPr id="12" name="Text 9"/>
          <p:cNvSpPr txBox="1"/>
          <p:nvPr/>
        </p:nvSpPr>
        <p:spPr>
          <a:xfrm>
            <a:off x="457200" y="2727960"/>
            <a:ext cx="1737360" cy="792480"/>
          </a:xfrm>
          <a:prstGeom prst="rect">
            <a:avLst/>
          </a:prstGeom>
          <a:noFill/>
          <a:ln/>
        </p:spPr>
        <p:txBody>
          <a:bodyPr wrap="square" lIns="0" tIns="0" rIns="0" bIns="0" rtlCol="0" anchor="ctr"/>
          <a:lstStyle/>
          <a:p>
            <a:pPr algn="r" indent="0" marL="0">
              <a:buNone/>
            </a:pPr>
            <a:r>
              <a:rPr lang="en-US" sz="1200" dirty="0">
                <a:solidFill>
                  <a:srgbClr val="1F2933"/>
                </a:solidFill>
                <a:latin typeface="Calibri" pitchFamily="34" charset="0"/>
                <a:ea typeface="Calibri" pitchFamily="34" charset="-122"/>
                <a:cs typeface="Calibri" pitchFamily="34" charset="-120"/>
              </a:rPr>
              <a:t>Limit (identical cars)</a:t>
            </a:r>
            <a:endParaRPr lang="en-US" sz="1200" dirty="0"/>
          </a:p>
        </p:txBody>
      </p:sp>
      <p:sp>
        <p:nvSpPr>
          <p:cNvPr id="13" name="bar2"/>
          <p:cNvSpPr/>
          <p:nvPr/>
        </p:nvSpPr>
        <p:spPr>
          <a:xfrm>
            <a:off x="2286000" y="2870606"/>
            <a:ext cx="1754668" cy="507187"/>
          </a:xfrm>
          <a:prstGeom prst="rect">
            <a:avLst/>
          </a:prstGeom>
          <a:solidFill>
            <a:srgbClr val="2E8B57"/>
          </a:solidFill>
          <a:ln w="12700">
            <a:solidFill>
              <a:srgbClr val="2E8B57"/>
            </a:solidFill>
            <a:prstDash val="solid"/>
          </a:ln>
        </p:spPr>
      </p:sp>
      <p:sp>
        <p:nvSpPr>
          <p:cNvPr id="14" name="Text 11"/>
          <p:cNvSpPr txBox="1"/>
          <p:nvPr/>
        </p:nvSpPr>
        <p:spPr>
          <a:xfrm>
            <a:off x="4113820" y="2727960"/>
            <a:ext cx="1737360" cy="79248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59.7 %</a:t>
            </a:r>
            <a:endParaRPr lang="en-US" sz="1200" dirty="0"/>
          </a:p>
        </p:txBody>
      </p:sp>
      <p:sp>
        <p:nvSpPr>
          <p:cNvPr id="15" name="Text 12"/>
          <p:cNvSpPr txBox="1"/>
          <p:nvPr/>
        </p:nvSpPr>
        <p:spPr>
          <a:xfrm>
            <a:off x="457200" y="3611880"/>
            <a:ext cx="4937760" cy="457200"/>
          </a:xfrm>
          <a:prstGeom prst="rect">
            <a:avLst/>
          </a:prstGeom>
          <a:noFill/>
          <a:ln/>
        </p:spPr>
        <p:txBody>
          <a:bodyPr wrap="square" lIns="0" tIns="0" rIns="0" bIns="0" rtlCol="0" anchor="t"/>
          <a:lstStyle/>
          <a:p>
            <a:pPr indent="0" marL="0">
              <a:buNone/>
            </a:pPr>
            <a:r>
              <a:rPr lang="en-US" sz="1100" dirty="0">
                <a:solidFill>
                  <a:srgbClr val="5B6670"/>
                </a:solidFill>
                <a:latin typeface="Calibri" pitchFamily="34" charset="0"/>
                <a:ea typeface="Calibri" pitchFamily="34" charset="-122"/>
                <a:cs typeface="Calibri" pitchFamily="34" charset="-120"/>
              </a:rPr>
              <a:t>share of the differences in test time explained, Kaggle's 4,209 hidden cars; limit explained on slide 22</a:t>
            </a:r>
            <a:endParaRPr lang="en-US" sz="1100" dirty="0"/>
          </a:p>
        </p:txBody>
      </p:sp>
      <p:sp>
        <p:nvSpPr>
          <p:cNvPr id="16" name="card"/>
          <p:cNvSpPr/>
          <p:nvPr/>
        </p:nvSpPr>
        <p:spPr>
          <a:xfrm>
            <a:off x="5669280" y="1097280"/>
            <a:ext cx="3017520" cy="3200400"/>
          </a:xfrm>
          <a:prstGeom prst="roundRect">
            <a:avLst>
              <a:gd name="adj" fmla="val 3030"/>
            </a:avLst>
          </a:prstGeom>
          <a:solidFill>
            <a:srgbClr val="F3F6F9"/>
          </a:solidFill>
          <a:ln w="12700">
            <a:solidFill>
              <a:srgbClr val="F3F6F9"/>
            </a:solidFill>
            <a:prstDash val="solid"/>
          </a:ln>
        </p:spPr>
      </p:sp>
      <p:sp>
        <p:nvSpPr>
          <p:cNvPr id="17" name="Text 14"/>
          <p:cNvSpPr txBox="1"/>
          <p:nvPr/>
        </p:nvSpPr>
        <p:spPr>
          <a:xfrm>
            <a:off x="5897880" y="1143000"/>
            <a:ext cx="2651760" cy="685800"/>
          </a:xfrm>
          <a:prstGeom prst="rect">
            <a:avLst/>
          </a:prstGeom>
          <a:noFill/>
          <a:ln/>
        </p:spPr>
        <p:txBody>
          <a:bodyPr wrap="square" lIns="0" tIns="0" rIns="0" bIns="0" rtlCol="0" anchor="b"/>
          <a:lstStyle/>
          <a:p>
            <a:pPr indent="0" marL="0">
              <a:buNone/>
            </a:pPr>
            <a:r>
              <a:rPr lang="en-US" sz="4000" b="1" dirty="0">
                <a:solidFill>
                  <a:srgbClr val="2B7BD8"/>
                </a:solidFill>
                <a:latin typeface="Cambria" pitchFamily="34" charset="0"/>
                <a:ea typeface="Cambria" pitchFamily="34" charset="-122"/>
                <a:cs typeface="Cambria" pitchFamily="34" charset="-120"/>
              </a:rPr>
              <a:t>≈ 97 %</a:t>
            </a:r>
            <a:endParaRPr lang="en-US" sz="4000" dirty="0"/>
          </a:p>
        </p:txBody>
      </p:sp>
      <p:sp>
        <p:nvSpPr>
          <p:cNvPr id="18" name="Text 15"/>
          <p:cNvSpPr txBox="1"/>
          <p:nvPr/>
        </p:nvSpPr>
        <p:spPr>
          <a:xfrm>
            <a:off x="5897880" y="1874520"/>
            <a:ext cx="2651760" cy="548640"/>
          </a:xfrm>
          <a:prstGeom prst="rect">
            <a:avLst/>
          </a:prstGeom>
          <a:noFill/>
          <a:ln/>
        </p:spPr>
        <p:txBody>
          <a:bodyPr wrap="square" lIns="0" tIns="0" rIns="0" bIns="0" rtlCol="0" anchor="t"/>
          <a:lstStyle/>
          <a:p>
            <a:pPr indent="0" marL="0">
              <a:buNone/>
            </a:pPr>
            <a:r>
              <a:rPr lang="en-US" sz="1300" dirty="0">
                <a:solidFill>
                  <a:srgbClr val="5B6670"/>
                </a:solidFill>
                <a:latin typeface="Calibri" pitchFamily="34" charset="0"/>
                <a:ea typeface="Calibri" pitchFamily="34" charset="-122"/>
                <a:cs typeface="Calibri" pitchFamily="34" charset="-120"/>
              </a:rPr>
              <a:t>of the winner's score (54.1 % / 55.6 %)</a:t>
            </a:r>
            <a:endParaRPr lang="en-US" sz="1300" dirty="0"/>
          </a:p>
        </p:txBody>
      </p:sp>
      <p:sp>
        <p:nvSpPr>
          <p:cNvPr id="19" name="Text 16"/>
          <p:cNvSpPr txBox="1"/>
          <p:nvPr/>
        </p:nvSpPr>
        <p:spPr>
          <a:xfrm>
            <a:off x="5897880" y="2423160"/>
            <a:ext cx="2651760" cy="685800"/>
          </a:xfrm>
          <a:prstGeom prst="rect">
            <a:avLst/>
          </a:prstGeom>
          <a:noFill/>
          <a:ln/>
        </p:spPr>
        <p:txBody>
          <a:bodyPr wrap="square" lIns="0" tIns="0" rIns="0" bIns="0" rtlCol="0" anchor="b"/>
          <a:lstStyle/>
          <a:p>
            <a:pPr indent="0" marL="0">
              <a:buNone/>
            </a:pPr>
            <a:r>
              <a:rPr lang="en-US" sz="4000" b="1" dirty="0">
                <a:solidFill>
                  <a:srgbClr val="2E8B57"/>
                </a:solidFill>
                <a:latin typeface="Cambria" pitchFamily="34" charset="0"/>
                <a:ea typeface="Cambria" pitchFamily="34" charset="-122"/>
                <a:cs typeface="Cambria" pitchFamily="34" charset="-120"/>
              </a:rPr>
              <a:t>≈ 91 %</a:t>
            </a:r>
            <a:endParaRPr lang="en-US" sz="4000" dirty="0"/>
          </a:p>
        </p:txBody>
      </p:sp>
      <p:sp>
        <p:nvSpPr>
          <p:cNvPr id="20" name="Text 17"/>
          <p:cNvSpPr txBox="1"/>
          <p:nvPr/>
        </p:nvSpPr>
        <p:spPr>
          <a:xfrm>
            <a:off x="5897880" y="3154680"/>
            <a:ext cx="2651760" cy="548640"/>
          </a:xfrm>
          <a:prstGeom prst="rect">
            <a:avLst/>
          </a:prstGeom>
          <a:noFill/>
          <a:ln/>
        </p:spPr>
        <p:txBody>
          <a:bodyPr wrap="square" lIns="0" tIns="0" rIns="0" bIns="0" rtlCol="0" anchor="t"/>
          <a:lstStyle/>
          <a:p>
            <a:pPr indent="0" marL="0">
              <a:buNone/>
            </a:pPr>
            <a:r>
              <a:rPr lang="en-US" sz="1300" dirty="0">
                <a:solidFill>
                  <a:srgbClr val="5B6670"/>
                </a:solidFill>
                <a:latin typeface="Calibri" pitchFamily="34" charset="0"/>
                <a:ea typeface="Calibri" pitchFamily="34" charset="-122"/>
                <a:cs typeface="Calibri" pitchFamily="34" charset="-120"/>
              </a:rPr>
              <a:t>of the limit (54.1 % / 59.7 %; winner: ≈ 93 %)</a:t>
            </a:r>
            <a:endParaRPr lang="en-US" sz="1300" dirty="0"/>
          </a:p>
        </p:txBody>
      </p:sp>
      <p:sp>
        <p:nvSpPr>
          <p:cNvPr id="21" name="Text 18"/>
          <p:cNvSpPr txBox="1"/>
          <p:nvPr/>
        </p:nvSpPr>
        <p:spPr>
          <a:xfrm>
            <a:off x="5897880" y="3611880"/>
            <a:ext cx="2651760" cy="640080"/>
          </a:xfrm>
          <a:prstGeom prst="rect">
            <a:avLst/>
          </a:prstGeom>
          <a:noFill/>
          <a:ln/>
        </p:spPr>
        <p:txBody>
          <a:bodyPr wrap="square" lIns="0" tIns="0" rIns="0" bIns="0" rtlCol="0" anchor="t"/>
          <a:lstStyle/>
          <a:p>
            <a:pPr indent="0" marL="0">
              <a:buNone/>
            </a:pPr>
            <a:r>
              <a:rPr lang="en-US" sz="1100" dirty="0">
                <a:solidFill>
                  <a:srgbClr val="5B6670"/>
                </a:solidFill>
                <a:latin typeface="Calibri" pitchFamily="34" charset="0"/>
                <a:ea typeface="Calibri" pitchFamily="34" charset="-122"/>
                <a:cs typeface="Calibri" pitchFamily="34" charset="-120"/>
              </a:rPr>
              <a:t>In seconds (own test): typical miss 12.4 → 8.0 s, about 4.5 s better per car. Same average for every car = 0 %.</a:t>
            </a:r>
            <a:endParaRPr lang="en-US" sz="1100" dirty="0"/>
          </a:p>
        </p:txBody>
      </p:sp>
      <p:sp>
        <p:nvSpPr>
          <p:cNvPr id="22" name="Text 19"/>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i="1" dirty="0">
                <a:solidFill>
                  <a:srgbClr val="5B6670"/>
                </a:solidFill>
                <a:latin typeface="Calibri" pitchFamily="34" charset="0"/>
                <a:ea typeface="Calibri" pitchFamily="34" charset="-122"/>
                <a:cs typeface="Calibri" pitchFamily="34" charset="-120"/>
              </a:rPr>
              <a:t>Source: content list #7; percentages + gain in seconds: changes 27, 28 (D64); winner 0.55550: D44 (verified on Kaggle by Mohammad; Gemini draft checked by Cowork); ours 0.54107: D47; limit 0.5965: Step 5; 93 % / 91 %: handover 23 Part B (D50)</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Data product: test-bench planner</a:t>
            </a:r>
            <a:endParaRPr lang="en-US" sz="2600" dirty="0"/>
          </a:p>
        </p:txBody>
      </p:sp>
      <p:sp>
        <p:nvSpPr>
          <p:cNvPr id="3" name="tag"/>
          <p:cNvSpPr/>
          <p:nvPr/>
        </p:nvSpPr>
        <p:spPr>
          <a:xfrm>
            <a:off x="7818120" y="347472"/>
            <a:ext cx="868680" cy="274320"/>
          </a:xfrm>
          <a:prstGeom prst="roundRect">
            <a:avLst>
              <a:gd name="adj" fmla="val 26667"/>
            </a:avLst>
          </a:prstGeom>
          <a:solidFill>
            <a:srgbClr val="2E8B57"/>
          </a:solidFill>
          <a:ln w="12700">
            <a:solidFill>
              <a:srgbClr val="2E8B57"/>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Main · product</a:t>
            </a:r>
            <a:endParaRPr lang="en-US" sz="900" dirty="0"/>
          </a:p>
        </p:txBody>
      </p:sp>
      <p:sp>
        <p:nvSpPr>
          <p:cNvPr id="6" name="flow0"/>
          <p:cNvSpPr/>
          <p:nvPr/>
        </p:nvSpPr>
        <p:spPr>
          <a:xfrm>
            <a:off x="457200" y="1097280"/>
            <a:ext cx="2377440" cy="1234440"/>
          </a:xfrm>
          <a:prstGeom prst="roundRect">
            <a:avLst>
              <a:gd name="adj" fmla="val 7407"/>
            </a:avLst>
          </a:prstGeom>
          <a:solidFill>
            <a:srgbClr val="2B7BD8"/>
          </a:solidFill>
          <a:ln w="12700">
            <a:solidFill>
              <a:srgbClr val="2B7BD8"/>
            </a:solidFill>
            <a:prstDash val="solid"/>
          </a:ln>
        </p:spPr>
      </p:sp>
      <p:pic>
        <p:nvPicPr>
          <p:cNvPr id="7" name="Image 0" descr="preencoded.png">    </p:cNvPr>
          <p:cNvPicPr>
            <a:picLocks noChangeAspect="1"/>
          </p:cNvPicPr>
          <p:nvPr/>
        </p:nvPicPr>
        <p:blipFill>
          <a:blip r:embed="rId1"/>
          <a:stretch>
            <a:fillRect/>
          </a:stretch>
        </p:blipFill>
        <p:spPr>
          <a:xfrm>
            <a:off x="640080" y="1234440"/>
            <a:ext cx="365760" cy="365760"/>
          </a:xfrm>
          <a:prstGeom prst="rect">
            <a:avLst/>
          </a:prstGeom>
        </p:spPr>
      </p:pic>
      <p:sp>
        <p:nvSpPr>
          <p:cNvPr id="8" name="Text 4"/>
          <p:cNvSpPr txBox="1"/>
          <p:nvPr/>
        </p:nvSpPr>
        <p:spPr>
          <a:xfrm>
            <a:off x="1097280" y="1234440"/>
            <a:ext cx="164592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Car order</a:t>
            </a:r>
            <a:endParaRPr lang="en-US" sz="1600" dirty="0"/>
          </a:p>
        </p:txBody>
      </p:sp>
      <p:sp>
        <p:nvSpPr>
          <p:cNvPr id="9" name="Text 5"/>
          <p:cNvSpPr txBox="1"/>
          <p:nvPr/>
        </p:nvSpPr>
        <p:spPr>
          <a:xfrm>
            <a:off x="640080" y="1691640"/>
            <a:ext cx="2057400"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configuration (X0 code)</a:t>
            </a:r>
            <a:endParaRPr lang="en-US" sz="1300" dirty="0"/>
          </a:p>
        </p:txBody>
      </p:sp>
      <p:sp>
        <p:nvSpPr>
          <p:cNvPr id="10" name="arrow0"/>
          <p:cNvSpPr/>
          <p:nvPr/>
        </p:nvSpPr>
        <p:spPr>
          <a:xfrm>
            <a:off x="2907792" y="1554480"/>
            <a:ext cx="320040" cy="320040"/>
          </a:xfrm>
          <a:prstGeom prst="rightArrow">
            <a:avLst/>
          </a:prstGeom>
          <a:solidFill>
            <a:srgbClr val="D5DCE3"/>
          </a:solidFill>
          <a:ln w="12700">
            <a:solidFill>
              <a:srgbClr val="D5DCE3"/>
            </a:solidFill>
            <a:prstDash val="solid"/>
          </a:ln>
        </p:spPr>
      </p:sp>
      <p:sp>
        <p:nvSpPr>
          <p:cNvPr id="11" name="flow1"/>
          <p:cNvSpPr/>
          <p:nvPr/>
        </p:nvSpPr>
        <p:spPr>
          <a:xfrm>
            <a:off x="3291840" y="1097280"/>
            <a:ext cx="2377440" cy="1234440"/>
          </a:xfrm>
          <a:prstGeom prst="roundRect">
            <a:avLst>
              <a:gd name="adj" fmla="val 7407"/>
            </a:avLst>
          </a:prstGeom>
          <a:solidFill>
            <a:srgbClr val="2B7BD8"/>
          </a:solidFill>
          <a:ln w="12700">
            <a:solidFill>
              <a:srgbClr val="2B7BD8"/>
            </a:solidFill>
            <a:prstDash val="solid"/>
          </a:ln>
        </p:spPr>
      </p:sp>
      <p:pic>
        <p:nvPicPr>
          <p:cNvPr id="12" name="Image 1" descr="preencoded.png">    </p:cNvPr>
          <p:cNvPicPr>
            <a:picLocks noChangeAspect="1"/>
          </p:cNvPicPr>
          <p:nvPr/>
        </p:nvPicPr>
        <p:blipFill>
          <a:blip r:embed="rId2"/>
          <a:stretch>
            <a:fillRect/>
          </a:stretch>
        </p:blipFill>
        <p:spPr>
          <a:xfrm>
            <a:off x="3474720" y="1234440"/>
            <a:ext cx="365760" cy="365760"/>
          </a:xfrm>
          <a:prstGeom prst="rect">
            <a:avLst/>
          </a:prstGeom>
        </p:spPr>
      </p:pic>
      <p:sp>
        <p:nvSpPr>
          <p:cNvPr id="13" name="Text 8"/>
          <p:cNvSpPr txBox="1"/>
          <p:nvPr/>
        </p:nvSpPr>
        <p:spPr>
          <a:xfrm>
            <a:off x="3931920" y="1234440"/>
            <a:ext cx="164592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Prediction</a:t>
            </a:r>
            <a:endParaRPr lang="en-US" sz="1600" dirty="0"/>
          </a:p>
        </p:txBody>
      </p:sp>
      <p:sp>
        <p:nvSpPr>
          <p:cNvPr id="14" name="Text 9"/>
          <p:cNvSpPr txBox="1"/>
          <p:nvPr/>
        </p:nvSpPr>
        <p:spPr>
          <a:xfrm>
            <a:off x="3474720" y="1691640"/>
            <a:ext cx="2057400"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Ridge with X0: about 4.5 s closer per car than the average (miss 12.4 → 8 s)</a:t>
            </a:r>
            <a:endParaRPr lang="en-US" sz="1300" dirty="0"/>
          </a:p>
        </p:txBody>
      </p:sp>
      <p:sp>
        <p:nvSpPr>
          <p:cNvPr id="15" name="arrow1"/>
          <p:cNvSpPr/>
          <p:nvPr/>
        </p:nvSpPr>
        <p:spPr>
          <a:xfrm>
            <a:off x="5742432" y="1554480"/>
            <a:ext cx="320040" cy="320040"/>
          </a:xfrm>
          <a:prstGeom prst="rightArrow">
            <a:avLst/>
          </a:prstGeom>
          <a:solidFill>
            <a:srgbClr val="D5DCE3"/>
          </a:solidFill>
          <a:ln w="12700">
            <a:solidFill>
              <a:srgbClr val="D5DCE3"/>
            </a:solidFill>
            <a:prstDash val="solid"/>
          </a:ln>
        </p:spPr>
      </p:sp>
      <p:sp>
        <p:nvSpPr>
          <p:cNvPr id="16" name="flow2"/>
          <p:cNvSpPr/>
          <p:nvPr/>
        </p:nvSpPr>
        <p:spPr>
          <a:xfrm>
            <a:off x="6126480" y="1097280"/>
            <a:ext cx="2377440" cy="1234440"/>
          </a:xfrm>
          <a:prstGeom prst="roundRect">
            <a:avLst>
              <a:gd name="adj" fmla="val 7407"/>
            </a:avLst>
          </a:prstGeom>
          <a:solidFill>
            <a:srgbClr val="2E8B57"/>
          </a:solidFill>
          <a:ln w="12700">
            <a:solidFill>
              <a:srgbClr val="2E8B57"/>
            </a:solidFill>
            <a:prstDash val="solid"/>
          </a:ln>
        </p:spPr>
      </p:sp>
      <p:pic>
        <p:nvPicPr>
          <p:cNvPr id="17" name="Image 2" descr="preencoded.png">    </p:cNvPr>
          <p:cNvPicPr>
            <a:picLocks noChangeAspect="1"/>
          </p:cNvPicPr>
          <p:nvPr/>
        </p:nvPicPr>
        <p:blipFill>
          <a:blip r:embed="rId3"/>
          <a:stretch>
            <a:fillRect/>
          </a:stretch>
        </p:blipFill>
        <p:spPr>
          <a:xfrm>
            <a:off x="6309360" y="1234440"/>
            <a:ext cx="365760" cy="365760"/>
          </a:xfrm>
          <a:prstGeom prst="rect">
            <a:avLst/>
          </a:prstGeom>
        </p:spPr>
      </p:pic>
      <p:sp>
        <p:nvSpPr>
          <p:cNvPr id="18" name="Text 12"/>
          <p:cNvSpPr txBox="1"/>
          <p:nvPr/>
        </p:nvSpPr>
        <p:spPr>
          <a:xfrm>
            <a:off x="6766560" y="1234440"/>
            <a:ext cx="164592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Bench plan</a:t>
            </a:r>
            <a:endParaRPr lang="en-US" sz="1600" dirty="0"/>
          </a:p>
        </p:txBody>
      </p:sp>
      <p:sp>
        <p:nvSpPr>
          <p:cNvPr id="19" name="Text 13"/>
          <p:cNvSpPr txBox="1"/>
          <p:nvPr/>
        </p:nvSpPr>
        <p:spPr>
          <a:xfrm>
            <a:off x="6309360" y="1691640"/>
            <a:ext cx="2057400"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slot per car + about 10 s buffer (covers 91 of 100 cars)</a:t>
            </a:r>
            <a:endParaRPr lang="en-US" sz="1300" dirty="0"/>
          </a:p>
        </p:txBody>
      </p:sp>
      <p:sp>
        <p:nvSpPr>
          <p:cNvPr id="20" name="card"/>
          <p:cNvSpPr/>
          <p:nvPr/>
        </p:nvSpPr>
        <p:spPr>
          <a:xfrm>
            <a:off x="457200" y="2560320"/>
            <a:ext cx="8229600" cy="1783080"/>
          </a:xfrm>
          <a:prstGeom prst="roundRect">
            <a:avLst>
              <a:gd name="adj" fmla="val 5128"/>
            </a:avLst>
          </a:prstGeom>
          <a:solidFill>
            <a:srgbClr val="F3F6F9"/>
          </a:solidFill>
          <a:ln w="12700">
            <a:solidFill>
              <a:srgbClr val="F3F6F9"/>
            </a:solidFill>
            <a:prstDash val="solid"/>
          </a:ln>
        </p:spPr>
      </p:sp>
      <p:pic>
        <p:nvPicPr>
          <p:cNvPr id="21" name="Image 3" descr="preencoded.png">    </p:cNvPr>
          <p:cNvPicPr>
            <a:picLocks noChangeAspect="1"/>
          </p:cNvPicPr>
          <p:nvPr/>
        </p:nvPicPr>
        <p:blipFill>
          <a:blip r:embed="rId4"/>
          <a:stretch>
            <a:fillRect/>
          </a:stretch>
        </p:blipFill>
        <p:spPr>
          <a:xfrm>
            <a:off x="640080" y="2724912"/>
            <a:ext cx="411480" cy="411480"/>
          </a:xfrm>
          <a:prstGeom prst="rect">
            <a:avLst/>
          </a:prstGeom>
        </p:spPr>
      </p:pic>
      <p:sp>
        <p:nvSpPr>
          <p:cNvPr id="22" name="Text 15"/>
          <p:cNvSpPr txBox="1"/>
          <p:nvPr/>
        </p:nvSpPr>
        <p:spPr>
          <a:xfrm>
            <a:off x="1188720" y="2724912"/>
            <a:ext cx="7315200" cy="411480"/>
          </a:xfrm>
          <a:prstGeom prst="rect">
            <a:avLst/>
          </a:prstGeom>
          <a:noFill/>
          <a:ln/>
        </p:spPr>
        <p:txBody>
          <a:bodyPr wrap="square" lIns="0" tIns="0" rIns="0" bIns="0" rtlCol="0" anchor="ctr"/>
          <a:lstStyle/>
          <a:p>
            <a:pPr indent="0" marL="0">
              <a:buNone/>
            </a:pPr>
            <a:r>
              <a:rPr lang="en-US" sz="1500" b="1" dirty="0">
                <a:solidFill>
                  <a:srgbClr val="164A82"/>
                </a:solidFill>
                <a:latin typeface="Calibri" pitchFamily="34" charset="0"/>
                <a:ea typeface="Calibri" pitchFamily="34" charset="-122"/>
                <a:cs typeface="Calibri" pitchFamily="34" charset="-120"/>
              </a:rPr>
              <a:t>Stakeholder (draft): test-bench planning engineer at the plant</a:t>
            </a:r>
            <a:endParaRPr lang="en-US" sz="1500" dirty="0"/>
          </a:p>
        </p:txBody>
      </p:sp>
      <p:sp>
        <p:nvSpPr>
          <p:cNvPr id="23" name="Text 16"/>
          <p:cNvSpPr txBox="1"/>
          <p:nvPr/>
        </p:nvSpPr>
        <p:spPr>
          <a:xfrm>
            <a:off x="685800" y="3182112"/>
            <a:ext cx="7863840" cy="1143000"/>
          </a:xfrm>
          <a:prstGeom prst="rect">
            <a:avLst/>
          </a:prstGeom>
          <a:noFill/>
          <a:ln/>
        </p:spPr>
        <p:txBody>
          <a:bodyPr wrap="square" lIns="0" tIns="0" rIns="0" bIns="0" rtlCol="0" anchor="t"/>
          <a:lstStyle/>
          <a:p>
            <a:pPr indent="0" marL="0">
              <a:spcAft>
                <a:spcPts val="300"/>
              </a:spcAft>
              <a:buNone/>
            </a:pPr>
            <a:r>
              <a:rPr lang="en-US" sz="1300" b="1" dirty="0">
                <a:solidFill>
                  <a:srgbClr val="2E8B57"/>
                </a:solidFill>
              </a:rPr>
              <a:t>Expert view (Mohammad Bajbouj, automotive R&amp;D): </a:t>
            </a:r>
            <a:pPr indent="0" marL="0">
              <a:spcAft>
                <a:spcPts val="300"/>
              </a:spcAft>
              <a:buNone/>
            </a:pPr>
            <a:r>
              <a:rPr lang="en-US" sz="1300" dirty="0">
                <a:solidFill>
                  <a:srgbClr val="1F2933"/>
                </a:solidFill>
              </a:rPr>
              <a:t>plan each car with its predicted test time to reduce energy use in the end, and keep a buffer for extraordinary test times.</a:t>
            </a:r>
            <a:endParaRPr lang="en-US" sz="1300" dirty="0"/>
          </a:p>
          <a:p>
            <a:pPr marL="342900" indent="-342900">
              <a:spcAft>
                <a:spcPts val="300"/>
              </a:spcAft>
              <a:buSzPct val="100000"/>
              <a:buChar char="•"/>
            </a:pPr>
            <a:r>
              <a:rPr lang="en-US" sz="1300" dirty="0">
                <a:solidFill>
                  <a:srgbClr val="1F2933"/>
                </a:solidFill>
              </a:rPr>
              <a:t>The test itself does not get shorter – the plan gets more accurate (less waiting or overrun on the bench)</a:t>
            </a:r>
            <a:endParaRPr lang="en-US" sz="1300" dirty="0"/>
          </a:p>
          <a:p>
            <a:pPr marL="342900" indent="-342900">
              <a:spcAft>
                <a:spcPts val="300"/>
              </a:spcAft>
              <a:buSzPct val="100000"/>
              <a:buChar char="•"/>
            </a:pPr>
            <a:r>
              <a:rPr lang="en-US" sz="1300" dirty="0">
                <a:solidFill>
                  <a:srgbClr val="1F2933"/>
                </a:solidFill>
              </a:rPr>
              <a:t>Less energy and CO₂ = hypothesis (the data has no energy values) → pilot (→ slide 15)</a:t>
            </a:r>
            <a:endParaRPr lang="en-US" sz="1300" dirty="0"/>
          </a:p>
        </p:txBody>
      </p:sp>
      <p:sp>
        <p:nvSpPr>
          <p:cNvPr id="24" name="Text 17"/>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i="1" dirty="0">
                <a:solidFill>
                  <a:srgbClr val="5B6670"/>
                </a:solidFill>
                <a:latin typeface="Calibri" pitchFamily="34" charset="0"/>
                <a:ea typeface="Calibri" pitchFamily="34" charset="-122"/>
                <a:cs typeface="Calibri" pitchFamily="34" charset="-120"/>
              </a:rPr>
              <a:t>Source: content list #22; stakeholder story = O6 (draft); 4.5 s: Steps 19–20; 91 % within 10 s: Step 26 (D42); expert view: his statement, change 29 (D64)</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Recommendations and next steps</a:t>
            </a:r>
            <a:endParaRPr lang="en-US" sz="2600" dirty="0"/>
          </a:p>
        </p:txBody>
      </p:sp>
      <p:sp>
        <p:nvSpPr>
          <p:cNvPr id="3" name="tag"/>
          <p:cNvSpPr/>
          <p:nvPr/>
        </p:nvSpPr>
        <p:spPr>
          <a:xfrm>
            <a:off x="7818120" y="347472"/>
            <a:ext cx="868680" cy="274320"/>
          </a:xfrm>
          <a:prstGeom prst="roundRect">
            <a:avLst>
              <a:gd name="adj" fmla="val 26667"/>
            </a:avLst>
          </a:prstGeom>
          <a:solidFill>
            <a:srgbClr val="2E8B57"/>
          </a:solidFill>
          <a:ln w="12700">
            <a:solidFill>
              <a:srgbClr val="2E8B57"/>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Main · next</a:t>
            </a:r>
            <a:endParaRPr lang="en-US" sz="900" dirty="0"/>
          </a:p>
        </p:txBody>
      </p:sp>
      <p:sp>
        <p:nvSpPr>
          <p:cNvPr id="6" name="card"/>
          <p:cNvSpPr/>
          <p:nvPr/>
        </p:nvSpPr>
        <p:spPr>
          <a:xfrm>
            <a:off x="457200" y="1097280"/>
            <a:ext cx="1947672" cy="3291840"/>
          </a:xfrm>
          <a:prstGeom prst="roundRect">
            <a:avLst>
              <a:gd name="adj" fmla="val 4695"/>
            </a:avLst>
          </a:prstGeom>
          <a:solidFill>
            <a:srgbClr val="F3F6F9"/>
          </a:solidFill>
          <a:ln w="12700">
            <a:solidFill>
              <a:srgbClr val="F3F6F9"/>
            </a:solidFill>
            <a:prstDash val="solid"/>
          </a:ln>
        </p:spPr>
      </p:sp>
      <p:sp>
        <p:nvSpPr>
          <p:cNvPr id="7" name="num1"/>
          <p:cNvSpPr/>
          <p:nvPr/>
        </p:nvSpPr>
        <p:spPr>
          <a:xfrm>
            <a:off x="621792" y="1234440"/>
            <a:ext cx="347472" cy="347472"/>
          </a:xfrm>
          <a:prstGeom prst="ellipse">
            <a:avLst/>
          </a:prstGeom>
          <a:solidFill>
            <a:srgbClr val="2E8B57"/>
          </a:solidFill>
          <a:ln w="12700">
            <a:solidFill>
              <a:srgbClr val="2E8B57"/>
            </a:solidFill>
            <a:prstDash val="solid"/>
          </a:ln>
        </p:spPr>
      </p:sp>
      <p:sp>
        <p:nvSpPr>
          <p:cNvPr id="8" name="Text 5"/>
          <p:cNvSpPr txBox="1"/>
          <p:nvPr/>
        </p:nvSpPr>
        <p:spPr>
          <a:xfrm>
            <a:off x="621792" y="1234440"/>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txBox="1"/>
          <p:nvPr/>
        </p:nvSpPr>
        <p:spPr>
          <a:xfrm>
            <a:off x="621792" y="1691640"/>
            <a:ext cx="1691640" cy="502920"/>
          </a:xfrm>
          <a:prstGeom prst="rect">
            <a:avLst/>
          </a:prstGeom>
          <a:noFill/>
          <a:ln/>
        </p:spPr>
        <p:txBody>
          <a:bodyPr wrap="square" lIns="0" tIns="0" rIns="0" bIns="0" rtlCol="0" anchor="t"/>
          <a:lstStyle/>
          <a:p>
            <a:pPr indent="0" marL="0">
              <a:buNone/>
            </a:pPr>
            <a:r>
              <a:rPr lang="en-US" sz="1400" b="1" dirty="0">
                <a:solidFill>
                  <a:srgbClr val="164A82"/>
                </a:solidFill>
                <a:latin typeface="Calibri" pitchFamily="34" charset="0"/>
                <a:ea typeface="Calibri" pitchFamily="34" charset="-122"/>
                <a:cs typeface="Calibri" pitchFamily="34" charset="-120"/>
              </a:rPr>
              <a:t>Plan with predictions</a:t>
            </a:r>
            <a:endParaRPr lang="en-US" sz="1400" dirty="0"/>
          </a:p>
        </p:txBody>
      </p:sp>
      <p:sp>
        <p:nvSpPr>
          <p:cNvPr id="10" name="Text 7"/>
          <p:cNvSpPr txBox="1"/>
          <p:nvPr/>
        </p:nvSpPr>
        <p:spPr>
          <a:xfrm>
            <a:off x="621792" y="2212848"/>
            <a:ext cx="1691640" cy="210312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Expert view (M. Bajbouj): plan each car with its predicted time (about 4.5 s closer than the average) + about 10 s buffer (91 of 100 cars). Scale: about 300,000 cars a year ≈ 1,300 a day → about 1.6 h more accurate plan per day</a:t>
            </a:r>
            <a:endParaRPr lang="en-US" sz="1100" dirty="0"/>
          </a:p>
        </p:txBody>
      </p:sp>
      <p:sp>
        <p:nvSpPr>
          <p:cNvPr id="11" name="card"/>
          <p:cNvSpPr/>
          <p:nvPr/>
        </p:nvSpPr>
        <p:spPr>
          <a:xfrm>
            <a:off x="2542032" y="1097280"/>
            <a:ext cx="1947672" cy="3291840"/>
          </a:xfrm>
          <a:prstGeom prst="roundRect">
            <a:avLst>
              <a:gd name="adj" fmla="val 4695"/>
            </a:avLst>
          </a:prstGeom>
          <a:solidFill>
            <a:srgbClr val="F3F6F9"/>
          </a:solidFill>
          <a:ln w="12700">
            <a:solidFill>
              <a:srgbClr val="F3F6F9"/>
            </a:solidFill>
            <a:prstDash val="solid"/>
          </a:ln>
        </p:spPr>
      </p:sp>
      <p:sp>
        <p:nvSpPr>
          <p:cNvPr id="12" name="num2"/>
          <p:cNvSpPr/>
          <p:nvPr/>
        </p:nvSpPr>
        <p:spPr>
          <a:xfrm>
            <a:off x="2706624" y="1234440"/>
            <a:ext cx="347472" cy="347472"/>
          </a:xfrm>
          <a:prstGeom prst="ellipse">
            <a:avLst/>
          </a:prstGeom>
          <a:solidFill>
            <a:srgbClr val="2B7BD8"/>
          </a:solidFill>
          <a:ln w="12700">
            <a:solidFill>
              <a:srgbClr val="2B7BD8"/>
            </a:solidFill>
            <a:prstDash val="solid"/>
          </a:ln>
        </p:spPr>
      </p:sp>
      <p:sp>
        <p:nvSpPr>
          <p:cNvPr id="13" name="Text 10"/>
          <p:cNvSpPr txBox="1"/>
          <p:nvPr/>
        </p:nvSpPr>
        <p:spPr>
          <a:xfrm>
            <a:off x="2706624" y="1234440"/>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txBox="1"/>
          <p:nvPr/>
        </p:nvSpPr>
        <p:spPr>
          <a:xfrm>
            <a:off x="2706624" y="1691640"/>
            <a:ext cx="1691640" cy="502920"/>
          </a:xfrm>
          <a:prstGeom prst="rect">
            <a:avLst/>
          </a:prstGeom>
          <a:noFill/>
          <a:ln/>
        </p:spPr>
        <p:txBody>
          <a:bodyPr wrap="square" lIns="0" tIns="0" rIns="0" bIns="0" rtlCol="0" anchor="t"/>
          <a:lstStyle/>
          <a:p>
            <a:pPr indent="0" marL="0">
              <a:buNone/>
            </a:pPr>
            <a:r>
              <a:rPr lang="en-US" sz="1400" b="1" dirty="0">
                <a:solidFill>
                  <a:srgbClr val="164A82"/>
                </a:solidFill>
                <a:latin typeface="Calibri" pitchFamily="34" charset="0"/>
                <a:ea typeface="Calibri" pitchFamily="34" charset="-122"/>
                <a:cs typeface="Calibri" pitchFamily="34" charset="-120"/>
              </a:rPr>
              <a:t>Pilot (hypothesis)</a:t>
            </a:r>
            <a:endParaRPr lang="en-US" sz="1400" dirty="0"/>
          </a:p>
        </p:txBody>
      </p:sp>
      <p:sp>
        <p:nvSpPr>
          <p:cNvPr id="15" name="Text 12"/>
          <p:cNvSpPr txBox="1"/>
          <p:nvPr/>
        </p:nvSpPr>
        <p:spPr>
          <a:xfrm>
            <a:off x="2706624" y="2212848"/>
            <a:ext cx="1691640" cy="210312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One bench, one day, then one month: measure idle time and energy before and after planning with predictions</a:t>
            </a:r>
            <a:endParaRPr lang="en-US" sz="1100" dirty="0"/>
          </a:p>
        </p:txBody>
      </p:sp>
      <p:sp>
        <p:nvSpPr>
          <p:cNvPr id="16" name="card"/>
          <p:cNvSpPr/>
          <p:nvPr/>
        </p:nvSpPr>
        <p:spPr>
          <a:xfrm>
            <a:off x="4626864" y="1097280"/>
            <a:ext cx="1947672" cy="3291840"/>
          </a:xfrm>
          <a:prstGeom prst="roundRect">
            <a:avLst>
              <a:gd name="adj" fmla="val 4695"/>
            </a:avLst>
          </a:prstGeom>
          <a:solidFill>
            <a:srgbClr val="F3F6F9"/>
          </a:solidFill>
          <a:ln w="12700">
            <a:solidFill>
              <a:srgbClr val="F3F6F9"/>
            </a:solidFill>
            <a:prstDash val="solid"/>
          </a:ln>
        </p:spPr>
      </p:sp>
      <p:sp>
        <p:nvSpPr>
          <p:cNvPr id="17" name="num3"/>
          <p:cNvSpPr/>
          <p:nvPr/>
        </p:nvSpPr>
        <p:spPr>
          <a:xfrm>
            <a:off x="4791456" y="1234440"/>
            <a:ext cx="347472" cy="347472"/>
          </a:xfrm>
          <a:prstGeom prst="ellipse">
            <a:avLst/>
          </a:prstGeom>
          <a:solidFill>
            <a:srgbClr val="164A82"/>
          </a:solidFill>
          <a:ln w="12700">
            <a:solidFill>
              <a:srgbClr val="164A82"/>
            </a:solidFill>
            <a:prstDash val="solid"/>
          </a:ln>
        </p:spPr>
      </p:sp>
      <p:sp>
        <p:nvSpPr>
          <p:cNvPr id="18" name="Text 15"/>
          <p:cNvSpPr txBox="1"/>
          <p:nvPr/>
        </p:nvSpPr>
        <p:spPr>
          <a:xfrm>
            <a:off x="4791456" y="1234440"/>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4791456" y="1691640"/>
            <a:ext cx="1691640" cy="502920"/>
          </a:xfrm>
          <a:prstGeom prst="rect">
            <a:avLst/>
          </a:prstGeom>
          <a:noFill/>
          <a:ln/>
        </p:spPr>
        <p:txBody>
          <a:bodyPr wrap="square" lIns="0" tIns="0" rIns="0" bIns="0" rtlCol="0" anchor="t"/>
          <a:lstStyle/>
          <a:p>
            <a:pPr indent="0" marL="0">
              <a:buNone/>
            </a:pPr>
            <a:r>
              <a:rPr lang="en-US" sz="1400" b="1" dirty="0">
                <a:solidFill>
                  <a:srgbClr val="164A82"/>
                </a:solidFill>
                <a:latin typeface="Calibri" pitchFamily="34" charset="0"/>
                <a:ea typeface="Calibri" pitchFamily="34" charset="-122"/>
                <a:cs typeface="Calibri" pitchFamily="34" charset="-120"/>
              </a:rPr>
              <a:t>Record more (future work)</a:t>
            </a:r>
            <a:endParaRPr lang="en-US" sz="1400" dirty="0"/>
          </a:p>
        </p:txBody>
      </p:sp>
      <p:sp>
        <p:nvSpPr>
          <p:cNvPr id="20" name="Text 17"/>
          <p:cNvSpPr txBox="1"/>
          <p:nvPr/>
        </p:nvSpPr>
        <p:spPr>
          <a:xfrm>
            <a:off x="4791456" y="2212848"/>
            <a:ext cx="1691640" cy="210312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Long tests cannot be predicted from the configuration (→ slide 34) → record bench, tester and day; then test a targeted buffer in the pilot</a:t>
            </a:r>
            <a:endParaRPr lang="en-US" sz="1100" dirty="0"/>
          </a:p>
        </p:txBody>
      </p:sp>
      <p:sp>
        <p:nvSpPr>
          <p:cNvPr id="21" name="card"/>
          <p:cNvSpPr/>
          <p:nvPr/>
        </p:nvSpPr>
        <p:spPr>
          <a:xfrm>
            <a:off x="6711696" y="1097280"/>
            <a:ext cx="1947672" cy="3291840"/>
          </a:xfrm>
          <a:prstGeom prst="roundRect">
            <a:avLst>
              <a:gd name="adj" fmla="val 4695"/>
            </a:avLst>
          </a:prstGeom>
          <a:solidFill>
            <a:srgbClr val="F3F6F9"/>
          </a:solidFill>
          <a:ln w="12700">
            <a:solidFill>
              <a:srgbClr val="F3F6F9"/>
            </a:solidFill>
            <a:prstDash val="solid"/>
          </a:ln>
        </p:spPr>
      </p:sp>
      <p:sp>
        <p:nvSpPr>
          <p:cNvPr id="22" name="num4"/>
          <p:cNvSpPr/>
          <p:nvPr/>
        </p:nvSpPr>
        <p:spPr>
          <a:xfrm>
            <a:off x="6876288" y="1234440"/>
            <a:ext cx="347472" cy="347472"/>
          </a:xfrm>
          <a:prstGeom prst="ellipse">
            <a:avLst/>
          </a:prstGeom>
          <a:solidFill>
            <a:srgbClr val="C77700"/>
          </a:solidFill>
          <a:ln w="12700">
            <a:solidFill>
              <a:srgbClr val="C77700"/>
            </a:solidFill>
            <a:prstDash val="solid"/>
          </a:ln>
        </p:spPr>
      </p:sp>
      <p:sp>
        <p:nvSpPr>
          <p:cNvPr id="23" name="Text 20"/>
          <p:cNvSpPr txBox="1"/>
          <p:nvPr/>
        </p:nvSpPr>
        <p:spPr>
          <a:xfrm>
            <a:off x="6876288" y="1234440"/>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6876288" y="1691640"/>
            <a:ext cx="1691640" cy="502920"/>
          </a:xfrm>
          <a:prstGeom prst="rect">
            <a:avLst/>
          </a:prstGeom>
          <a:noFill/>
          <a:ln/>
        </p:spPr>
        <p:txBody>
          <a:bodyPr wrap="square" lIns="0" tIns="0" rIns="0" bIns="0" rtlCol="0" anchor="t"/>
          <a:lstStyle/>
          <a:p>
            <a:pPr indent="0" marL="0">
              <a:buNone/>
            </a:pPr>
            <a:r>
              <a:rPr lang="en-US" sz="1400" b="1" dirty="0">
                <a:solidFill>
                  <a:srgbClr val="164A82"/>
                </a:solidFill>
                <a:latin typeface="Calibri" pitchFamily="34" charset="0"/>
                <a:ea typeface="Calibri" pitchFamily="34" charset="-122"/>
                <a:cs typeface="Calibri" pitchFamily="34" charset="-120"/>
              </a:rPr>
              <a:t>Know the limits</a:t>
            </a:r>
            <a:endParaRPr lang="en-US" sz="1400" dirty="0"/>
          </a:p>
        </p:txBody>
      </p:sp>
      <p:sp>
        <p:nvSpPr>
          <p:cNvPr id="25" name="Text 22"/>
          <p:cNvSpPr txBox="1"/>
          <p:nvPr/>
        </p:nvSpPr>
        <p:spPr>
          <a:xfrm>
            <a:off x="6876288" y="2212848"/>
            <a:ext cx="1691640" cy="210312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Limit from 515 identical cars of 20 of 47 X0 types; the 57.5 % for X0 is measured on the same cars it describes; our own test and the Kaggle test use different cars</a:t>
            </a:r>
            <a:endParaRPr lang="en-US" sz="1100" dirty="0"/>
          </a:p>
        </p:txBody>
      </p:sp>
      <p:sp>
        <p:nvSpPr>
          <p:cNvPr id="26" name="Text 23"/>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i="1" dirty="0">
                <a:solidFill>
                  <a:srgbClr val="5B6670"/>
                </a:solidFill>
                <a:latin typeface="Calibri" pitchFamily="34" charset="0"/>
                <a:ea typeface="Calibri" pitchFamily="34" charset="-122"/>
                <a:cs typeface="Calibri" pitchFamily="34" charset="-120"/>
              </a:rPr>
              <a:t>Source: content list #23; changes 30, 31 (D64); expert view: his statement; ~300,000 cars (Sindelfingen, 2017): Wikipedia 'Mercedes-Benz-Werk Sindelfingen'; 1,300/day = Cowork assumption 230 working days; 1.6 h = 4.5 s × 1,300; long tests: Step 29 (D61); ~8 s: Steps 20, 25; long tests: D42; 515 cars: Step 3 (D18); 20 of 47: handover 26 (D52, R72/D53); 57.5 % in-sample: Step 11 (R20); CV ≠ Kaggle: D44</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00584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M0 – the data: explanation slides</a:t>
            </a:r>
            <a:endParaRPr lang="en-US" sz="4000" dirty="0"/>
          </a:p>
        </p:txBody>
      </p:sp>
      <p:sp>
        <p:nvSpPr>
          <p:cNvPr id="4" name="Text 1"/>
          <p:cNvSpPr txBox="1"/>
          <p:nvPr/>
        </p:nvSpPr>
        <p:spPr>
          <a:xfrm>
            <a:off x="548640" y="2514600"/>
            <a:ext cx="8046720" cy="548640"/>
          </a:xfrm>
          <a:prstGeom prst="rect">
            <a:avLst/>
          </a:prstGeom>
          <a:noFill/>
          <a:ln/>
        </p:spPr>
        <p:txBody>
          <a:bodyPr wrap="square" lIns="0" tIns="0" rIns="0" bIns="0" rtlCol="0" anchor="t"/>
          <a:lstStyle/>
          <a:p>
            <a:pPr indent="0" marL="0">
              <a:buNone/>
            </a:pPr>
            <a:r>
              <a:rPr lang="en-US" sz="1500" dirty="0">
                <a:solidFill>
                  <a:srgbClr val="CFD8E3"/>
                </a:solidFill>
                <a:latin typeface="Calibri" pitchFamily="34" charset="0"/>
                <a:ea typeface="Calibri" pitchFamily="34" charset="-122"/>
                <a:cs typeface="Calibri" pitchFamily="34" charset="-120"/>
              </a:rPr>
              <a:t>Backup for the M0 summary slide. Each slide names the main slide it belongs to and its source (content list #, notebook 04 step, decision log D-/R-IDs).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The problem</a:t>
            </a:r>
            <a:endParaRPr lang="en-US" sz="2600" dirty="0"/>
          </a:p>
        </p:txBody>
      </p:sp>
      <p:sp>
        <p:nvSpPr>
          <p:cNvPr id="3" name="tag"/>
          <p:cNvSpPr/>
          <p:nvPr/>
        </p:nvSpPr>
        <p:spPr>
          <a:xfrm>
            <a:off x="7818120" y="347472"/>
            <a:ext cx="868680" cy="274320"/>
          </a:xfrm>
          <a:prstGeom prst="roundRect">
            <a:avLst>
              <a:gd name="adj" fmla="val 26667"/>
            </a:avLst>
          </a:prstGeom>
          <a:solidFill>
            <a:srgbClr val="EAF2FB"/>
          </a:solidFill>
          <a:ln w="12700">
            <a:solidFill>
              <a:srgbClr val="EAF2FB"/>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164A82"/>
                </a:solidFill>
                <a:latin typeface="Calibri" pitchFamily="34" charset="0"/>
                <a:ea typeface="Calibri" pitchFamily="34" charset="-122"/>
                <a:cs typeface="Calibri" pitchFamily="34" charset="-120"/>
              </a:rPr>
              <a:t>Backup · M0</a:t>
            </a:r>
            <a:endParaRPr lang="en-US" sz="900" dirty="0"/>
          </a:p>
        </p:txBody>
      </p:sp>
      <p:sp>
        <p:nvSpPr>
          <p:cNvPr id="6" name="card"/>
          <p:cNvSpPr/>
          <p:nvPr/>
        </p:nvSpPr>
        <p:spPr>
          <a:xfrm>
            <a:off x="457200" y="1188720"/>
            <a:ext cx="2606040" cy="2377440"/>
          </a:xfrm>
          <a:prstGeom prst="roundRect">
            <a:avLst>
              <a:gd name="adj" fmla="val 3846"/>
            </a:avLst>
          </a:prstGeom>
          <a:solidFill>
            <a:srgbClr val="F3F6F9"/>
          </a:solidFill>
          <a:ln w="12700">
            <a:solidFill>
              <a:srgbClr val="F3F6F9"/>
            </a:solidFill>
            <a:prstDash val="solid"/>
          </a:ln>
        </p:spPr>
      </p:sp>
      <p:pic>
        <p:nvPicPr>
          <p:cNvPr id="7" name="Image 0" descr="preencoded.png">    </p:cNvPr>
          <p:cNvPicPr>
            <a:picLocks noChangeAspect="1"/>
          </p:cNvPicPr>
          <p:nvPr/>
        </p:nvPicPr>
        <p:blipFill>
          <a:blip r:embed="rId1"/>
          <a:stretch>
            <a:fillRect/>
          </a:stretch>
        </p:blipFill>
        <p:spPr>
          <a:xfrm>
            <a:off x="731520" y="1417320"/>
            <a:ext cx="502920" cy="502920"/>
          </a:xfrm>
          <a:prstGeom prst="rect">
            <a:avLst/>
          </a:prstGeom>
        </p:spPr>
      </p:pic>
      <p:sp>
        <p:nvSpPr>
          <p:cNvPr id="8" name="Text 4"/>
          <p:cNvSpPr txBox="1"/>
          <p:nvPr/>
        </p:nvSpPr>
        <p:spPr>
          <a:xfrm>
            <a:off x="731520" y="2103120"/>
            <a:ext cx="2103120" cy="411480"/>
          </a:xfrm>
          <a:prstGeom prst="rect">
            <a:avLst/>
          </a:prstGeom>
          <a:noFill/>
          <a:ln/>
        </p:spPr>
        <p:txBody>
          <a:bodyPr wrap="square" lIns="0" tIns="0" rIns="0" bIns="0" rtlCol="0" anchor="t"/>
          <a:lstStyle/>
          <a:p>
            <a:pPr indent="0" marL="0">
              <a:buNone/>
            </a:pPr>
            <a:r>
              <a:rPr lang="en-US" sz="1700" b="1" dirty="0">
                <a:solidFill>
                  <a:srgbClr val="164A82"/>
                </a:solidFill>
                <a:latin typeface="Calibri" pitchFamily="34" charset="0"/>
                <a:ea typeface="Calibri" pitchFamily="34" charset="-122"/>
                <a:cs typeface="Calibri" pitchFamily="34" charset="-120"/>
              </a:rPr>
              <a:t>Many configurations</a:t>
            </a:r>
            <a:endParaRPr lang="en-US" sz="1700" dirty="0"/>
          </a:p>
        </p:txBody>
      </p:sp>
      <p:sp>
        <p:nvSpPr>
          <p:cNvPr id="9" name="Text 5"/>
          <p:cNvSpPr txBox="1"/>
          <p:nvPr/>
        </p:nvSpPr>
        <p:spPr>
          <a:xfrm>
            <a:off x="731520" y="2560320"/>
            <a:ext cx="2103120" cy="8229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Almost every car is configured differently</a:t>
            </a:r>
            <a:endParaRPr lang="en-US" sz="1400" dirty="0"/>
          </a:p>
        </p:txBody>
      </p:sp>
      <p:sp>
        <p:nvSpPr>
          <p:cNvPr id="10" name="card"/>
          <p:cNvSpPr/>
          <p:nvPr/>
        </p:nvSpPr>
        <p:spPr>
          <a:xfrm>
            <a:off x="3246120" y="1188720"/>
            <a:ext cx="2606040" cy="2377440"/>
          </a:xfrm>
          <a:prstGeom prst="roundRect">
            <a:avLst>
              <a:gd name="adj" fmla="val 3846"/>
            </a:avLst>
          </a:prstGeom>
          <a:solidFill>
            <a:srgbClr val="F3F6F9"/>
          </a:solidFill>
          <a:ln w="12700">
            <a:solidFill>
              <a:srgbClr val="F3F6F9"/>
            </a:solidFill>
            <a:prstDash val="solid"/>
          </a:ln>
        </p:spPr>
      </p:sp>
      <p:pic>
        <p:nvPicPr>
          <p:cNvPr id="11" name="Image 1" descr="preencoded.png">    </p:cNvPr>
          <p:cNvPicPr>
            <a:picLocks noChangeAspect="1"/>
          </p:cNvPicPr>
          <p:nvPr/>
        </p:nvPicPr>
        <p:blipFill>
          <a:blip r:embed="rId2"/>
          <a:stretch>
            <a:fillRect/>
          </a:stretch>
        </p:blipFill>
        <p:spPr>
          <a:xfrm>
            <a:off x="3520440" y="1417320"/>
            <a:ext cx="502920" cy="502920"/>
          </a:xfrm>
          <a:prstGeom prst="rect">
            <a:avLst/>
          </a:prstGeom>
        </p:spPr>
      </p:pic>
      <p:sp>
        <p:nvSpPr>
          <p:cNvPr id="12" name="Text 7"/>
          <p:cNvSpPr txBox="1"/>
          <p:nvPr/>
        </p:nvSpPr>
        <p:spPr>
          <a:xfrm>
            <a:off x="3520440" y="2103120"/>
            <a:ext cx="2103120" cy="411480"/>
          </a:xfrm>
          <a:prstGeom prst="rect">
            <a:avLst/>
          </a:prstGeom>
          <a:noFill/>
          <a:ln/>
        </p:spPr>
        <p:txBody>
          <a:bodyPr wrap="square" lIns="0" tIns="0" rIns="0" bIns="0" rtlCol="0" anchor="t"/>
          <a:lstStyle/>
          <a:p>
            <a:pPr indent="0" marL="0">
              <a:buNone/>
            </a:pPr>
            <a:r>
              <a:rPr lang="en-US" sz="1700" b="1" dirty="0">
                <a:solidFill>
                  <a:srgbClr val="164A82"/>
                </a:solidFill>
                <a:latin typeface="Calibri" pitchFamily="34" charset="0"/>
                <a:ea typeface="Calibri" pitchFamily="34" charset="-122"/>
                <a:cs typeface="Calibri" pitchFamily="34" charset="-120"/>
              </a:rPr>
              <a:t>Every car is tested</a:t>
            </a:r>
            <a:endParaRPr lang="en-US" sz="1700" dirty="0"/>
          </a:p>
        </p:txBody>
      </p:sp>
      <p:sp>
        <p:nvSpPr>
          <p:cNvPr id="13" name="Text 8"/>
          <p:cNvSpPr txBox="1"/>
          <p:nvPr/>
        </p:nvSpPr>
        <p:spPr>
          <a:xfrm>
            <a:off x="3520440" y="2560320"/>
            <a:ext cx="2103120" cy="8229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Each car runs on the test bench before delivery</a:t>
            </a:r>
            <a:endParaRPr lang="en-US" sz="1400" dirty="0"/>
          </a:p>
        </p:txBody>
      </p:sp>
      <p:sp>
        <p:nvSpPr>
          <p:cNvPr id="14" name="card"/>
          <p:cNvSpPr/>
          <p:nvPr/>
        </p:nvSpPr>
        <p:spPr>
          <a:xfrm>
            <a:off x="6035040" y="1188720"/>
            <a:ext cx="2606040" cy="2377440"/>
          </a:xfrm>
          <a:prstGeom prst="roundRect">
            <a:avLst>
              <a:gd name="adj" fmla="val 3846"/>
            </a:avLst>
          </a:prstGeom>
          <a:solidFill>
            <a:srgbClr val="F3F6F9"/>
          </a:solidFill>
          <a:ln w="12700">
            <a:solidFill>
              <a:srgbClr val="F3F6F9"/>
            </a:solidFill>
            <a:prstDash val="solid"/>
          </a:ln>
        </p:spPr>
      </p:sp>
      <p:pic>
        <p:nvPicPr>
          <p:cNvPr id="15" name="Image 2" descr="preencoded.png">    </p:cNvPr>
          <p:cNvPicPr>
            <a:picLocks noChangeAspect="1"/>
          </p:cNvPicPr>
          <p:nvPr/>
        </p:nvPicPr>
        <p:blipFill>
          <a:blip r:embed="rId3"/>
          <a:stretch>
            <a:fillRect/>
          </a:stretch>
        </p:blipFill>
        <p:spPr>
          <a:xfrm>
            <a:off x="6309360" y="1417320"/>
            <a:ext cx="502920" cy="502920"/>
          </a:xfrm>
          <a:prstGeom prst="rect">
            <a:avLst/>
          </a:prstGeom>
        </p:spPr>
      </p:pic>
      <p:sp>
        <p:nvSpPr>
          <p:cNvPr id="16" name="Text 10"/>
          <p:cNvSpPr txBox="1"/>
          <p:nvPr/>
        </p:nvSpPr>
        <p:spPr>
          <a:xfrm>
            <a:off x="6309360" y="2103120"/>
            <a:ext cx="2103120" cy="411480"/>
          </a:xfrm>
          <a:prstGeom prst="rect">
            <a:avLst/>
          </a:prstGeom>
          <a:noFill/>
          <a:ln/>
        </p:spPr>
        <p:txBody>
          <a:bodyPr wrap="square" lIns="0" tIns="0" rIns="0" bIns="0" rtlCol="0" anchor="t"/>
          <a:lstStyle/>
          <a:p>
            <a:pPr indent="0" marL="0">
              <a:buNone/>
            </a:pPr>
            <a:r>
              <a:rPr lang="en-US" sz="1700" b="1" dirty="0">
                <a:solidFill>
                  <a:srgbClr val="164A82"/>
                </a:solidFill>
                <a:latin typeface="Calibri" pitchFamily="34" charset="0"/>
                <a:ea typeface="Calibri" pitchFamily="34" charset="-122"/>
                <a:cs typeface="Calibri" pitchFamily="34" charset="-120"/>
              </a:rPr>
              <a:t>Time = energy</a:t>
            </a:r>
            <a:endParaRPr lang="en-US" sz="1700" dirty="0"/>
          </a:p>
        </p:txBody>
      </p:sp>
      <p:sp>
        <p:nvSpPr>
          <p:cNvPr id="17" name="Text 11"/>
          <p:cNvSpPr txBox="1"/>
          <p:nvPr/>
        </p:nvSpPr>
        <p:spPr>
          <a:xfrm>
            <a:off x="6309360" y="2560320"/>
            <a:ext cx="2103120" cy="8229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Longer bench time means more energy and CO₂</a:t>
            </a:r>
            <a:endParaRPr lang="en-US" sz="1400" dirty="0"/>
          </a:p>
        </p:txBody>
      </p:sp>
      <p:sp>
        <p:nvSpPr>
          <p:cNvPr id="18" name="meaning"/>
          <p:cNvSpPr/>
          <p:nvPr/>
        </p:nvSpPr>
        <p:spPr>
          <a:xfrm>
            <a:off x="457200" y="3749040"/>
            <a:ext cx="8229600" cy="502920"/>
          </a:xfrm>
          <a:prstGeom prst="roundRect">
            <a:avLst>
              <a:gd name="adj" fmla="val 14545"/>
            </a:avLst>
          </a:prstGeom>
          <a:solidFill>
            <a:srgbClr val="E6F3EC"/>
          </a:solidFill>
          <a:ln w="12700">
            <a:solidFill>
              <a:srgbClr val="E6F3EC"/>
            </a:solidFill>
            <a:prstDash val="solid"/>
          </a:ln>
        </p:spPr>
      </p:sp>
      <p:sp>
        <p:nvSpPr>
          <p:cNvPr id="19" name="Text 13"/>
          <p:cNvSpPr txBox="1"/>
          <p:nvPr/>
        </p:nvSpPr>
        <p:spPr>
          <a:xfrm>
            <a:off x="640080" y="3749040"/>
            <a:ext cx="7863840" cy="502920"/>
          </a:xfrm>
          <a:prstGeom prst="rect">
            <a:avLst/>
          </a:prstGeom>
          <a:noFill/>
          <a:ln/>
        </p:spPr>
        <p:txBody>
          <a:bodyPr wrap="square" lIns="0" tIns="0" rIns="0" bIns="0" rtlCol="0" anchor="ctr"/>
          <a:lstStyle/>
          <a:p>
            <a:pPr indent="0" marL="0">
              <a:buNone/>
            </a:pPr>
            <a:r>
              <a:rPr lang="en-US" sz="1400" b="1" dirty="0">
                <a:solidFill>
                  <a:srgbClr val="2E8B57"/>
                </a:solidFill>
                <a:latin typeface="Calibri" pitchFamily="34" charset="0"/>
                <a:ea typeface="Calibri" pitchFamily="34" charset="-122"/>
                <a:cs typeface="Calibri" pitchFamily="34" charset="-120"/>
              </a:rPr>
              <a:t>Meaning: </a:t>
            </a:r>
            <a:pPr indent="0" marL="0">
              <a:buNone/>
            </a:pPr>
            <a:r>
              <a:rPr lang="en-US" sz="1400" dirty="0">
                <a:solidFill>
                  <a:srgbClr val="1F2933"/>
                </a:solidFill>
                <a:latin typeface="Calibri" pitchFamily="34" charset="0"/>
                <a:ea typeface="Calibri" pitchFamily="34" charset="-122"/>
                <a:cs typeface="Calibri" pitchFamily="34" charset="-120"/>
              </a:rPr>
              <a:t>test times differ from car to car, which makes the test bench hard to plan.</a:t>
            </a:r>
            <a:endParaRPr lang="en-US" sz="1400" dirty="0"/>
          </a:p>
        </p:txBody>
      </p:sp>
      <p:sp>
        <p:nvSpPr>
          <p:cNvPr id="20" name="Text 14"/>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belongs to main slide 2   </a:t>
            </a:r>
            <a:pPr indent="0" marL="0">
              <a:buNone/>
            </a:pPr>
            <a:r>
              <a:rPr lang="en-US" sz="900" i="1" dirty="0">
                <a:solidFill>
                  <a:srgbClr val="5B6670"/>
                </a:solidFill>
                <a:latin typeface="Calibri" pitchFamily="34" charset="0"/>
                <a:ea typeface="Calibri" pitchFamily="34" charset="-122"/>
                <a:cs typeface="Calibri" pitchFamily="34" charset="-120"/>
              </a:rPr>
              <a:t>Source: content list #2; problem statement, framing_h2_v3.md</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Our question</a:t>
            </a:r>
            <a:endParaRPr lang="en-US" sz="2600" dirty="0"/>
          </a:p>
        </p:txBody>
      </p:sp>
      <p:sp>
        <p:nvSpPr>
          <p:cNvPr id="3" name="tag"/>
          <p:cNvSpPr/>
          <p:nvPr/>
        </p:nvSpPr>
        <p:spPr>
          <a:xfrm>
            <a:off x="7818120" y="347472"/>
            <a:ext cx="868680" cy="274320"/>
          </a:xfrm>
          <a:prstGeom prst="roundRect">
            <a:avLst>
              <a:gd name="adj" fmla="val 26667"/>
            </a:avLst>
          </a:prstGeom>
          <a:solidFill>
            <a:srgbClr val="EAF2FB"/>
          </a:solidFill>
          <a:ln w="12700">
            <a:solidFill>
              <a:srgbClr val="EAF2FB"/>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164A82"/>
                </a:solidFill>
                <a:latin typeface="Calibri" pitchFamily="34" charset="0"/>
                <a:ea typeface="Calibri" pitchFamily="34" charset="-122"/>
                <a:cs typeface="Calibri" pitchFamily="34" charset="-120"/>
              </a:rPr>
              <a:t>Backup · M0</a:t>
            </a:r>
            <a:endParaRPr lang="en-US" sz="900" dirty="0"/>
          </a:p>
        </p:txBody>
      </p:sp>
      <p:sp>
        <p:nvSpPr>
          <p:cNvPr id="6" name="card"/>
          <p:cNvSpPr/>
          <p:nvPr/>
        </p:nvSpPr>
        <p:spPr>
          <a:xfrm>
            <a:off x="457200" y="1463040"/>
            <a:ext cx="3291840" cy="1463040"/>
          </a:xfrm>
          <a:prstGeom prst="roundRect">
            <a:avLst>
              <a:gd name="adj" fmla="val 6250"/>
            </a:avLst>
          </a:prstGeom>
          <a:solidFill>
            <a:srgbClr val="EAF2FB"/>
          </a:solidFill>
          <a:ln w="12700">
            <a:solidFill>
              <a:srgbClr val="EAF2FB"/>
            </a:solidFill>
            <a:prstDash val="solid"/>
          </a:ln>
        </p:spPr>
      </p:sp>
      <p:sp>
        <p:nvSpPr>
          <p:cNvPr id="7" name="card"/>
          <p:cNvSpPr/>
          <p:nvPr/>
        </p:nvSpPr>
        <p:spPr>
          <a:xfrm>
            <a:off x="5394960" y="1463040"/>
            <a:ext cx="3291840" cy="1463040"/>
          </a:xfrm>
          <a:prstGeom prst="roundRect">
            <a:avLst>
              <a:gd name="adj" fmla="val 6250"/>
            </a:avLst>
          </a:prstGeom>
          <a:solidFill>
            <a:srgbClr val="E6F3EC"/>
          </a:solidFill>
          <a:ln w="12700">
            <a:solidFill>
              <a:srgbClr val="E6F3EC"/>
            </a:solidFill>
            <a:prstDash val="solid"/>
          </a:ln>
        </p:spPr>
      </p:sp>
      <p:sp>
        <p:nvSpPr>
          <p:cNvPr id="8" name="Text 5"/>
          <p:cNvSpPr txBox="1"/>
          <p:nvPr/>
        </p:nvSpPr>
        <p:spPr>
          <a:xfrm>
            <a:off x="685800" y="1645920"/>
            <a:ext cx="2834640" cy="411480"/>
          </a:xfrm>
          <a:prstGeom prst="rect">
            <a:avLst/>
          </a:prstGeom>
          <a:noFill/>
          <a:ln/>
        </p:spPr>
        <p:txBody>
          <a:bodyPr wrap="square" lIns="0" tIns="0" rIns="0" bIns="0" rtlCol="0" anchor="t"/>
          <a:lstStyle/>
          <a:p>
            <a:pPr indent="0" marL="0">
              <a:buNone/>
            </a:pPr>
            <a:r>
              <a:rPr lang="en-US" sz="2000" b="1" dirty="0">
                <a:solidFill>
                  <a:srgbClr val="164A82"/>
                </a:solidFill>
                <a:latin typeface="Calibri" pitchFamily="34" charset="0"/>
                <a:ea typeface="Calibri" pitchFamily="34" charset="-122"/>
                <a:cs typeface="Calibri" pitchFamily="34" charset="-120"/>
              </a:rPr>
              <a:t>Configuration</a:t>
            </a:r>
            <a:endParaRPr lang="en-US" sz="2000" dirty="0"/>
          </a:p>
        </p:txBody>
      </p:sp>
      <p:sp>
        <p:nvSpPr>
          <p:cNvPr id="9" name="Text 6"/>
          <p:cNvSpPr txBox="1"/>
          <p:nvPr/>
        </p:nvSpPr>
        <p:spPr>
          <a:xfrm>
            <a:off x="685800" y="2148840"/>
            <a:ext cx="2834640" cy="54864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all 376 column values of one car</a:t>
            </a:r>
            <a:endParaRPr lang="en-US" sz="1400" dirty="0"/>
          </a:p>
        </p:txBody>
      </p:sp>
      <p:sp>
        <p:nvSpPr>
          <p:cNvPr id="10" name="arrow"/>
          <p:cNvSpPr/>
          <p:nvPr/>
        </p:nvSpPr>
        <p:spPr>
          <a:xfrm>
            <a:off x="4023360" y="1965960"/>
            <a:ext cx="1097280" cy="457200"/>
          </a:xfrm>
          <a:prstGeom prst="rightArrow">
            <a:avLst/>
          </a:prstGeom>
          <a:solidFill>
            <a:srgbClr val="2B7BD8"/>
          </a:solidFill>
          <a:ln w="12700">
            <a:solidFill>
              <a:srgbClr val="2B7BD8"/>
            </a:solidFill>
            <a:prstDash val="solid"/>
          </a:ln>
        </p:spPr>
      </p:sp>
      <p:sp>
        <p:nvSpPr>
          <p:cNvPr id="11" name="Text 8"/>
          <p:cNvSpPr txBox="1"/>
          <p:nvPr/>
        </p:nvSpPr>
        <p:spPr>
          <a:xfrm>
            <a:off x="5623560" y="1645920"/>
            <a:ext cx="2834640" cy="411480"/>
          </a:xfrm>
          <a:prstGeom prst="rect">
            <a:avLst/>
          </a:prstGeom>
          <a:noFill/>
          <a:ln/>
        </p:spPr>
        <p:txBody>
          <a:bodyPr wrap="square" lIns="0" tIns="0" rIns="0" bIns="0" rtlCol="0" anchor="t"/>
          <a:lstStyle/>
          <a:p>
            <a:pPr indent="0" marL="0">
              <a:buNone/>
            </a:pPr>
            <a:r>
              <a:rPr lang="en-US" sz="2000" b="1" dirty="0">
                <a:solidFill>
                  <a:srgbClr val="2E8B57"/>
                </a:solidFill>
                <a:latin typeface="Calibri" pitchFamily="34" charset="0"/>
                <a:ea typeface="Calibri" pitchFamily="34" charset="-122"/>
                <a:cs typeface="Calibri" pitchFamily="34" charset="-120"/>
              </a:rPr>
              <a:t>Predicted test time</a:t>
            </a:r>
            <a:endParaRPr lang="en-US" sz="2000" dirty="0"/>
          </a:p>
        </p:txBody>
      </p:sp>
      <p:sp>
        <p:nvSpPr>
          <p:cNvPr id="12" name="Text 9"/>
          <p:cNvSpPr txBox="1"/>
          <p:nvPr/>
        </p:nvSpPr>
        <p:spPr>
          <a:xfrm>
            <a:off x="5623560" y="2148840"/>
            <a:ext cx="2834640" cy="54864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seconds on the test bench</a:t>
            </a:r>
            <a:endParaRPr lang="en-US" sz="1400" dirty="0"/>
          </a:p>
        </p:txBody>
      </p:sp>
      <p:sp>
        <p:nvSpPr>
          <p:cNvPr id="13" name="Text 10"/>
          <p:cNvSpPr txBox="1"/>
          <p:nvPr/>
        </p:nvSpPr>
        <p:spPr>
          <a:xfrm>
            <a:off x="457200" y="3291840"/>
            <a:ext cx="8229600" cy="457200"/>
          </a:xfrm>
          <a:prstGeom prst="rect">
            <a:avLst/>
          </a:prstGeom>
          <a:noFill/>
          <a:ln/>
        </p:spPr>
        <p:txBody>
          <a:bodyPr wrap="square" lIns="0" tIns="0" rIns="0" bIns="0" rtlCol="0" anchor="t"/>
          <a:lstStyle/>
          <a:p>
            <a:pPr algn="ctr" indent="0" marL="0">
              <a:buNone/>
            </a:pPr>
            <a:r>
              <a:rPr lang="en-US" sz="1800" i="1" dirty="0">
                <a:solidFill>
                  <a:srgbClr val="1F2933"/>
                </a:solidFill>
                <a:latin typeface="Calibri" pitchFamily="34" charset="0"/>
                <a:ea typeface="Calibri" pitchFamily="34" charset="-122"/>
                <a:cs typeface="Calibri" pitchFamily="34" charset="-120"/>
              </a:rPr>
              <a:t>Can we predict each car's test-bench time from its configuration?</a:t>
            </a:r>
            <a:endParaRPr lang="en-US" sz="1800" dirty="0"/>
          </a:p>
        </p:txBody>
      </p:sp>
      <p:sp>
        <p:nvSpPr>
          <p:cNvPr id="14" name="Text 11"/>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belongs to main slide 2   </a:t>
            </a:r>
            <a:pPr indent="0" marL="0">
              <a:buNone/>
            </a:pPr>
            <a:r>
              <a:rPr lang="en-US" sz="900" i="1" dirty="0">
                <a:solidFill>
                  <a:srgbClr val="5B6670"/>
                </a:solidFill>
                <a:latin typeface="Calibri" pitchFamily="34" charset="0"/>
                <a:ea typeface="Calibri" pitchFamily="34" charset="-122"/>
                <a:cs typeface="Calibri" pitchFamily="34" charset="-120"/>
              </a:rPr>
              <a:t>Source: content list #3; framing_h2_v3.md; hypothesis H2 chosen: D13</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The data</a:t>
            </a:r>
            <a:endParaRPr lang="en-US" sz="2600" dirty="0"/>
          </a:p>
        </p:txBody>
      </p:sp>
      <p:sp>
        <p:nvSpPr>
          <p:cNvPr id="3" name="tag"/>
          <p:cNvSpPr/>
          <p:nvPr/>
        </p:nvSpPr>
        <p:spPr>
          <a:xfrm>
            <a:off x="7818120" y="347472"/>
            <a:ext cx="868680" cy="274320"/>
          </a:xfrm>
          <a:prstGeom prst="roundRect">
            <a:avLst>
              <a:gd name="adj" fmla="val 26667"/>
            </a:avLst>
          </a:prstGeom>
          <a:solidFill>
            <a:srgbClr val="EAF2FB"/>
          </a:solidFill>
          <a:ln w="12700">
            <a:solidFill>
              <a:srgbClr val="EAF2FB"/>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164A82"/>
                </a:solidFill>
                <a:latin typeface="Calibri" pitchFamily="34" charset="0"/>
                <a:ea typeface="Calibri" pitchFamily="34" charset="-122"/>
                <a:cs typeface="Calibri" pitchFamily="34" charset="-120"/>
              </a:rPr>
              <a:t>Backup · M0</a:t>
            </a:r>
            <a:endParaRPr lang="en-US" sz="900" dirty="0"/>
          </a:p>
        </p:txBody>
      </p:sp>
      <p:sp>
        <p:nvSpPr>
          <p:cNvPr id="6" name="Text 3"/>
          <p:cNvSpPr txBox="1"/>
          <p:nvPr/>
        </p:nvSpPr>
        <p:spPr>
          <a:xfrm>
            <a:off x="640080" y="1188720"/>
            <a:ext cx="2468880" cy="685800"/>
          </a:xfrm>
          <a:prstGeom prst="rect">
            <a:avLst/>
          </a:prstGeom>
          <a:noFill/>
          <a:ln/>
        </p:spPr>
        <p:txBody>
          <a:bodyPr wrap="square" lIns="0" tIns="0" rIns="0" bIns="0" rtlCol="0" anchor="b"/>
          <a:lstStyle/>
          <a:p>
            <a:pPr indent="0" marL="0">
              <a:buNone/>
            </a:pPr>
            <a:r>
              <a:rPr lang="en-US" sz="4000" b="1" dirty="0">
                <a:solidFill>
                  <a:srgbClr val="2B7BD8"/>
                </a:solidFill>
                <a:latin typeface="Cambria" pitchFamily="34" charset="0"/>
                <a:ea typeface="Cambria" pitchFamily="34" charset="-122"/>
                <a:cs typeface="Cambria" pitchFamily="34" charset="-120"/>
              </a:rPr>
              <a:t>4,209</a:t>
            </a:r>
            <a:endParaRPr lang="en-US" sz="4000" dirty="0"/>
          </a:p>
        </p:txBody>
      </p:sp>
      <p:sp>
        <p:nvSpPr>
          <p:cNvPr id="7" name="Text 4"/>
          <p:cNvSpPr txBox="1"/>
          <p:nvPr/>
        </p:nvSpPr>
        <p:spPr>
          <a:xfrm>
            <a:off x="640080" y="1920240"/>
            <a:ext cx="2468880" cy="548640"/>
          </a:xfrm>
          <a:prstGeom prst="rect">
            <a:avLst/>
          </a:prstGeom>
          <a:noFill/>
          <a:ln/>
        </p:spPr>
        <p:txBody>
          <a:bodyPr wrap="square" lIns="0" tIns="0" rIns="0" bIns="0" rtlCol="0" anchor="t"/>
          <a:lstStyle/>
          <a:p>
            <a:pPr indent="0" marL="0">
              <a:buNone/>
            </a:pPr>
            <a:r>
              <a:rPr lang="en-US" sz="1300" dirty="0">
                <a:solidFill>
                  <a:srgbClr val="5B6670"/>
                </a:solidFill>
                <a:latin typeface="Calibri" pitchFamily="34" charset="0"/>
                <a:ea typeface="Calibri" pitchFamily="34" charset="-122"/>
                <a:cs typeface="Calibri" pitchFamily="34" charset="-120"/>
              </a:rPr>
              <a:t>tested cars (train.csv)</a:t>
            </a:r>
            <a:endParaRPr lang="en-US" sz="1300" dirty="0"/>
          </a:p>
        </p:txBody>
      </p:sp>
      <p:sp>
        <p:nvSpPr>
          <p:cNvPr id="8" name="Text 5"/>
          <p:cNvSpPr txBox="1"/>
          <p:nvPr/>
        </p:nvSpPr>
        <p:spPr>
          <a:xfrm>
            <a:off x="3383280" y="1188720"/>
            <a:ext cx="2468880" cy="685800"/>
          </a:xfrm>
          <a:prstGeom prst="rect">
            <a:avLst/>
          </a:prstGeom>
          <a:noFill/>
          <a:ln/>
        </p:spPr>
        <p:txBody>
          <a:bodyPr wrap="square" lIns="0" tIns="0" rIns="0" bIns="0" rtlCol="0" anchor="b"/>
          <a:lstStyle/>
          <a:p>
            <a:pPr indent="0" marL="0">
              <a:buNone/>
            </a:pPr>
            <a:r>
              <a:rPr lang="en-US" sz="4000" b="1" dirty="0">
                <a:solidFill>
                  <a:srgbClr val="164A82"/>
                </a:solidFill>
                <a:latin typeface="Cambria" pitchFamily="34" charset="0"/>
                <a:ea typeface="Cambria" pitchFamily="34" charset="-122"/>
                <a:cs typeface="Cambria" pitchFamily="34" charset="-120"/>
              </a:rPr>
              <a:t>376</a:t>
            </a:r>
            <a:endParaRPr lang="en-US" sz="4000" dirty="0"/>
          </a:p>
        </p:txBody>
      </p:sp>
      <p:sp>
        <p:nvSpPr>
          <p:cNvPr id="9" name="Text 6"/>
          <p:cNvSpPr txBox="1"/>
          <p:nvPr/>
        </p:nvSpPr>
        <p:spPr>
          <a:xfrm>
            <a:off x="3383280" y="1920240"/>
            <a:ext cx="2468880" cy="548640"/>
          </a:xfrm>
          <a:prstGeom prst="rect">
            <a:avLst/>
          </a:prstGeom>
          <a:noFill/>
          <a:ln/>
        </p:spPr>
        <p:txBody>
          <a:bodyPr wrap="square" lIns="0" tIns="0" rIns="0" bIns="0" rtlCol="0" anchor="t"/>
          <a:lstStyle/>
          <a:p>
            <a:pPr indent="0" marL="0">
              <a:buNone/>
            </a:pPr>
            <a:r>
              <a:rPr lang="en-US" sz="1300" dirty="0">
                <a:solidFill>
                  <a:srgbClr val="5B6670"/>
                </a:solidFill>
                <a:latin typeface="Calibri" pitchFamily="34" charset="0"/>
                <a:ea typeface="Calibri" pitchFamily="34" charset="-122"/>
                <a:cs typeface="Calibri" pitchFamily="34" charset="-120"/>
              </a:rPr>
              <a:t>anonymised columns: 8 text + 368 yes/no (0/1)</a:t>
            </a:r>
            <a:endParaRPr lang="en-US" sz="1300" dirty="0"/>
          </a:p>
        </p:txBody>
      </p:sp>
      <p:sp>
        <p:nvSpPr>
          <p:cNvPr id="10" name="Text 7"/>
          <p:cNvSpPr txBox="1"/>
          <p:nvPr/>
        </p:nvSpPr>
        <p:spPr>
          <a:xfrm>
            <a:off x="6126480" y="1188720"/>
            <a:ext cx="2560320" cy="685800"/>
          </a:xfrm>
          <a:prstGeom prst="rect">
            <a:avLst/>
          </a:prstGeom>
          <a:noFill/>
          <a:ln/>
        </p:spPr>
        <p:txBody>
          <a:bodyPr wrap="square" lIns="0" tIns="0" rIns="0" bIns="0" rtlCol="0" anchor="b"/>
          <a:lstStyle/>
          <a:p>
            <a:pPr indent="0" marL="0">
              <a:buNone/>
            </a:pPr>
            <a:r>
              <a:rPr lang="en-US" sz="4000" b="1" dirty="0">
                <a:solidFill>
                  <a:srgbClr val="2E8B57"/>
                </a:solidFill>
                <a:latin typeface="Cambria" pitchFamily="34" charset="0"/>
                <a:ea typeface="Cambria" pitchFamily="34" charset="-122"/>
                <a:cs typeface="Cambria" pitchFamily="34" charset="-120"/>
              </a:rPr>
              <a:t>72–265 s</a:t>
            </a:r>
            <a:endParaRPr lang="en-US" sz="4000" dirty="0"/>
          </a:p>
        </p:txBody>
      </p:sp>
      <p:sp>
        <p:nvSpPr>
          <p:cNvPr id="11" name="Text 8"/>
          <p:cNvSpPr txBox="1"/>
          <p:nvPr/>
        </p:nvSpPr>
        <p:spPr>
          <a:xfrm>
            <a:off x="6126480" y="1920240"/>
            <a:ext cx="2560320" cy="548640"/>
          </a:xfrm>
          <a:prstGeom prst="rect">
            <a:avLst/>
          </a:prstGeom>
          <a:noFill/>
          <a:ln/>
        </p:spPr>
        <p:txBody>
          <a:bodyPr wrap="square" lIns="0" tIns="0" rIns="0" bIns="0" rtlCol="0" anchor="t"/>
          <a:lstStyle/>
          <a:p>
            <a:pPr indent="0" marL="0">
              <a:buNone/>
            </a:pPr>
            <a:r>
              <a:rPr lang="en-US" sz="1300" dirty="0">
                <a:solidFill>
                  <a:srgbClr val="5B6670"/>
                </a:solidFill>
                <a:latin typeface="Calibri" pitchFamily="34" charset="0"/>
                <a:ea typeface="Calibri" pitchFamily="34" charset="-122"/>
                <a:cs typeface="Calibri" pitchFamily="34" charset="-120"/>
              </a:rPr>
              <a:t>test time; shortest 72.11 s, longest 265.32 s</a:t>
            </a:r>
            <a:endParaRPr lang="en-US" sz="1300" dirty="0"/>
          </a:p>
        </p:txBody>
      </p:sp>
      <p:sp>
        <p:nvSpPr>
          <p:cNvPr id="12" name="meaning"/>
          <p:cNvSpPr/>
          <p:nvPr/>
        </p:nvSpPr>
        <p:spPr>
          <a:xfrm>
            <a:off x="457200" y="3291840"/>
            <a:ext cx="8229600" cy="548640"/>
          </a:xfrm>
          <a:prstGeom prst="roundRect">
            <a:avLst>
              <a:gd name="adj" fmla="val 13333"/>
            </a:avLst>
          </a:prstGeom>
          <a:solidFill>
            <a:srgbClr val="E6F3EC"/>
          </a:solidFill>
          <a:ln w="12700">
            <a:solidFill>
              <a:srgbClr val="E6F3EC"/>
            </a:solidFill>
            <a:prstDash val="solid"/>
          </a:ln>
        </p:spPr>
      </p:sp>
      <p:sp>
        <p:nvSpPr>
          <p:cNvPr id="13" name="Text 10"/>
          <p:cNvSpPr txBox="1"/>
          <p:nvPr/>
        </p:nvSpPr>
        <p:spPr>
          <a:xfrm>
            <a:off x="640080" y="3291840"/>
            <a:ext cx="7863840" cy="548640"/>
          </a:xfrm>
          <a:prstGeom prst="rect">
            <a:avLst/>
          </a:prstGeom>
          <a:noFill/>
          <a:ln/>
        </p:spPr>
        <p:txBody>
          <a:bodyPr wrap="square" lIns="0" tIns="0" rIns="0" bIns="0" rtlCol="0" anchor="ctr"/>
          <a:lstStyle/>
          <a:p>
            <a:pPr indent="0" marL="0">
              <a:buNone/>
            </a:pPr>
            <a:r>
              <a:rPr lang="en-US" sz="1400" b="1" dirty="0">
                <a:solidFill>
                  <a:srgbClr val="2E8B57"/>
                </a:solidFill>
                <a:latin typeface="Calibri" pitchFamily="34" charset="0"/>
                <a:ea typeface="Calibri" pitchFamily="34" charset="-122"/>
                <a:cs typeface="Calibri" pitchFamily="34" charset="-120"/>
              </a:rPr>
              <a:t>Meaning: </a:t>
            </a:r>
            <a:pPr indent="0" marL="0">
              <a:buNone/>
            </a:pPr>
            <a:r>
              <a:rPr lang="en-US" sz="1400" dirty="0">
                <a:solidFill>
                  <a:srgbClr val="1F2933"/>
                </a:solidFill>
                <a:latin typeface="Calibri" pitchFamily="34" charset="0"/>
                <a:ea typeface="Calibri" pitchFamily="34" charset="-122"/>
                <a:cs typeface="Calibri" pitchFamily="34" charset="-120"/>
              </a:rPr>
              <a:t>Mercedes-Benz hid the column names (X0, X1 …) – we see the values, not what they mean.</a:t>
            </a:r>
            <a:endParaRPr lang="en-US" sz="1400" dirty="0"/>
          </a:p>
        </p:txBody>
      </p:sp>
      <p:sp>
        <p:nvSpPr>
          <p:cNvPr id="14" name="Text 11"/>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belongs to main slide 3   </a:t>
            </a:r>
            <a:pPr indent="0" marL="0">
              <a:buNone/>
            </a:pPr>
            <a:r>
              <a:rPr lang="en-US" sz="900" i="1" dirty="0">
                <a:solidFill>
                  <a:srgbClr val="5B6670"/>
                </a:solidFill>
                <a:latin typeface="Calibri" pitchFamily="34" charset="0"/>
                <a:ea typeface="Calibri" pitchFamily="34" charset="-122"/>
                <a:cs typeface="Calibri" pitchFamily="34" charset="-120"/>
              </a:rPr>
              <a:t>Source: 4,209: Step 10 (R17); 376 = 8 + 368: Step 1 (R1, D17); 265 s: Step 9 (R13); 72.11 s, ID 3185: handover 23 Part B (D50)</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00584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M1 – EDA: explanation slides</a:t>
            </a:r>
            <a:endParaRPr lang="en-US" sz="4000" dirty="0"/>
          </a:p>
        </p:txBody>
      </p:sp>
      <p:sp>
        <p:nvSpPr>
          <p:cNvPr id="4" name="Text 1"/>
          <p:cNvSpPr txBox="1"/>
          <p:nvPr/>
        </p:nvSpPr>
        <p:spPr>
          <a:xfrm>
            <a:off x="548640" y="2514600"/>
            <a:ext cx="8046720" cy="548640"/>
          </a:xfrm>
          <a:prstGeom prst="rect">
            <a:avLst/>
          </a:prstGeom>
          <a:noFill/>
          <a:ln/>
        </p:spPr>
        <p:txBody>
          <a:bodyPr wrap="square" lIns="0" tIns="0" rIns="0" bIns="0" rtlCol="0" anchor="t"/>
          <a:lstStyle/>
          <a:p>
            <a:pPr indent="0" marL="0">
              <a:buNone/>
            </a:pPr>
            <a:r>
              <a:rPr lang="en-US" sz="1500" dirty="0">
                <a:solidFill>
                  <a:srgbClr val="CFD8E3"/>
                </a:solidFill>
                <a:latin typeface="Calibri" pitchFamily="34" charset="0"/>
                <a:ea typeface="Calibri" pitchFamily="34" charset="-122"/>
                <a:cs typeface="Calibri" pitchFamily="34" charset="-120"/>
              </a:rPr>
              <a:t>Backup for the M1 summary slide. Each slide names the main slide it belongs to and its source (content list #, notebook 04 step, decision log D-/R-IDs).</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How we found identical cars</a:t>
            </a:r>
            <a:endParaRPr lang="en-US" sz="2600" dirty="0"/>
          </a:p>
        </p:txBody>
      </p:sp>
      <p:sp>
        <p:nvSpPr>
          <p:cNvPr id="3" name="tag"/>
          <p:cNvSpPr/>
          <p:nvPr/>
        </p:nvSpPr>
        <p:spPr>
          <a:xfrm>
            <a:off x="7818120" y="347472"/>
            <a:ext cx="868680" cy="274320"/>
          </a:xfrm>
          <a:prstGeom prst="roundRect">
            <a:avLst>
              <a:gd name="adj" fmla="val 26667"/>
            </a:avLst>
          </a:prstGeom>
          <a:solidFill>
            <a:srgbClr val="EAF2FB"/>
          </a:solidFill>
          <a:ln w="12700">
            <a:solidFill>
              <a:srgbClr val="EAF2FB"/>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164A82"/>
                </a:solidFill>
                <a:latin typeface="Calibri" pitchFamily="34" charset="0"/>
                <a:ea typeface="Calibri" pitchFamily="34" charset="-122"/>
                <a:cs typeface="Calibri" pitchFamily="34" charset="-120"/>
              </a:rPr>
              <a:t>Backup · M1</a:t>
            </a:r>
            <a:endParaRPr lang="en-US" sz="900" dirty="0"/>
          </a:p>
        </p:txBody>
      </p:sp>
      <p:sp>
        <p:nvSpPr>
          <p:cNvPr id="6" name="Text 3"/>
          <p:cNvSpPr txBox="1"/>
          <p:nvPr/>
        </p:nvSpPr>
        <p:spPr>
          <a:xfrm>
            <a:off x="457200" y="960120"/>
            <a:ext cx="8229600" cy="640080"/>
          </a:xfrm>
          <a:prstGeom prst="rect">
            <a:avLst/>
          </a:prstGeom>
          <a:noFill/>
          <a:ln/>
        </p:spPr>
        <p:txBody>
          <a:bodyPr wrap="square" lIns="0" tIns="0" rIns="0" bIns="0" rtlCol="0" anchor="t"/>
          <a:lstStyle/>
          <a:p>
            <a:pPr indent="0" marL="0">
              <a:buNone/>
            </a:pPr>
            <a:r>
              <a:rPr lang="en-US" sz="1250" b="1" dirty="0">
                <a:solidFill>
                  <a:srgbClr val="2B7BD8"/>
                </a:solidFill>
                <a:latin typeface="Calibri" pitchFamily="34" charset="0"/>
                <a:ea typeface="Calibri" pitchFamily="34" charset="-122"/>
                <a:cs typeface="Calibri" pitchFamily="34" charset="-120"/>
              </a:rPr>
              <a:t>1  </a:t>
            </a:r>
            <a:pPr indent="0" marL="0">
              <a:buNone/>
            </a:pPr>
            <a:r>
              <a:rPr lang="en-US" sz="1250" dirty="0">
                <a:solidFill>
                  <a:srgbClr val="1F2933"/>
                </a:solidFill>
                <a:latin typeface="Calibri" pitchFamily="34" charset="0"/>
                <a:ea typeface="Calibri" pitchFamily="34" charset="-122"/>
                <a:cs typeface="Calibri" pitchFamily="34" charset="-120"/>
              </a:rPr>
              <a:t>Each car's 376 column values are written in one row → one configuration key per car</a:t>
            </a:r>
            <a:endParaRPr lang="en-US" sz="1250" dirty="0"/>
          </a:p>
          <a:p>
            <a:pPr indent="0" marL="0">
              <a:buNone/>
            </a:pPr>
            <a:r>
              <a:rPr lang="en-US" sz="1250" b="1" dirty="0">
                <a:solidFill>
                  <a:srgbClr val="2B7BD8"/>
                </a:solidFill>
                <a:latin typeface="Calibri" pitchFamily="34" charset="0"/>
                <a:ea typeface="Calibri" pitchFamily="34" charset="-122"/>
                <a:cs typeface="Calibri" pitchFamily="34" charset="-120"/>
              </a:rPr>
              <a:t>2  </a:t>
            </a:r>
            <a:pPr indent="0" marL="0">
              <a:buNone/>
            </a:pPr>
            <a:r>
              <a:rPr lang="en-US" sz="1250" dirty="0">
                <a:solidFill>
                  <a:srgbClr val="1F2933"/>
                </a:solidFill>
                <a:latin typeface="Calibri" pitchFamily="34" charset="0"/>
                <a:ea typeface="Calibri" pitchFamily="34" charset="-122"/>
                <a:cs typeface="Calibri" pitchFamily="34" charset="-120"/>
              </a:rPr>
              <a:t>Cars with exactly the same key are identical (all 376 columns match) – a person can also check every group by hand</a:t>
            </a:r>
            <a:endParaRPr lang="en-US" sz="1250" dirty="0"/>
          </a:p>
        </p:txBody>
      </p:sp>
      <p:sp>
        <p:nvSpPr>
          <p:cNvPr id="7" name="Text 4"/>
          <p:cNvSpPr txBox="1"/>
          <p:nvPr/>
        </p:nvSpPr>
        <p:spPr>
          <a:xfrm>
            <a:off x="457200" y="1645920"/>
            <a:ext cx="2011680" cy="685800"/>
          </a:xfrm>
          <a:prstGeom prst="rect">
            <a:avLst/>
          </a:prstGeom>
          <a:noFill/>
          <a:ln/>
        </p:spPr>
        <p:txBody>
          <a:bodyPr wrap="square" lIns="0" tIns="0" rIns="0" bIns="0" rtlCol="0" anchor="b"/>
          <a:lstStyle/>
          <a:p>
            <a:pPr indent="0" marL="0">
              <a:buNone/>
            </a:pPr>
            <a:r>
              <a:rPr lang="en-US" sz="4000" b="1" dirty="0">
                <a:solidFill>
                  <a:srgbClr val="2B7BD8"/>
                </a:solidFill>
                <a:latin typeface="Cambria" pitchFamily="34" charset="0"/>
                <a:ea typeface="Cambria" pitchFamily="34" charset="-122"/>
                <a:cs typeface="Cambria" pitchFamily="34" charset="-120"/>
              </a:rPr>
              <a:t>4,209</a:t>
            </a:r>
            <a:endParaRPr lang="en-US" sz="4000" dirty="0"/>
          </a:p>
        </p:txBody>
      </p:sp>
      <p:sp>
        <p:nvSpPr>
          <p:cNvPr id="8" name="Text 5"/>
          <p:cNvSpPr txBox="1"/>
          <p:nvPr/>
        </p:nvSpPr>
        <p:spPr>
          <a:xfrm>
            <a:off x="457200" y="2377440"/>
            <a:ext cx="2011680" cy="548640"/>
          </a:xfrm>
          <a:prstGeom prst="rect">
            <a:avLst/>
          </a:prstGeom>
          <a:noFill/>
          <a:ln/>
        </p:spPr>
        <p:txBody>
          <a:bodyPr wrap="square" lIns="0" tIns="0" rIns="0" bIns="0" rtlCol="0" anchor="t"/>
          <a:lstStyle/>
          <a:p>
            <a:pPr indent="0" marL="0">
              <a:buNone/>
            </a:pPr>
            <a:r>
              <a:rPr lang="en-US" sz="1300" dirty="0">
                <a:solidFill>
                  <a:srgbClr val="5B6670"/>
                </a:solidFill>
                <a:latin typeface="Calibri" pitchFamily="34" charset="0"/>
                <a:ea typeface="Calibri" pitchFamily="34" charset="-122"/>
                <a:cs typeface="Calibri" pitchFamily="34" charset="-120"/>
              </a:rPr>
              <a:t>cars in total</a:t>
            </a:r>
            <a:endParaRPr lang="en-US" sz="1300" dirty="0"/>
          </a:p>
        </p:txBody>
      </p:sp>
      <p:sp>
        <p:nvSpPr>
          <p:cNvPr id="9" name="Text 6"/>
          <p:cNvSpPr txBox="1"/>
          <p:nvPr/>
        </p:nvSpPr>
        <p:spPr>
          <a:xfrm>
            <a:off x="457200" y="2697480"/>
            <a:ext cx="2011680" cy="685800"/>
          </a:xfrm>
          <a:prstGeom prst="rect">
            <a:avLst/>
          </a:prstGeom>
          <a:noFill/>
          <a:ln/>
        </p:spPr>
        <p:txBody>
          <a:bodyPr wrap="square" lIns="0" tIns="0" rIns="0" bIns="0" rtlCol="0" anchor="b"/>
          <a:lstStyle/>
          <a:p>
            <a:pPr indent="0" marL="0">
              <a:buNone/>
            </a:pPr>
            <a:r>
              <a:rPr lang="en-US" sz="4000" b="1" dirty="0">
                <a:solidFill>
                  <a:srgbClr val="5B6670"/>
                </a:solidFill>
                <a:latin typeface="Cambria" pitchFamily="34" charset="0"/>
                <a:ea typeface="Cambria" pitchFamily="34" charset="-122"/>
                <a:cs typeface="Cambria" pitchFamily="34" charset="-120"/>
              </a:rPr>
              <a:t>3,694</a:t>
            </a:r>
            <a:endParaRPr lang="en-US" sz="4000" dirty="0"/>
          </a:p>
        </p:txBody>
      </p:sp>
      <p:sp>
        <p:nvSpPr>
          <p:cNvPr id="10" name="Text 7"/>
          <p:cNvSpPr txBox="1"/>
          <p:nvPr/>
        </p:nvSpPr>
        <p:spPr>
          <a:xfrm>
            <a:off x="457200" y="3429000"/>
            <a:ext cx="2011680" cy="548640"/>
          </a:xfrm>
          <a:prstGeom prst="rect">
            <a:avLst/>
          </a:prstGeom>
          <a:noFill/>
          <a:ln/>
        </p:spPr>
        <p:txBody>
          <a:bodyPr wrap="square" lIns="0" tIns="0" rIns="0" bIns="0" rtlCol="0" anchor="t"/>
          <a:lstStyle/>
          <a:p>
            <a:pPr indent="0" marL="0">
              <a:buNone/>
            </a:pPr>
            <a:r>
              <a:rPr lang="en-US" sz="1300" dirty="0">
                <a:solidFill>
                  <a:srgbClr val="5B6670"/>
                </a:solidFill>
                <a:latin typeface="Calibri" pitchFamily="34" charset="0"/>
                <a:ea typeface="Calibri" pitchFamily="34" charset="-122"/>
                <a:cs typeface="Calibri" pitchFamily="34" charset="-120"/>
              </a:rPr>
              <a:t>one-of-a-kind cars</a:t>
            </a:r>
            <a:endParaRPr lang="en-US" sz="1300" dirty="0"/>
          </a:p>
        </p:txBody>
      </p:sp>
      <p:sp>
        <p:nvSpPr>
          <p:cNvPr id="11" name="Text 8"/>
          <p:cNvSpPr txBox="1"/>
          <p:nvPr/>
        </p:nvSpPr>
        <p:spPr>
          <a:xfrm>
            <a:off x="2286000" y="2697480"/>
            <a:ext cx="2011680" cy="685800"/>
          </a:xfrm>
          <a:prstGeom prst="rect">
            <a:avLst/>
          </a:prstGeom>
          <a:noFill/>
          <a:ln/>
        </p:spPr>
        <p:txBody>
          <a:bodyPr wrap="square" lIns="0" tIns="0" rIns="0" bIns="0" rtlCol="0" anchor="b"/>
          <a:lstStyle/>
          <a:p>
            <a:pPr indent="0" marL="0">
              <a:buNone/>
            </a:pPr>
            <a:r>
              <a:rPr lang="en-US" sz="4000" b="1" dirty="0">
                <a:solidFill>
                  <a:srgbClr val="2E8B57"/>
                </a:solidFill>
                <a:latin typeface="Cambria" pitchFamily="34" charset="0"/>
                <a:ea typeface="Cambria" pitchFamily="34" charset="-122"/>
                <a:cs typeface="Cambria" pitchFamily="34" charset="-120"/>
              </a:rPr>
              <a:t>515</a:t>
            </a:r>
            <a:endParaRPr lang="en-US" sz="4000" dirty="0"/>
          </a:p>
        </p:txBody>
      </p:sp>
      <p:sp>
        <p:nvSpPr>
          <p:cNvPr id="12" name="Text 9"/>
          <p:cNvSpPr txBox="1"/>
          <p:nvPr/>
        </p:nvSpPr>
        <p:spPr>
          <a:xfrm>
            <a:off x="2286000" y="3429000"/>
            <a:ext cx="2011680" cy="548640"/>
          </a:xfrm>
          <a:prstGeom prst="rect">
            <a:avLst/>
          </a:prstGeom>
          <a:noFill/>
          <a:ln/>
        </p:spPr>
        <p:txBody>
          <a:bodyPr wrap="square" lIns="0" tIns="0" rIns="0" bIns="0" rtlCol="0" anchor="t"/>
          <a:lstStyle/>
          <a:p>
            <a:pPr indent="0" marL="0">
              <a:buNone/>
            </a:pPr>
            <a:r>
              <a:rPr lang="en-US" sz="1300" dirty="0">
                <a:solidFill>
                  <a:srgbClr val="5B6670"/>
                </a:solidFill>
                <a:latin typeface="Calibri" pitchFamily="34" charset="0"/>
                <a:ea typeface="Calibri" pitchFamily="34" charset="-122"/>
                <a:cs typeface="Calibri" pitchFamily="34" charset="-120"/>
              </a:rPr>
              <a:t>identical cars (12 %) in 217 groups</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0" y="1463040"/>
          <a:ext cx="4114800" cy="914400"/>
        </p:xfrm>
        <a:graphic>
          <a:graphicData uri="http://schemas.openxmlformats.org/drawingml/2006/table">
            <a:tbl>
              <a:tblPr/>
              <a:tblGrid>
                <a:gridCol w="1554480"/>
                <a:gridCol w="1280160"/>
                <a:gridCol w="1280160"/>
              </a:tblGrid>
              <a:tr h="210312">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cars per group</a:t>
                      </a:r>
                      <a:endParaRPr lang="en-US" sz="10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64A82"/>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groups</a:t>
                      </a:r>
                      <a:endParaRPr lang="en-US" sz="10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64A82"/>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cars</a:t>
                      </a:r>
                      <a:endParaRPr lang="en-US" sz="10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64A82"/>
                    </a:solidFill>
                  </a:tcPr>
                </a:tc>
              </a:tr>
              <a:tr h="210312">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2 (pairs)</a:t>
                      </a:r>
                      <a:endParaRPr lang="en-US" sz="10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167</a:t>
                      </a:r>
                      <a:endParaRPr lang="en-US" sz="10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334</a:t>
                      </a:r>
                      <a:endParaRPr lang="en-US" sz="10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10312">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30</a:t>
                      </a:r>
                      <a:endParaRPr lang="en-US" sz="10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90</a:t>
                      </a:r>
                      <a:endParaRPr lang="en-US" sz="10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10312">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60</a:t>
                      </a:r>
                      <a:endParaRPr lang="en-US" sz="10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10312">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10312">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10312">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10312">
                <a:tc>
                  <a:txBody>
                    <a:bodyPr/>
                    <a:lstStyle/>
                    <a:p>
                      <a:pPr algn="ctr" indent="0" marL="0">
                        <a:buNone/>
                      </a:pPr>
                      <a:r>
                        <a:rPr lang="en-US" sz="1050" b="1" dirty="0">
                          <a:solidFill>
                            <a:srgbClr val="1F2933"/>
                          </a:solidFill>
                          <a:latin typeface="Calibri" pitchFamily="34" charset="0"/>
                          <a:ea typeface="Calibri" pitchFamily="34" charset="-122"/>
                          <a:cs typeface="Calibri" pitchFamily="34" charset="-120"/>
                        </a:rPr>
                        <a:t>total</a:t>
                      </a:r>
                      <a:endParaRPr lang="en-US" sz="10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b="1" dirty="0">
                          <a:solidFill>
                            <a:srgbClr val="1F2933"/>
                          </a:solidFill>
                          <a:latin typeface="Calibri" pitchFamily="34" charset="0"/>
                          <a:ea typeface="Calibri" pitchFamily="34" charset="-122"/>
                          <a:cs typeface="Calibri" pitchFamily="34" charset="-120"/>
                        </a:rPr>
                        <a:t>217</a:t>
                      </a:r>
                      <a:endParaRPr lang="en-US" sz="10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b="1" dirty="0">
                          <a:solidFill>
                            <a:srgbClr val="2E8B57"/>
                          </a:solidFill>
                          <a:latin typeface="Calibri" pitchFamily="34" charset="0"/>
                          <a:ea typeface="Calibri" pitchFamily="34" charset="-122"/>
                          <a:cs typeface="Calibri" pitchFamily="34" charset="-120"/>
                        </a:rPr>
                        <a:t>515</a:t>
                      </a:r>
                      <a:endParaRPr lang="en-US" sz="105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14" name="card"/>
          <p:cNvSpPr/>
          <p:nvPr/>
        </p:nvSpPr>
        <p:spPr>
          <a:xfrm>
            <a:off x="457200" y="3703320"/>
            <a:ext cx="8229600" cy="749808"/>
          </a:xfrm>
          <a:prstGeom prst="roundRect">
            <a:avLst>
              <a:gd name="adj" fmla="val 12195"/>
            </a:avLst>
          </a:prstGeom>
          <a:solidFill>
            <a:srgbClr val="E6F3EC"/>
          </a:solidFill>
          <a:ln w="12700">
            <a:solidFill>
              <a:srgbClr val="E6F3EC"/>
            </a:solidFill>
            <a:prstDash val="solid"/>
          </a:ln>
        </p:spPr>
      </p:sp>
      <p:sp>
        <p:nvSpPr>
          <p:cNvPr id="15" name="Text 11"/>
          <p:cNvSpPr txBox="1"/>
          <p:nvPr/>
        </p:nvSpPr>
        <p:spPr>
          <a:xfrm>
            <a:off x="640080" y="3703320"/>
            <a:ext cx="7863840" cy="749808"/>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Largest group: 9 identical cars (X0 = x), test times 106–128 s – up to 22 seconds apart.</a:t>
            </a:r>
            <a:endParaRPr lang="en-US" sz="1250" dirty="0"/>
          </a:p>
          <a:p>
            <a:pPr indent="0" marL="0">
              <a:buNone/>
            </a:pPr>
            <a:r>
              <a:rPr lang="en-US" sz="1250" dirty="0">
                <a:solidFill>
                  <a:srgbClr val="1F2933"/>
                </a:solidFill>
                <a:latin typeface="Calibri" pitchFamily="34" charset="0"/>
                <a:ea typeface="Calibri" pitchFamily="34" charset="-122"/>
                <a:cs typeface="Calibri" pitchFamily="34" charset="-120"/>
              </a:rPr>
              <a:t>Second largest: 7 identical cars (X0 = n), test times 87.27–96.03 s – up to 8.8 seconds apart.   Twins come from 20 of 47 X0 types.</a:t>
            </a:r>
            <a:endParaRPr lang="en-US" sz="1250" dirty="0"/>
          </a:p>
        </p:txBody>
      </p:sp>
      <p:sp>
        <p:nvSpPr>
          <p:cNvPr id="16" name="Text 12"/>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belongs to main slide 5   </a:t>
            </a:r>
            <a:pPr indent="0" marL="0">
              <a:buNone/>
            </a:pPr>
            <a:r>
              <a:rPr lang="en-US" sz="900" i="1" dirty="0">
                <a:solidFill>
                  <a:srgbClr val="5B6670"/>
                </a:solidFill>
                <a:latin typeface="Calibri" pitchFamily="34" charset="0"/>
                <a:ea typeface="Calibri" pitchFamily="34" charset="-122"/>
                <a:cs typeface="Calibri" pitchFamily="34" charset="-120"/>
              </a:rPr>
              <a:t>Source: content list #5a; Steps 2–3 (R2, R3; D17, D18); 9-car group, 20 of 47: handover 26 (D52, D53); cars per size + 7-car group (IDs 689, 692, 735, 802, 821, 873, 964): handover 28 (D58); changes 12, 15 (D59)</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From identical cars to the 60 % limit</a:t>
            </a:r>
            <a:endParaRPr lang="en-US" sz="2600" dirty="0"/>
          </a:p>
        </p:txBody>
      </p:sp>
      <p:sp>
        <p:nvSpPr>
          <p:cNvPr id="3" name="tag"/>
          <p:cNvSpPr/>
          <p:nvPr/>
        </p:nvSpPr>
        <p:spPr>
          <a:xfrm>
            <a:off x="7818120" y="347472"/>
            <a:ext cx="868680" cy="274320"/>
          </a:xfrm>
          <a:prstGeom prst="roundRect">
            <a:avLst>
              <a:gd name="adj" fmla="val 26667"/>
            </a:avLst>
          </a:prstGeom>
          <a:solidFill>
            <a:srgbClr val="EAF2FB"/>
          </a:solidFill>
          <a:ln w="12700">
            <a:solidFill>
              <a:srgbClr val="EAF2FB"/>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164A82"/>
                </a:solidFill>
                <a:latin typeface="Calibri" pitchFamily="34" charset="0"/>
                <a:ea typeface="Calibri" pitchFamily="34" charset="-122"/>
                <a:cs typeface="Calibri" pitchFamily="34" charset="-120"/>
              </a:rPr>
              <a:t>Backup · M1</a:t>
            </a:r>
            <a:endParaRPr lang="en-US" sz="900" dirty="0"/>
          </a:p>
        </p:txBody>
      </p:sp>
      <p:sp>
        <p:nvSpPr>
          <p:cNvPr id="6" name="num1"/>
          <p:cNvSpPr/>
          <p:nvPr/>
        </p:nvSpPr>
        <p:spPr>
          <a:xfrm>
            <a:off x="457200" y="978408"/>
            <a:ext cx="329184" cy="329184"/>
          </a:xfrm>
          <a:prstGeom prst="ellipse">
            <a:avLst/>
          </a:prstGeom>
          <a:solidFill>
            <a:srgbClr val="2B7BD8"/>
          </a:solidFill>
          <a:ln w="12700">
            <a:solidFill>
              <a:srgbClr val="2B7BD8"/>
            </a:solidFill>
            <a:prstDash val="solid"/>
          </a:ln>
        </p:spPr>
      </p:sp>
      <p:sp>
        <p:nvSpPr>
          <p:cNvPr id="7" name="Text 4"/>
          <p:cNvSpPr txBox="1"/>
          <p:nvPr/>
        </p:nvSpPr>
        <p:spPr>
          <a:xfrm>
            <a:off x="457200" y="97840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txBox="1"/>
          <p:nvPr/>
        </p:nvSpPr>
        <p:spPr>
          <a:xfrm>
            <a:off x="914400" y="960120"/>
            <a:ext cx="7772400" cy="521208"/>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Average test time of all 4,209 cars: 100.7 s. Spread around it: 160.8 s² (seconds squared, the variance – not an error). Its square root, 12.7 s, is the typical distance of a car from the average</a:t>
            </a:r>
            <a:endParaRPr lang="en-US" sz="1250" dirty="0"/>
          </a:p>
        </p:txBody>
      </p:sp>
      <p:sp>
        <p:nvSpPr>
          <p:cNvPr id="9" name="num2"/>
          <p:cNvSpPr/>
          <p:nvPr/>
        </p:nvSpPr>
        <p:spPr>
          <a:xfrm>
            <a:off x="457200" y="1545336"/>
            <a:ext cx="329184" cy="329184"/>
          </a:xfrm>
          <a:prstGeom prst="ellipse">
            <a:avLst/>
          </a:prstGeom>
          <a:solidFill>
            <a:srgbClr val="2B7BD8"/>
          </a:solidFill>
          <a:ln w="12700">
            <a:solidFill>
              <a:srgbClr val="2B7BD8"/>
            </a:solidFill>
            <a:prstDash val="solid"/>
          </a:ln>
        </p:spPr>
      </p:sp>
      <p:sp>
        <p:nvSpPr>
          <p:cNvPr id="10" name="Text 7"/>
          <p:cNvSpPr txBox="1"/>
          <p:nvPr/>
        </p:nvSpPr>
        <p:spPr>
          <a:xfrm>
            <a:off x="457200" y="1545336"/>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914400" y="1527048"/>
            <a:ext cx="7772400" cy="521208"/>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Inside the 217 groups of identical cars the spread is still 64.9 s² (square root 8.1 s) – the configuration is the same, so this part is noise: reasons the data does not record, e.g. human error</a:t>
            </a:r>
            <a:endParaRPr lang="en-US" sz="1250" dirty="0"/>
          </a:p>
        </p:txBody>
      </p:sp>
      <p:sp>
        <p:nvSpPr>
          <p:cNvPr id="12" name="num3"/>
          <p:cNvSpPr/>
          <p:nvPr/>
        </p:nvSpPr>
        <p:spPr>
          <a:xfrm>
            <a:off x="457200" y="2112264"/>
            <a:ext cx="329184" cy="329184"/>
          </a:xfrm>
          <a:prstGeom prst="ellipse">
            <a:avLst/>
          </a:prstGeom>
          <a:solidFill>
            <a:srgbClr val="2B7BD8"/>
          </a:solidFill>
          <a:ln w="12700">
            <a:solidFill>
              <a:srgbClr val="2B7BD8"/>
            </a:solidFill>
            <a:prstDash val="solid"/>
          </a:ln>
        </p:spPr>
      </p:sp>
      <p:sp>
        <p:nvSpPr>
          <p:cNvPr id="13" name="Text 10"/>
          <p:cNvSpPr txBox="1"/>
          <p:nvPr/>
        </p:nvSpPr>
        <p:spPr>
          <a:xfrm>
            <a:off x="457200" y="2112264"/>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txBox="1"/>
          <p:nvPr/>
        </p:nvSpPr>
        <p:spPr>
          <a:xfrm>
            <a:off x="914400" y="2093976"/>
            <a:ext cx="7772400" cy="521208"/>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Noise share: 64.9 s² out of 160.8 s² = 40 %. The other 60 % (95.9 s²) is the most the configuration can explain → limit about 60 %</a:t>
            </a:r>
            <a:endParaRPr lang="en-US" sz="1250" dirty="0"/>
          </a:p>
        </p:txBody>
      </p:sp>
      <p:sp>
        <p:nvSpPr>
          <p:cNvPr id="15" name="noisebar"/>
          <p:cNvSpPr/>
          <p:nvPr/>
        </p:nvSpPr>
        <p:spPr>
          <a:xfrm>
            <a:off x="457200" y="2743200"/>
            <a:ext cx="3321524" cy="502920"/>
          </a:xfrm>
          <a:prstGeom prst="rect">
            <a:avLst/>
          </a:prstGeom>
          <a:solidFill>
            <a:srgbClr val="C77700"/>
          </a:solidFill>
          <a:ln w="12700">
            <a:solidFill>
              <a:srgbClr val="C77700"/>
            </a:solidFill>
            <a:prstDash val="solid"/>
          </a:ln>
        </p:spPr>
      </p:sp>
      <p:sp>
        <p:nvSpPr>
          <p:cNvPr id="16" name="explbar"/>
          <p:cNvSpPr/>
          <p:nvPr/>
        </p:nvSpPr>
        <p:spPr>
          <a:xfrm>
            <a:off x="3778724" y="2743200"/>
            <a:ext cx="4908076" cy="502920"/>
          </a:xfrm>
          <a:prstGeom prst="rect">
            <a:avLst/>
          </a:prstGeom>
          <a:solidFill>
            <a:srgbClr val="2E8B57"/>
          </a:solidFill>
          <a:ln w="12700">
            <a:solidFill>
              <a:srgbClr val="2E8B57"/>
            </a:solidFill>
            <a:prstDash val="solid"/>
          </a:ln>
        </p:spPr>
      </p:sp>
      <p:sp>
        <p:nvSpPr>
          <p:cNvPr id="17" name="Text 14"/>
          <p:cNvSpPr txBox="1"/>
          <p:nvPr/>
        </p:nvSpPr>
        <p:spPr>
          <a:xfrm>
            <a:off x="457200" y="2743200"/>
            <a:ext cx="3321524"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noise 64.9 s² (40 %)</a:t>
            </a:r>
            <a:endParaRPr lang="en-US" sz="1200" dirty="0"/>
          </a:p>
        </p:txBody>
      </p:sp>
      <p:sp>
        <p:nvSpPr>
          <p:cNvPr id="18" name="Text 15"/>
          <p:cNvSpPr txBox="1"/>
          <p:nvPr/>
        </p:nvSpPr>
        <p:spPr>
          <a:xfrm>
            <a:off x="3778724" y="2743200"/>
            <a:ext cx="4908076"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explainable from the configuration 95.9 s² (60 %)</a:t>
            </a:r>
            <a:endParaRPr lang="en-US" sz="1200" dirty="0"/>
          </a:p>
        </p:txBody>
      </p:sp>
      <p:sp>
        <p:nvSpPr>
          <p:cNvPr id="19" name="Text 16"/>
          <p:cNvSpPr txBox="1"/>
          <p:nvPr/>
        </p:nvSpPr>
        <p:spPr>
          <a:xfrm>
            <a:off x="457200" y="3264408"/>
            <a:ext cx="8229600" cy="274320"/>
          </a:xfrm>
          <a:prstGeom prst="rect">
            <a:avLst/>
          </a:prstGeom>
          <a:noFill/>
          <a:ln/>
        </p:spPr>
        <p:txBody>
          <a:bodyPr wrap="square" lIns="0" tIns="0" rIns="0" bIns="0" rtlCol="0" anchor="t"/>
          <a:lstStyle/>
          <a:p>
            <a:pPr algn="ctr" indent="0" marL="0">
              <a:buNone/>
            </a:pPr>
            <a:r>
              <a:rPr lang="en-US" sz="1000" dirty="0">
                <a:solidFill>
                  <a:srgbClr val="5B6670"/>
                </a:solidFill>
                <a:latin typeface="Calibri" pitchFamily="34" charset="0"/>
                <a:ea typeface="Calibri" pitchFamily="34" charset="-122"/>
                <a:cs typeface="Calibri" pitchFamily="34" charset="-120"/>
              </a:rPr>
              <a:t>total spread of all 4,209 cars: 160.8 s²</a:t>
            </a:r>
            <a:endParaRPr lang="en-US" sz="1000" dirty="0"/>
          </a:p>
        </p:txBody>
      </p:sp>
      <p:sp>
        <p:nvSpPr>
          <p:cNvPr id="20" name="Text 17"/>
          <p:cNvSpPr txBox="1"/>
          <p:nvPr/>
        </p:nvSpPr>
        <p:spPr>
          <a:xfrm>
            <a:off x="457200" y="3749040"/>
            <a:ext cx="8229600" cy="71323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515 identical cars (12 %) are only the sample that measures the noise: they spread like all cars (12.6 s vs 12.7 s); with only these 515 cars the limit is 59 %. The noise (8.1 s) is close to our model's typical miss (about 8 s). Step by step: slide 23.</a:t>
            </a:r>
            <a:endParaRPr lang="en-US" sz="1200" dirty="0"/>
          </a:p>
        </p:txBody>
      </p:sp>
      <p:sp>
        <p:nvSpPr>
          <p:cNvPr id="21" name="Text 18"/>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belongs to main slide 5   </a:t>
            </a:r>
            <a:pPr indent="0" marL="0">
              <a:buNone/>
            </a:pPr>
            <a:r>
              <a:rPr lang="en-US" sz="900" i="1" dirty="0">
                <a:solidFill>
                  <a:srgbClr val="5B6670"/>
                </a:solidFill>
                <a:latin typeface="Calibri" pitchFamily="34" charset="0"/>
                <a:ea typeface="Calibri" pitchFamily="34" charset="-122"/>
                <a:cs typeface="Calibri" pitchFamily="34" charset="-120"/>
              </a:rPr>
              <a:t>Source: content list #5b; 160.8 / 64.9 / 0.5965: Step 5 (R6, D18); 100.7 s, divisors, √ = 12.7 / 8.1 s: handover 28 (D58, R76 = all cars); 0.59: R6; 12.6 vs 12.7 s: handover 26; changes 13, 16 (D59)</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How the noise is measured</a:t>
            </a:r>
            <a:endParaRPr lang="en-US" sz="2600" dirty="0"/>
          </a:p>
        </p:txBody>
      </p:sp>
      <p:sp>
        <p:nvSpPr>
          <p:cNvPr id="3" name="tag"/>
          <p:cNvSpPr/>
          <p:nvPr/>
        </p:nvSpPr>
        <p:spPr>
          <a:xfrm>
            <a:off x="7818120" y="347472"/>
            <a:ext cx="868680" cy="274320"/>
          </a:xfrm>
          <a:prstGeom prst="roundRect">
            <a:avLst>
              <a:gd name="adj" fmla="val 26667"/>
            </a:avLst>
          </a:prstGeom>
          <a:solidFill>
            <a:srgbClr val="EAF2FB"/>
          </a:solidFill>
          <a:ln w="12700">
            <a:solidFill>
              <a:srgbClr val="EAF2FB"/>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164A82"/>
                </a:solidFill>
                <a:latin typeface="Calibri" pitchFamily="34" charset="0"/>
                <a:ea typeface="Calibri" pitchFamily="34" charset="-122"/>
                <a:cs typeface="Calibri" pitchFamily="34" charset="-120"/>
              </a:rPr>
              <a:t>Backup · M1</a:t>
            </a:r>
            <a:endParaRPr lang="en-US" sz="900" dirty="0"/>
          </a:p>
        </p:txBody>
      </p:sp>
      <p:sp>
        <p:nvSpPr>
          <p:cNvPr id="6" name="num1"/>
          <p:cNvSpPr/>
          <p:nvPr/>
        </p:nvSpPr>
        <p:spPr>
          <a:xfrm>
            <a:off x="457200" y="978408"/>
            <a:ext cx="329184" cy="329184"/>
          </a:xfrm>
          <a:prstGeom prst="ellipse">
            <a:avLst/>
          </a:prstGeom>
          <a:solidFill>
            <a:srgbClr val="2B7BD8"/>
          </a:solidFill>
          <a:ln w="12700">
            <a:solidFill>
              <a:srgbClr val="2B7BD8"/>
            </a:solidFill>
            <a:prstDash val="solid"/>
          </a:ln>
        </p:spPr>
      </p:sp>
      <p:sp>
        <p:nvSpPr>
          <p:cNvPr id="7" name="Text 4"/>
          <p:cNvSpPr txBox="1"/>
          <p:nvPr/>
        </p:nvSpPr>
        <p:spPr>
          <a:xfrm>
            <a:off x="457200" y="97840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txBox="1"/>
          <p:nvPr/>
        </p:nvSpPr>
        <p:spPr>
          <a:xfrm>
            <a:off x="914400" y="960120"/>
            <a:ext cx="4572000" cy="63093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For each group of identical cars: calculate the group's average test time</a:t>
            </a:r>
            <a:endParaRPr lang="en-US" sz="1200" dirty="0"/>
          </a:p>
        </p:txBody>
      </p:sp>
      <p:sp>
        <p:nvSpPr>
          <p:cNvPr id="9" name="num2"/>
          <p:cNvSpPr/>
          <p:nvPr/>
        </p:nvSpPr>
        <p:spPr>
          <a:xfrm>
            <a:off x="457200" y="1655064"/>
            <a:ext cx="329184" cy="329184"/>
          </a:xfrm>
          <a:prstGeom prst="ellipse">
            <a:avLst/>
          </a:prstGeom>
          <a:solidFill>
            <a:srgbClr val="2B7BD8"/>
          </a:solidFill>
          <a:ln w="12700">
            <a:solidFill>
              <a:srgbClr val="2B7BD8"/>
            </a:solidFill>
            <a:prstDash val="solid"/>
          </a:ln>
        </p:spPr>
      </p:sp>
      <p:sp>
        <p:nvSpPr>
          <p:cNvPr id="10" name="Text 7"/>
          <p:cNvSpPr txBox="1"/>
          <p:nvPr/>
        </p:nvSpPr>
        <p:spPr>
          <a:xfrm>
            <a:off x="457200" y="1655064"/>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914400" y="1636776"/>
            <a:ext cx="4572000" cy="63093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For each car: its distance to the group average (e.g. −4, 0, +4 s), then squared (16, 0, 16) – squaring stops + and − from cancelling</a:t>
            </a:r>
            <a:endParaRPr lang="en-US" sz="1200" dirty="0"/>
          </a:p>
        </p:txBody>
      </p:sp>
      <p:sp>
        <p:nvSpPr>
          <p:cNvPr id="12" name="num3"/>
          <p:cNvSpPr/>
          <p:nvPr/>
        </p:nvSpPr>
        <p:spPr>
          <a:xfrm>
            <a:off x="457200" y="2331720"/>
            <a:ext cx="329184" cy="329184"/>
          </a:xfrm>
          <a:prstGeom prst="ellipse">
            <a:avLst/>
          </a:prstGeom>
          <a:solidFill>
            <a:srgbClr val="2B7BD8"/>
          </a:solidFill>
          <a:ln w="12700">
            <a:solidFill>
              <a:srgbClr val="2B7BD8"/>
            </a:solidFill>
            <a:prstDash val="solid"/>
          </a:ln>
        </p:spPr>
      </p:sp>
      <p:sp>
        <p:nvSpPr>
          <p:cNvPr id="13" name="Text 10"/>
          <p:cNvSpPr txBox="1"/>
          <p:nvPr/>
        </p:nvSpPr>
        <p:spPr>
          <a:xfrm>
            <a:off x="457200" y="23317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txBox="1"/>
          <p:nvPr/>
        </p:nvSpPr>
        <p:spPr>
          <a:xfrm>
            <a:off x="914400" y="2313432"/>
            <a:ext cx="4572000" cy="63093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Add the squared distances of all 515 identical cars in all 217 groups: 19,332.3 s²</a:t>
            </a:r>
            <a:endParaRPr lang="en-US" sz="1200" dirty="0"/>
          </a:p>
        </p:txBody>
      </p:sp>
      <p:sp>
        <p:nvSpPr>
          <p:cNvPr id="15" name="num4"/>
          <p:cNvSpPr/>
          <p:nvPr/>
        </p:nvSpPr>
        <p:spPr>
          <a:xfrm>
            <a:off x="457200" y="3008376"/>
            <a:ext cx="329184" cy="329184"/>
          </a:xfrm>
          <a:prstGeom prst="ellipse">
            <a:avLst/>
          </a:prstGeom>
          <a:solidFill>
            <a:srgbClr val="2B7BD8"/>
          </a:solidFill>
          <a:ln w="12700">
            <a:solidFill>
              <a:srgbClr val="2B7BD8"/>
            </a:solidFill>
            <a:prstDash val="solid"/>
          </a:ln>
        </p:spPr>
      </p:sp>
      <p:sp>
        <p:nvSpPr>
          <p:cNvPr id="16" name="Text 13"/>
          <p:cNvSpPr txBox="1"/>
          <p:nvPr/>
        </p:nvSpPr>
        <p:spPr>
          <a:xfrm>
            <a:off x="457200" y="3008376"/>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txBox="1"/>
          <p:nvPr/>
        </p:nvSpPr>
        <p:spPr>
          <a:xfrm>
            <a:off x="914400" y="2990088"/>
            <a:ext cx="4572000" cy="63093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Divide by 515 − 217 = 298: the 515 identical cars minus one value per group (217 groups), because each group's average is calculated from its own cars → 19,332.3 / 298 = 64.9 s²</a:t>
            </a:r>
            <a:endParaRPr lang="en-US" sz="1200" dirty="0"/>
          </a:p>
        </p:txBody>
      </p:sp>
      <p:sp>
        <p:nvSpPr>
          <p:cNvPr id="18" name="num5"/>
          <p:cNvSpPr/>
          <p:nvPr/>
        </p:nvSpPr>
        <p:spPr>
          <a:xfrm>
            <a:off x="457200" y="3685032"/>
            <a:ext cx="329184" cy="329184"/>
          </a:xfrm>
          <a:prstGeom prst="ellipse">
            <a:avLst/>
          </a:prstGeom>
          <a:solidFill>
            <a:srgbClr val="2B7BD8"/>
          </a:solidFill>
          <a:ln w="12700">
            <a:solidFill>
              <a:srgbClr val="2B7BD8"/>
            </a:solidFill>
            <a:prstDash val="solid"/>
          </a:ln>
        </p:spPr>
      </p:sp>
      <p:sp>
        <p:nvSpPr>
          <p:cNvPr id="19" name="Text 16"/>
          <p:cNvSpPr txBox="1"/>
          <p:nvPr/>
        </p:nvSpPr>
        <p:spPr>
          <a:xfrm>
            <a:off x="457200" y="368503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7"/>
          <p:cNvSpPr txBox="1"/>
          <p:nvPr/>
        </p:nvSpPr>
        <p:spPr>
          <a:xfrm>
            <a:off x="914400" y="3666744"/>
            <a:ext cx="4572000" cy="63093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Compare with the spread of all 4,209 cars (160.8 s², slide 22): 64.9 / 160.8 = 40 % noise</a:t>
            </a:r>
            <a:endParaRPr lang="en-US" sz="1200" dirty="0"/>
          </a:p>
        </p:txBody>
      </p:sp>
      <p:sp>
        <p:nvSpPr>
          <p:cNvPr id="21" name="card"/>
          <p:cNvSpPr/>
          <p:nvPr/>
        </p:nvSpPr>
        <p:spPr>
          <a:xfrm>
            <a:off x="5623560" y="1005840"/>
            <a:ext cx="3063240" cy="3337560"/>
          </a:xfrm>
          <a:prstGeom prst="roundRect">
            <a:avLst>
              <a:gd name="adj" fmla="val 2985"/>
            </a:avLst>
          </a:prstGeom>
          <a:solidFill>
            <a:srgbClr val="EAF2FB"/>
          </a:solidFill>
          <a:ln w="12700">
            <a:solidFill>
              <a:srgbClr val="EAF2FB"/>
            </a:solidFill>
            <a:prstDash val="solid"/>
          </a:ln>
        </p:spPr>
      </p:sp>
      <p:sp>
        <p:nvSpPr>
          <p:cNvPr id="22" name="Text 19"/>
          <p:cNvSpPr txBox="1"/>
          <p:nvPr/>
        </p:nvSpPr>
        <p:spPr>
          <a:xfrm>
            <a:off x="5806440" y="1143000"/>
            <a:ext cx="2743200" cy="320040"/>
          </a:xfrm>
          <a:prstGeom prst="rect">
            <a:avLst/>
          </a:prstGeom>
          <a:noFill/>
          <a:ln/>
        </p:spPr>
        <p:txBody>
          <a:bodyPr wrap="square" lIns="0" tIns="0" rIns="0" bIns="0" rtlCol="0" anchor="t"/>
          <a:lstStyle/>
          <a:p>
            <a:pPr indent="0" marL="0">
              <a:buNone/>
            </a:pPr>
            <a:r>
              <a:rPr lang="en-US" sz="1400" b="1" dirty="0">
                <a:solidFill>
                  <a:srgbClr val="164A82"/>
                </a:solidFill>
                <a:latin typeface="Calibri" pitchFamily="34" charset="0"/>
                <a:ea typeface="Calibri" pitchFamily="34" charset="-122"/>
                <a:cs typeface="Calibri" pitchFamily="34" charset="-120"/>
              </a:rPr>
              <a:t>Example (illustration only)</a:t>
            </a:r>
            <a:endParaRPr lang="en-US" sz="1400" dirty="0"/>
          </a:p>
        </p:txBody>
      </p:sp>
      <p:sp>
        <p:nvSpPr>
          <p:cNvPr id="23" name="Text 20"/>
          <p:cNvSpPr txBox="1"/>
          <p:nvPr/>
        </p:nvSpPr>
        <p:spPr>
          <a:xfrm>
            <a:off x="5806440" y="1463040"/>
            <a:ext cx="2743200" cy="2011680"/>
          </a:xfrm>
          <a:prstGeom prst="rect">
            <a:avLst/>
          </a:prstGeom>
          <a:noFill/>
          <a:ln/>
        </p:spPr>
        <p:txBody>
          <a:bodyPr wrap="square" lIns="0" tIns="0" rIns="0" bIns="0" rtlCol="0" anchor="t"/>
          <a:lstStyle/>
          <a:p>
            <a:pPr indent="0" marL="0">
              <a:spcAft>
                <a:spcPts val="300"/>
              </a:spcAft>
              <a:buNone/>
            </a:pPr>
            <a:r>
              <a:rPr lang="en-US" sz="1100" dirty="0">
                <a:solidFill>
                  <a:srgbClr val="1F2933"/>
                </a:solidFill>
                <a:latin typeface="Calibri" pitchFamily="34" charset="0"/>
                <a:ea typeface="Calibri" pitchFamily="34" charset="-122"/>
                <a:cs typeface="Calibri" pitchFamily="34" charset="-120"/>
              </a:rPr>
              <a:t>3 identical cars: 100 s, 104 s, 108 s</a:t>
            </a:r>
            <a:endParaRPr lang="en-US" sz="1100" dirty="0"/>
          </a:p>
          <a:p>
            <a:pPr indent="0" marL="0">
              <a:spcAft>
                <a:spcPts val="300"/>
              </a:spcAft>
              <a:buNone/>
            </a:pPr>
            <a:r>
              <a:rPr lang="en-US" sz="1100" dirty="0">
                <a:solidFill>
                  <a:srgbClr val="1F2933"/>
                </a:solidFill>
                <a:latin typeface="Calibri" pitchFamily="34" charset="0"/>
                <a:ea typeface="Calibri" pitchFamily="34" charset="-122"/>
                <a:cs typeface="Calibri" pitchFamily="34" charset="-120"/>
              </a:rPr>
              <a:t>Average: (100 + 104 + 108) / 3 = 104 s</a:t>
            </a:r>
            <a:endParaRPr lang="en-US" sz="1100" dirty="0"/>
          </a:p>
          <a:p>
            <a:pPr indent="0" marL="0">
              <a:spcAft>
                <a:spcPts val="300"/>
              </a:spcAft>
              <a:buNone/>
            </a:pPr>
            <a:r>
              <a:rPr lang="en-US" sz="1100" dirty="0">
                <a:solidFill>
                  <a:srgbClr val="1F2933"/>
                </a:solidFill>
                <a:latin typeface="Calibri" pitchFamily="34" charset="0"/>
                <a:ea typeface="Calibri" pitchFamily="34" charset="-122"/>
                <a:cs typeface="Calibri" pitchFamily="34" charset="-120"/>
              </a:rPr>
              <a:t>Distances: 100 − 104 = −4;  104 − 104 = 0;  108 − 104 = +4</a:t>
            </a:r>
            <a:endParaRPr lang="en-US" sz="1100" dirty="0"/>
          </a:p>
          <a:p>
            <a:pPr indent="0" marL="0">
              <a:spcAft>
                <a:spcPts val="300"/>
              </a:spcAft>
              <a:buNone/>
            </a:pPr>
            <a:r>
              <a:rPr lang="en-US" sz="1100" dirty="0">
                <a:solidFill>
                  <a:srgbClr val="1F2933"/>
                </a:solidFill>
                <a:latin typeface="Calibri" pitchFamily="34" charset="0"/>
                <a:ea typeface="Calibri" pitchFamily="34" charset="-122"/>
                <a:cs typeface="Calibri" pitchFamily="34" charset="-120"/>
              </a:rPr>
              <a:t>Squared: (−4)² + 0² + 4² = 16 + 0 + 16 = 32 s²</a:t>
            </a:r>
            <a:endParaRPr lang="en-US" sz="1100" dirty="0"/>
          </a:p>
          <a:p>
            <a:pPr indent="0" marL="0">
              <a:spcAft>
                <a:spcPts val="300"/>
              </a:spcAft>
              <a:buNone/>
            </a:pPr>
            <a:r>
              <a:rPr lang="en-US" sz="1100" dirty="0">
                <a:solidFill>
                  <a:srgbClr val="1F2933"/>
                </a:solidFill>
                <a:latin typeface="Calibri" pitchFamily="34" charset="0"/>
                <a:ea typeface="Calibri" pitchFamily="34" charset="-122"/>
                <a:cs typeface="Calibri" pitchFamily="34" charset="-120"/>
              </a:rPr>
              <a:t>Divide by 3 − 1 = 2: the 3 distances always add up to 0, so once 2 are known the 3rd is fixed → only 2 are free</a:t>
            </a:r>
            <a:endParaRPr lang="en-US" sz="1100" dirty="0"/>
          </a:p>
          <a:p>
            <a:pPr indent="0" marL="0">
              <a:spcAft>
                <a:spcPts val="300"/>
              </a:spcAft>
              <a:buNone/>
            </a:pPr>
            <a:r>
              <a:rPr lang="en-US" sz="1100" dirty="0">
                <a:solidFill>
                  <a:srgbClr val="1F2933"/>
                </a:solidFill>
                <a:latin typeface="Calibri" pitchFamily="34" charset="0"/>
                <a:ea typeface="Calibri" pitchFamily="34" charset="-122"/>
                <a:cs typeface="Calibri" pitchFamily="34" charset="-120"/>
              </a:rPr>
              <a:t>32 / 2 = 16 s² → square root: 4 s</a:t>
            </a:r>
            <a:endParaRPr lang="en-US" sz="1100" dirty="0"/>
          </a:p>
        </p:txBody>
      </p:sp>
      <p:sp>
        <p:nvSpPr>
          <p:cNvPr id="24" name="Text 21"/>
          <p:cNvSpPr txBox="1"/>
          <p:nvPr/>
        </p:nvSpPr>
        <p:spPr>
          <a:xfrm>
            <a:off x="5806440" y="3520440"/>
            <a:ext cx="2743200" cy="777240"/>
          </a:xfrm>
          <a:prstGeom prst="rect">
            <a:avLst/>
          </a:prstGeom>
          <a:noFill/>
          <a:ln/>
        </p:spPr>
        <p:txBody>
          <a:bodyPr wrap="square" lIns="0" tIns="0" rIns="0" bIns="0" rtlCol="0" anchor="t"/>
          <a:lstStyle/>
          <a:p>
            <a:pPr indent="0" marL="0">
              <a:buNone/>
            </a:pPr>
            <a:r>
              <a:rPr lang="en-US" sz="1100" b="1" dirty="0">
                <a:solidFill>
                  <a:srgbClr val="1F2933"/>
                </a:solidFill>
                <a:latin typeface="Calibri" pitchFamily="34" charset="0"/>
                <a:ea typeface="Calibri" pitchFamily="34" charset="-122"/>
                <a:cs typeface="Calibri" pitchFamily="34" charset="-120"/>
              </a:rPr>
              <a:t>Equation (real data)</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noise = sum of (test time − group average)² ÷ (identical cars − groups) = 19,332.3 ÷ (515 − 217) = 64.9 s²</a:t>
            </a:r>
            <a:endParaRPr lang="en-US" sz="1100" dirty="0"/>
          </a:p>
        </p:txBody>
      </p:sp>
      <p:sp>
        <p:nvSpPr>
          <p:cNvPr id="25" name="Text 22"/>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belongs to main slide 5   </a:t>
            </a:r>
            <a:pPr indent="0" marL="0">
              <a:buNone/>
            </a:pPr>
            <a:r>
              <a:rPr lang="en-US" sz="900" i="1" dirty="0">
                <a:solidFill>
                  <a:srgbClr val="5B6670"/>
                </a:solidFill>
                <a:latin typeface="Calibri" pitchFamily="34" charset="0"/>
                <a:ea typeface="Calibri" pitchFamily="34" charset="-122"/>
                <a:cs typeface="Calibri" pitchFamily="34" charset="-120"/>
              </a:rPr>
              <a:t>Source: content list #5c; Step 5 (R4, R6; D18); 64.9 / 160.8 s²: Step 5; 19,332.3 s², divisor 298: handover 28 (D58); example values made up for illustration; change 17 (D59)</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What is X0?</a:t>
            </a:r>
            <a:endParaRPr lang="en-US" sz="2600" dirty="0"/>
          </a:p>
        </p:txBody>
      </p:sp>
      <p:sp>
        <p:nvSpPr>
          <p:cNvPr id="3" name="tag"/>
          <p:cNvSpPr/>
          <p:nvPr/>
        </p:nvSpPr>
        <p:spPr>
          <a:xfrm>
            <a:off x="7818120" y="347472"/>
            <a:ext cx="868680" cy="274320"/>
          </a:xfrm>
          <a:prstGeom prst="roundRect">
            <a:avLst>
              <a:gd name="adj" fmla="val 26667"/>
            </a:avLst>
          </a:prstGeom>
          <a:solidFill>
            <a:srgbClr val="EAF2FB"/>
          </a:solidFill>
          <a:ln w="12700">
            <a:solidFill>
              <a:srgbClr val="EAF2FB"/>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164A82"/>
                </a:solidFill>
                <a:latin typeface="Calibri" pitchFamily="34" charset="0"/>
                <a:ea typeface="Calibri" pitchFamily="34" charset="-122"/>
                <a:cs typeface="Calibri" pitchFamily="34" charset="-120"/>
              </a:rPr>
              <a:t>Backup · M1</a:t>
            </a:r>
            <a:endParaRPr lang="en-US" sz="900" dirty="0"/>
          </a:p>
        </p:txBody>
      </p:sp>
      <p:sp>
        <p:nvSpPr>
          <p:cNvPr id="6" name="Text 3"/>
          <p:cNvSpPr txBox="1"/>
          <p:nvPr/>
        </p:nvSpPr>
        <p:spPr>
          <a:xfrm>
            <a:off x="457200" y="1097280"/>
            <a:ext cx="8229600" cy="18288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F2933"/>
                </a:solidFill>
                <a:latin typeface="Calibri" pitchFamily="34" charset="0"/>
                <a:ea typeface="Calibri" pitchFamily="34" charset="-122"/>
                <a:cs typeface="Calibri" pitchFamily="34" charset="-120"/>
              </a:rPr>
              <a:t>X0 is not an algorithm – it is one column of the data</a:t>
            </a:r>
            <a:endParaRPr lang="en-US" sz="1400" dirty="0"/>
          </a:p>
          <a:p>
            <a:pPr marL="342900" indent="-342900">
              <a:spcAft>
                <a:spcPts val="500"/>
              </a:spcAft>
              <a:buSzPct val="100000"/>
              <a:buChar char="•"/>
            </a:pPr>
            <a:r>
              <a:rPr lang="en-US" sz="1400" dirty="0">
                <a:solidFill>
                  <a:srgbClr val="1F2933"/>
                </a:solidFill>
                <a:latin typeface="Calibri" pitchFamily="34" charset="0"/>
                <a:ea typeface="Calibri" pitchFamily="34" charset="-122"/>
                <a:cs typeface="Calibri" pitchFamily="34" charset="-120"/>
              </a:rPr>
              <a:t>Mercedes-Benz hid the real column names, so they are called X0, X1, X2 …</a:t>
            </a:r>
            <a:endParaRPr lang="en-US" sz="1400" dirty="0"/>
          </a:p>
          <a:p>
            <a:pPr marL="342900" indent="-342900">
              <a:spcAft>
                <a:spcPts val="500"/>
              </a:spcAft>
              <a:buSzPct val="100000"/>
              <a:buChar char="•"/>
            </a:pPr>
            <a:r>
              <a:rPr lang="en-US" sz="1400" dirty="0">
                <a:solidFill>
                  <a:srgbClr val="1F2933"/>
                </a:solidFill>
                <a:latin typeface="Calibri" pitchFamily="34" charset="0"/>
                <a:ea typeface="Calibri" pitchFamily="34" charset="-122"/>
                <a:cs typeface="Calibri" pitchFamily="34" charset="-120"/>
              </a:rPr>
              <a:t>X0 is one of the 8 text columns: every car has exactly one X0 code; there are 47 codes</a:t>
            </a:r>
            <a:endParaRPr lang="en-US" sz="1400" dirty="0"/>
          </a:p>
          <a:p>
            <a:pPr marL="342900" indent="-342900">
              <a:spcAft>
                <a:spcPts val="500"/>
              </a:spcAft>
              <a:buSzPct val="100000"/>
              <a:buChar char="•"/>
            </a:pPr>
            <a:r>
              <a:rPr lang="en-US" sz="1400" dirty="0">
                <a:solidFill>
                  <a:srgbClr val="1F2933"/>
                </a:solidFill>
                <a:latin typeface="Calibri" pitchFamily="34" charset="0"/>
                <a:ea typeface="Calibri" pitchFamily="34" charset="-122"/>
                <a:cs typeface="Calibri" pitchFamily="34" charset="-120"/>
              </a:rPr>
              <a:t>For the models every X0 code becomes its own yes/no (0/1) column (one-hot encoding); a code never seen in training counts as an average car</a:t>
            </a:r>
            <a:endParaRPr lang="en-US" sz="1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3108960"/>
          <a:ext cx="8229600" cy="914400"/>
        </p:xfrm>
        <a:graphic>
          <a:graphicData uri="http://schemas.openxmlformats.org/drawingml/2006/table">
            <a:tbl>
              <a:tblPr/>
              <a:tblGrid>
                <a:gridCol w="1188720"/>
                <a:gridCol w="822960"/>
                <a:gridCol w="822960"/>
                <a:gridCol w="548640"/>
                <a:gridCol w="822960"/>
                <a:gridCol w="822960"/>
                <a:gridCol w="548640"/>
                <a:gridCol w="914400"/>
                <a:gridCol w="1737360"/>
              </a:tblGrid>
              <a:tr h="36576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Car</a:t>
                      </a:r>
                      <a:endParaRPr lang="en-US" sz="13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64A8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X0</a:t>
                      </a:r>
                      <a:endParaRPr lang="en-US" sz="13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64A8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X1</a:t>
                      </a:r>
                      <a:endParaRPr lang="en-US" sz="13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64A8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64A8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X10</a:t>
                      </a:r>
                      <a:endParaRPr lang="en-US" sz="13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64A8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X11</a:t>
                      </a:r>
                      <a:endParaRPr lang="en-US" sz="13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64A8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64A8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X385</a:t>
                      </a:r>
                      <a:endParaRPr lang="en-US" sz="13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64A8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test time</a:t>
                      </a:r>
                      <a:endParaRPr lang="en-US" sz="13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64A82"/>
                    </a:solidFill>
                  </a:tcPr>
                </a:tc>
              </a:tr>
              <a:tr h="365760">
                <a:tc>
                  <a:txBody>
                    <a:bodyPr/>
                    <a:lstStyle/>
                    <a:p>
                      <a:pPr algn="ctr" indent="0" marL="0">
                        <a:buNone/>
                      </a:pPr>
                      <a:r>
                        <a:rPr lang="en-US" sz="1300" dirty="0">
                          <a:solidFill>
                            <a:srgbClr val="1F2933"/>
                          </a:solidFill>
                          <a:latin typeface="Calibri" pitchFamily="34" charset="0"/>
                          <a:ea typeface="Calibri" pitchFamily="34" charset="-122"/>
                          <a:cs typeface="Calibri" pitchFamily="34" charset="-120"/>
                        </a:rPr>
                        <a:t>one car</a:t>
                      </a:r>
                      <a:endParaRPr lang="en-US" sz="13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300" b="1" dirty="0">
                          <a:solidFill>
                            <a:srgbClr val="2B7BD8"/>
                          </a:solidFill>
                          <a:latin typeface="Calibri" pitchFamily="34" charset="0"/>
                          <a:ea typeface="Calibri" pitchFamily="34" charset="-122"/>
                          <a:cs typeface="Calibri" pitchFamily="34" charset="-120"/>
                        </a:rPr>
                        <a:t>bc</a:t>
                      </a:r>
                      <a:endParaRPr lang="en-US" sz="13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300" dirty="0">
                          <a:solidFill>
                            <a:srgbClr val="1F2933"/>
                          </a:solidFill>
                          <a:latin typeface="Calibri" pitchFamily="34" charset="0"/>
                          <a:ea typeface="Calibri" pitchFamily="34" charset="-122"/>
                          <a:cs typeface="Calibri" pitchFamily="34" charset="-120"/>
                        </a:rPr>
                        <a:t>v</a:t>
                      </a:r>
                      <a:endParaRPr lang="en-US" sz="13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300" dirty="0">
                          <a:solidFill>
                            <a:srgbClr val="1F29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300" dirty="0">
                          <a:solidFill>
                            <a:srgbClr val="1F2933"/>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300" dirty="0">
                          <a:solidFill>
                            <a:srgbClr val="1F2933"/>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300" dirty="0">
                          <a:solidFill>
                            <a:srgbClr val="1F29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300" dirty="0">
                          <a:solidFill>
                            <a:srgbClr val="1F2933"/>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300" dirty="0">
                          <a:solidFill>
                            <a:srgbClr val="1F2933"/>
                          </a:solidFill>
                          <a:latin typeface="Calibri" pitchFamily="34" charset="0"/>
                          <a:ea typeface="Calibri" pitchFamily="34" charset="-122"/>
                          <a:cs typeface="Calibri" pitchFamily="34" charset="-120"/>
                        </a:rPr>
                        <a:t>y (s)</a:t>
                      </a:r>
                      <a:endParaRPr lang="en-US" sz="13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8" name="Text 4"/>
          <p:cNvSpPr txBox="1"/>
          <p:nvPr/>
        </p:nvSpPr>
        <p:spPr>
          <a:xfrm>
            <a:off x="457200" y="3931920"/>
            <a:ext cx="8229600" cy="274320"/>
          </a:xfrm>
          <a:prstGeom prst="rect">
            <a:avLst/>
          </a:prstGeom>
          <a:noFill/>
          <a:ln/>
        </p:spPr>
        <p:txBody>
          <a:bodyPr wrap="square" lIns="0" tIns="0" rIns="0" bIns="0" rtlCol="0" anchor="t"/>
          <a:lstStyle/>
          <a:p>
            <a:pPr indent="0" marL="0">
              <a:buNone/>
            </a:pPr>
            <a:r>
              <a:rPr lang="en-US" sz="1100" i="1" dirty="0">
                <a:solidFill>
                  <a:srgbClr val="5B6670"/>
                </a:solidFill>
                <a:latin typeface="Calibri" pitchFamily="34" charset="0"/>
                <a:ea typeface="Calibri" pitchFamily="34" charset="-122"/>
                <a:cs typeface="Calibri" pitchFamily="34" charset="-120"/>
              </a:rPr>
              <a:t>Example row – values for illustration only (text codes + yes/no (0/1) columns).</a:t>
            </a:r>
            <a:endParaRPr lang="en-US" sz="1100" dirty="0"/>
          </a:p>
        </p:txBody>
      </p:sp>
      <p:sp>
        <p:nvSpPr>
          <p:cNvPr id="9" name="Text 5"/>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belongs to main slide 7   </a:t>
            </a:r>
            <a:pPr indent="0" marL="0">
              <a:buNone/>
            </a:pPr>
            <a:r>
              <a:rPr lang="en-US" sz="900" i="1" dirty="0">
                <a:solidFill>
                  <a:srgbClr val="5B6670"/>
                </a:solidFill>
                <a:latin typeface="Calibri" pitchFamily="34" charset="0"/>
                <a:ea typeface="Calibri" pitchFamily="34" charset="-122"/>
                <a:cs typeface="Calibri" pitchFamily="34" charset="-120"/>
              </a:rPr>
              <a:t>Source: content list #9; 8 text columns: Step 1 (D17); 47 codes, e.g. bc / aa: Step 22 (D36); one-hot + unseen codes: Steps 12, 20 (R21, D25); unseen code → base value: Step 28 (R65, D46)</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A strong column that tells nothing new</a:t>
            </a:r>
            <a:endParaRPr lang="en-US" sz="2600" dirty="0"/>
          </a:p>
        </p:txBody>
      </p:sp>
      <p:sp>
        <p:nvSpPr>
          <p:cNvPr id="3" name="tag"/>
          <p:cNvSpPr/>
          <p:nvPr/>
        </p:nvSpPr>
        <p:spPr>
          <a:xfrm>
            <a:off x="7818120" y="347472"/>
            <a:ext cx="868680" cy="274320"/>
          </a:xfrm>
          <a:prstGeom prst="roundRect">
            <a:avLst>
              <a:gd name="adj" fmla="val 26667"/>
            </a:avLst>
          </a:prstGeom>
          <a:solidFill>
            <a:srgbClr val="EAF2FB"/>
          </a:solidFill>
          <a:ln w="12700">
            <a:solidFill>
              <a:srgbClr val="EAF2FB"/>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164A82"/>
                </a:solidFill>
                <a:latin typeface="Calibri" pitchFamily="34" charset="0"/>
                <a:ea typeface="Calibri" pitchFamily="34" charset="-122"/>
                <a:cs typeface="Calibri" pitchFamily="34" charset="-120"/>
              </a:rPr>
              <a:t>Backup · M1</a:t>
            </a:r>
            <a:endParaRPr lang="en-US" sz="900" dirty="0"/>
          </a:p>
        </p:txBody>
      </p:sp>
      <p:pic>
        <p:nvPicPr>
          <p:cNvPr id="6" name="step15bars" descr="img/cell63c.png">    </p:cNvPr>
          <p:cNvPicPr>
            <a:picLocks noChangeAspect="1"/>
          </p:cNvPicPr>
          <p:nvPr/>
        </p:nvPicPr>
        <p:blipFill>
          <a:blip r:embed="rId1"/>
          <a:stretch>
            <a:fillRect/>
          </a:stretch>
        </p:blipFill>
        <p:spPr>
          <a:xfrm>
            <a:off x="457200" y="1424294"/>
            <a:ext cx="4846320" cy="2546372"/>
          </a:xfrm>
          <a:prstGeom prst="rect">
            <a:avLst/>
          </a:prstGeom>
        </p:spPr>
      </p:pic>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0" y="1097280"/>
          <a:ext cx="3200400" cy="914400"/>
        </p:xfrm>
        <a:graphic>
          <a:graphicData uri="http://schemas.openxmlformats.org/drawingml/2006/table">
            <a:tbl>
              <a:tblPr/>
              <a:tblGrid>
                <a:gridCol w="1005840"/>
                <a:gridCol w="1005840"/>
                <a:gridCol w="1188720"/>
              </a:tblGrid>
              <a:tr h="32004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X314</a:t>
                      </a:r>
                      <a:endParaRPr lang="en-US" sz="13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64A8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cars</a:t>
                      </a:r>
                      <a:endParaRPr lang="en-US" sz="13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64A8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avg time</a:t>
                      </a:r>
                      <a:endParaRPr lang="en-US" sz="13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64A82"/>
                    </a:solidFill>
                  </a:tcPr>
                </a:tc>
              </a:tr>
              <a:tr h="320040">
                <a:tc>
                  <a:txBody>
                    <a:bodyPr/>
                    <a:lstStyle/>
                    <a:p>
                      <a:pPr algn="ctr" indent="0" marL="0">
                        <a:buNone/>
                      </a:pPr>
                      <a:r>
                        <a:rPr lang="en-US" sz="1300" dirty="0">
                          <a:solidFill>
                            <a:srgbClr val="1F2933"/>
                          </a:solidFill>
                          <a:latin typeface="Calibri" pitchFamily="34" charset="0"/>
                          <a:ea typeface="Calibri" pitchFamily="34" charset="-122"/>
                          <a:cs typeface="Calibri" pitchFamily="34" charset="-120"/>
                        </a:rPr>
                        <a:t>with</a:t>
                      </a:r>
                      <a:endParaRPr lang="en-US" sz="13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300" dirty="0">
                          <a:solidFill>
                            <a:srgbClr val="1F2933"/>
                          </a:solidFill>
                          <a:latin typeface="Calibri" pitchFamily="34" charset="0"/>
                          <a:ea typeface="Calibri" pitchFamily="34" charset="-122"/>
                          <a:cs typeface="Calibri" pitchFamily="34" charset="-120"/>
                        </a:rPr>
                        <a:t>1,817</a:t>
                      </a:r>
                      <a:endParaRPr lang="en-US" sz="13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300" dirty="0">
                          <a:solidFill>
                            <a:srgbClr val="1F2933"/>
                          </a:solidFill>
                          <a:latin typeface="Calibri" pitchFamily="34" charset="0"/>
                          <a:ea typeface="Calibri" pitchFamily="34" charset="-122"/>
                          <a:cs typeface="Calibri" pitchFamily="34" charset="-120"/>
                        </a:rPr>
                        <a:t>109.5 s</a:t>
                      </a:r>
                      <a:endParaRPr lang="en-US" sz="13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20040">
                <a:tc>
                  <a:txBody>
                    <a:bodyPr/>
                    <a:lstStyle/>
                    <a:p>
                      <a:pPr algn="ctr" indent="0" marL="0">
                        <a:buNone/>
                      </a:pPr>
                      <a:r>
                        <a:rPr lang="en-US" sz="1300" dirty="0">
                          <a:solidFill>
                            <a:srgbClr val="1F2933"/>
                          </a:solidFill>
                          <a:latin typeface="Calibri" pitchFamily="34" charset="0"/>
                          <a:ea typeface="Calibri" pitchFamily="34" charset="-122"/>
                          <a:cs typeface="Calibri" pitchFamily="34" charset="-120"/>
                        </a:rPr>
                        <a:t>without</a:t>
                      </a:r>
                      <a:endParaRPr lang="en-US" sz="13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300" dirty="0">
                          <a:solidFill>
                            <a:srgbClr val="1F2933"/>
                          </a:solidFill>
                          <a:latin typeface="Calibri" pitchFamily="34" charset="0"/>
                          <a:ea typeface="Calibri" pitchFamily="34" charset="-122"/>
                          <a:cs typeface="Calibri" pitchFamily="34" charset="-120"/>
                        </a:rPr>
                        <a:t>2,392</a:t>
                      </a:r>
                      <a:endParaRPr lang="en-US" sz="13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300" dirty="0">
                          <a:solidFill>
                            <a:srgbClr val="1F2933"/>
                          </a:solidFill>
                          <a:latin typeface="Calibri" pitchFamily="34" charset="0"/>
                          <a:ea typeface="Calibri" pitchFamily="34" charset="-122"/>
                          <a:cs typeface="Calibri" pitchFamily="34" charset="-120"/>
                        </a:rPr>
                        <a:t>94.0 s</a:t>
                      </a:r>
                      <a:endParaRPr lang="en-US" sz="13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8" name="Text 3"/>
          <p:cNvSpPr txBox="1"/>
          <p:nvPr/>
        </p:nvSpPr>
        <p:spPr>
          <a:xfrm>
            <a:off x="5486400" y="2240280"/>
            <a:ext cx="3200400" cy="14630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X314 alone explains 36.7 %. But every X0 code is always with or always without X314 → once X0 is known it adds nothing (X0 alone explains 57.48 %; with X314 at most 57.52 %).</a:t>
            </a:r>
            <a:endParaRPr lang="en-US" sz="1300" dirty="0"/>
          </a:p>
        </p:txBody>
      </p:sp>
      <p:sp>
        <p:nvSpPr>
          <p:cNvPr id="9" name="Text 4"/>
          <p:cNvSpPr txBox="1"/>
          <p:nvPr/>
        </p:nvSpPr>
        <p:spPr>
          <a:xfrm>
            <a:off x="5486400" y="3749040"/>
            <a:ext cx="3200400" cy="548640"/>
          </a:xfrm>
          <a:prstGeom prst="rect">
            <a:avLst/>
          </a:prstGeom>
          <a:noFill/>
          <a:ln/>
        </p:spPr>
        <p:txBody>
          <a:bodyPr wrap="square" lIns="0" tIns="0" rIns="0" bIns="0" rtlCol="0" anchor="t"/>
          <a:lstStyle/>
          <a:p>
            <a:pPr indent="0" marL="0">
              <a:buNone/>
            </a:pPr>
            <a:r>
              <a:rPr lang="en-US" sz="1300" b="1" dirty="0">
                <a:solidFill>
                  <a:srgbClr val="2E8B57"/>
                </a:solidFill>
                <a:latin typeface="Calibri" pitchFamily="34" charset="0"/>
                <a:ea typeface="Calibri" pitchFamily="34" charset="-122"/>
                <a:cs typeface="Calibri" pitchFamily="34" charset="-120"/>
              </a:rPr>
              <a:t>Lesson: a strong single link is not new information.</a:t>
            </a:r>
            <a:endParaRPr lang="en-US" sz="1300" dirty="0"/>
          </a:p>
        </p:txBody>
      </p:sp>
      <p:sp>
        <p:nvSpPr>
          <p:cNvPr id="10" name="Text 5"/>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belongs to main slide 4   </a:t>
            </a:r>
            <a:pPr indent="0" marL="0">
              <a:buNone/>
            </a:pPr>
            <a:r>
              <a:rPr lang="en-US" sz="900" i="1" dirty="0">
                <a:solidFill>
                  <a:srgbClr val="5B6670"/>
                </a:solidFill>
                <a:latin typeface="Calibri" pitchFamily="34" charset="0"/>
                <a:ea typeface="Calibri" pitchFamily="34" charset="-122"/>
                <a:cs typeface="Calibri" pitchFamily="34" charset="-120"/>
              </a:rPr>
              <a:t>Source: content list #11; X314: Step 15 (R29); 57.48 % → 57.52 %: Step 16 (R32, D29); bar chart: Step 15</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X0 already decides X314</a:t>
            </a:r>
            <a:endParaRPr lang="en-US" sz="2600" dirty="0"/>
          </a:p>
        </p:txBody>
      </p:sp>
      <p:sp>
        <p:nvSpPr>
          <p:cNvPr id="3" name="tag"/>
          <p:cNvSpPr/>
          <p:nvPr/>
        </p:nvSpPr>
        <p:spPr>
          <a:xfrm>
            <a:off x="7818120" y="347472"/>
            <a:ext cx="868680" cy="274320"/>
          </a:xfrm>
          <a:prstGeom prst="roundRect">
            <a:avLst>
              <a:gd name="adj" fmla="val 26667"/>
            </a:avLst>
          </a:prstGeom>
          <a:solidFill>
            <a:srgbClr val="EAF2FB"/>
          </a:solidFill>
          <a:ln w="12700">
            <a:solidFill>
              <a:srgbClr val="EAF2FB"/>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164A82"/>
                </a:solidFill>
                <a:latin typeface="Calibri" pitchFamily="34" charset="0"/>
                <a:ea typeface="Calibri" pitchFamily="34" charset="-122"/>
                <a:cs typeface="Calibri" pitchFamily="34" charset="-120"/>
              </a:rPr>
              <a:t>Backup · M1</a:t>
            </a:r>
            <a:endParaRPr lang="en-US"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3840480" cy="914400"/>
        </p:xfrm>
        <a:graphic>
          <a:graphicData uri="http://schemas.openxmlformats.org/drawingml/2006/table">
            <a:tbl>
              <a:tblPr/>
              <a:tblGrid>
                <a:gridCol w="1280160"/>
                <a:gridCol w="1280160"/>
                <a:gridCol w="1280160"/>
              </a:tblGrid>
              <a:tr h="27432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X0 code</a:t>
                      </a:r>
                      <a:endParaRPr lang="en-US" sz="11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64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X314 = 1</a:t>
                      </a:r>
                      <a:endParaRPr lang="en-US" sz="11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64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X314 = 0</a:t>
                      </a:r>
                      <a:endParaRPr lang="en-US" sz="11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64A82"/>
                    </a:solidFill>
                  </a:tcPr>
                </a:tc>
              </a:tr>
              <a:tr h="274320">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z</a:t>
                      </a:r>
                      <a:endParaRPr lang="en-US" sz="11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100" dirty="0">
                          <a:solidFill>
                            <a:srgbClr val="5B6670"/>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100" b="1" dirty="0">
                          <a:solidFill>
                            <a:srgbClr val="2B7BD8"/>
                          </a:solidFill>
                          <a:latin typeface="Calibri" pitchFamily="34" charset="0"/>
                          <a:ea typeface="Calibri" pitchFamily="34" charset="-122"/>
                          <a:cs typeface="Calibri" pitchFamily="34" charset="-120"/>
                        </a:rPr>
                        <a:t>360</a:t>
                      </a:r>
                      <a:endParaRPr lang="en-US" sz="11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74320">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ak</a:t>
                      </a:r>
                      <a:endParaRPr lang="en-US" sz="11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100" b="1" dirty="0">
                          <a:solidFill>
                            <a:srgbClr val="2E8B57"/>
                          </a:solidFill>
                          <a:latin typeface="Calibri" pitchFamily="34" charset="0"/>
                          <a:ea typeface="Calibri" pitchFamily="34" charset="-122"/>
                          <a:cs typeface="Calibri" pitchFamily="34" charset="-120"/>
                        </a:rPr>
                        <a:t>349</a:t>
                      </a:r>
                      <a:endParaRPr lang="en-US" sz="11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100" dirty="0">
                          <a:solidFill>
                            <a:srgbClr val="5B6670"/>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74320">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100" dirty="0">
                          <a:solidFill>
                            <a:srgbClr val="5B6670"/>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100" b="1" dirty="0">
                          <a:solidFill>
                            <a:srgbClr val="2B7BD8"/>
                          </a:solidFill>
                          <a:latin typeface="Calibri" pitchFamily="34" charset="0"/>
                          <a:ea typeface="Calibri" pitchFamily="34" charset="-122"/>
                          <a:cs typeface="Calibri" pitchFamily="34" charset="-120"/>
                        </a:rPr>
                        <a:t>324</a:t>
                      </a:r>
                      <a:endParaRPr lang="en-US" sz="11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74320">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ay</a:t>
                      </a:r>
                      <a:endParaRPr lang="en-US" sz="11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100" b="1" dirty="0">
                          <a:solidFill>
                            <a:srgbClr val="2E8B57"/>
                          </a:solidFill>
                          <a:latin typeface="Calibri" pitchFamily="34" charset="0"/>
                          <a:ea typeface="Calibri" pitchFamily="34" charset="-122"/>
                          <a:cs typeface="Calibri" pitchFamily="34" charset="-120"/>
                        </a:rPr>
                        <a:t>313</a:t>
                      </a:r>
                      <a:endParaRPr lang="en-US" sz="11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100" dirty="0">
                          <a:solidFill>
                            <a:srgbClr val="5B6670"/>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74320">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t</a:t>
                      </a:r>
                      <a:endParaRPr lang="en-US" sz="11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100" dirty="0">
                          <a:solidFill>
                            <a:srgbClr val="5B6670"/>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100" b="1" dirty="0">
                          <a:solidFill>
                            <a:srgbClr val="2B7BD8"/>
                          </a:solidFill>
                          <a:latin typeface="Calibri" pitchFamily="34" charset="0"/>
                          <a:ea typeface="Calibri" pitchFamily="34" charset="-122"/>
                          <a:cs typeface="Calibri" pitchFamily="34" charset="-120"/>
                        </a:rPr>
                        <a:t>306</a:t>
                      </a:r>
                      <a:endParaRPr lang="en-US" sz="11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74320">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x</a:t>
                      </a:r>
                      <a:endParaRPr lang="en-US" sz="11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100" b="1" dirty="0">
                          <a:solidFill>
                            <a:srgbClr val="2E8B57"/>
                          </a:solidFill>
                          <a:latin typeface="Calibri" pitchFamily="34" charset="0"/>
                          <a:ea typeface="Calibri" pitchFamily="34" charset="-122"/>
                          <a:cs typeface="Calibri" pitchFamily="34" charset="-120"/>
                        </a:rPr>
                        <a:t>300</a:t>
                      </a:r>
                      <a:endParaRPr lang="en-US" sz="11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100" dirty="0">
                          <a:solidFill>
                            <a:srgbClr val="5B6670"/>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74320">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o</a:t>
                      </a:r>
                      <a:endParaRPr lang="en-US" sz="11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100" dirty="0">
                          <a:solidFill>
                            <a:srgbClr val="5B6670"/>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100" b="1" dirty="0">
                          <a:solidFill>
                            <a:srgbClr val="2B7BD8"/>
                          </a:solidFill>
                          <a:latin typeface="Calibri" pitchFamily="34" charset="0"/>
                          <a:ea typeface="Calibri" pitchFamily="34" charset="-122"/>
                          <a:cs typeface="Calibri" pitchFamily="34" charset="-120"/>
                        </a:rPr>
                        <a:t>269</a:t>
                      </a:r>
                      <a:endParaRPr lang="en-US" sz="11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74320">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f</a:t>
                      </a:r>
                      <a:endParaRPr lang="en-US" sz="11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100" dirty="0">
                          <a:solidFill>
                            <a:srgbClr val="5B6670"/>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100" b="1" dirty="0">
                          <a:solidFill>
                            <a:srgbClr val="2B7BD8"/>
                          </a:solidFill>
                          <a:latin typeface="Calibri" pitchFamily="34" charset="0"/>
                          <a:ea typeface="Calibri" pitchFamily="34" charset="-122"/>
                          <a:cs typeface="Calibri" pitchFamily="34" charset="-120"/>
                        </a:rPr>
                        <a:t>227</a:t>
                      </a:r>
                      <a:endParaRPr lang="en-US" sz="11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74320">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100" dirty="0">
                          <a:solidFill>
                            <a:srgbClr val="5B6670"/>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100" b="1" dirty="0">
                          <a:solidFill>
                            <a:srgbClr val="2B7BD8"/>
                          </a:solidFill>
                          <a:latin typeface="Calibri" pitchFamily="34" charset="0"/>
                          <a:ea typeface="Calibri" pitchFamily="34" charset="-122"/>
                          <a:cs typeface="Calibri" pitchFamily="34" charset="-120"/>
                        </a:rPr>
                        <a:t>195</a:t>
                      </a:r>
                      <a:endParaRPr lang="en-US" sz="11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74320">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w</a:t>
                      </a:r>
                      <a:endParaRPr lang="en-US" sz="11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100" b="1" dirty="0">
                          <a:solidFill>
                            <a:srgbClr val="2E8B57"/>
                          </a:solidFill>
                          <a:latin typeface="Calibri" pitchFamily="34" charset="0"/>
                          <a:ea typeface="Calibri" pitchFamily="34" charset="-122"/>
                          <a:cs typeface="Calibri" pitchFamily="34" charset="-120"/>
                        </a:rPr>
                        <a:t>182</a:t>
                      </a:r>
                      <a:endParaRPr lang="en-US" sz="11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100" dirty="0">
                          <a:solidFill>
                            <a:srgbClr val="5B6670"/>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7" name="Text 3"/>
          <p:cNvSpPr txBox="1"/>
          <p:nvPr/>
        </p:nvSpPr>
        <p:spPr>
          <a:xfrm>
            <a:off x="457200" y="4069080"/>
            <a:ext cx="3840480" cy="365760"/>
          </a:xfrm>
          <a:prstGeom prst="rect">
            <a:avLst/>
          </a:prstGeom>
          <a:noFill/>
          <a:ln/>
        </p:spPr>
        <p:txBody>
          <a:bodyPr wrap="square" lIns="0" tIns="0" rIns="0" bIns="0" rtlCol="0" anchor="t"/>
          <a:lstStyle/>
          <a:p>
            <a:pPr indent="0" marL="0">
              <a:buNone/>
            </a:pPr>
            <a:r>
              <a:rPr lang="en-US" sz="1100" i="1" dirty="0">
                <a:solidFill>
                  <a:srgbClr val="5B6670"/>
                </a:solidFill>
                <a:latin typeface="Calibri" pitchFamily="34" charset="0"/>
                <a:ea typeface="Calibri" pitchFamily="34" charset="-122"/>
                <a:cs typeface="Calibri" pitchFamily="34" charset="-120"/>
              </a:rPr>
              <a:t>Top 10 X0 codes by number of cars. The other 37 codes: also always one value.</a:t>
            </a:r>
            <a:endParaRPr lang="en-US" sz="1100" dirty="0"/>
          </a:p>
        </p:txBody>
      </p:sp>
      <p:sp>
        <p:nvSpPr>
          <p:cNvPr id="8" name="Text 4"/>
          <p:cNvSpPr txBox="1"/>
          <p:nvPr/>
        </p:nvSpPr>
        <p:spPr>
          <a:xfrm>
            <a:off x="4663440" y="1005840"/>
            <a:ext cx="4023360" cy="685800"/>
          </a:xfrm>
          <a:prstGeom prst="rect">
            <a:avLst/>
          </a:prstGeom>
          <a:noFill/>
          <a:ln/>
        </p:spPr>
        <p:txBody>
          <a:bodyPr wrap="square" lIns="0" tIns="0" rIns="0" bIns="0" rtlCol="0" anchor="b"/>
          <a:lstStyle/>
          <a:p>
            <a:pPr indent="0" marL="0">
              <a:buNone/>
            </a:pPr>
            <a:r>
              <a:rPr lang="en-US" sz="4000" b="1" dirty="0">
                <a:solidFill>
                  <a:srgbClr val="164A82"/>
                </a:solidFill>
                <a:latin typeface="Cambria" pitchFamily="34" charset="0"/>
                <a:ea typeface="Cambria" pitchFamily="34" charset="-122"/>
                <a:cs typeface="Cambria" pitchFamily="34" charset="-120"/>
              </a:rPr>
              <a:t>0 of 47</a:t>
            </a:r>
            <a:endParaRPr lang="en-US" sz="4000" dirty="0"/>
          </a:p>
        </p:txBody>
      </p:sp>
      <p:sp>
        <p:nvSpPr>
          <p:cNvPr id="9" name="Text 5"/>
          <p:cNvSpPr txBox="1"/>
          <p:nvPr/>
        </p:nvSpPr>
        <p:spPr>
          <a:xfrm>
            <a:off x="4663440" y="1737360"/>
            <a:ext cx="4023360" cy="548640"/>
          </a:xfrm>
          <a:prstGeom prst="rect">
            <a:avLst/>
          </a:prstGeom>
          <a:noFill/>
          <a:ln/>
        </p:spPr>
        <p:txBody>
          <a:bodyPr wrap="square" lIns="0" tIns="0" rIns="0" bIns="0" rtlCol="0" anchor="t"/>
          <a:lstStyle/>
          <a:p>
            <a:pPr indent="0" marL="0">
              <a:buNone/>
            </a:pPr>
            <a:r>
              <a:rPr lang="en-US" sz="1300" dirty="0">
                <a:solidFill>
                  <a:srgbClr val="5B6670"/>
                </a:solidFill>
                <a:latin typeface="Calibri" pitchFamily="34" charset="0"/>
                <a:ea typeface="Calibri" pitchFamily="34" charset="-122"/>
                <a:cs typeface="Calibri" pitchFamily="34" charset="-120"/>
              </a:rPr>
              <a:t>X0 codes have both X314 values</a:t>
            </a:r>
            <a:endParaRPr lang="en-US" sz="1300" dirty="0"/>
          </a:p>
        </p:txBody>
      </p:sp>
      <p:sp>
        <p:nvSpPr>
          <p:cNvPr id="10" name="Text 6"/>
          <p:cNvSpPr txBox="1"/>
          <p:nvPr/>
        </p:nvSpPr>
        <p:spPr>
          <a:xfrm>
            <a:off x="4663440" y="2423160"/>
            <a:ext cx="4023360" cy="7315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14 X0 codes: X314 always 1 (1,817 cars)</a:t>
            </a:r>
            <a:endParaRPr lang="en-US" sz="1400" dirty="0"/>
          </a:p>
          <a:p>
            <a:pPr marL="342900" indent="-342900">
              <a:spcAft>
                <a:spcPts val="400"/>
              </a:spcAft>
              <a:buSzPct val="100000"/>
              <a:buChar char="•"/>
            </a:pPr>
            <a:r>
              <a:rPr lang="en-US" sz="1400" dirty="0">
                <a:solidFill>
                  <a:srgbClr val="1F2933"/>
                </a:solidFill>
                <a:latin typeface="Calibri" pitchFamily="34" charset="0"/>
                <a:ea typeface="Calibri" pitchFamily="34" charset="-122"/>
                <a:cs typeface="Calibri" pitchFamily="34" charset="-120"/>
              </a:rPr>
              <a:t>33 X0 codes: X314 always 0 (2,392 cars)</a:t>
            </a:r>
            <a:endParaRPr lang="en-US" sz="1400" dirty="0"/>
          </a:p>
        </p:txBody>
      </p:sp>
      <p:sp>
        <p:nvSpPr>
          <p:cNvPr id="11" name="card"/>
          <p:cNvSpPr/>
          <p:nvPr/>
        </p:nvSpPr>
        <p:spPr>
          <a:xfrm>
            <a:off x="4663440" y="3291840"/>
            <a:ext cx="4023360" cy="1097280"/>
          </a:xfrm>
          <a:prstGeom prst="roundRect">
            <a:avLst>
              <a:gd name="adj" fmla="val 8333"/>
            </a:avLst>
          </a:prstGeom>
          <a:solidFill>
            <a:srgbClr val="E6F3EC"/>
          </a:solidFill>
          <a:ln w="12700">
            <a:solidFill>
              <a:srgbClr val="E6F3EC"/>
            </a:solidFill>
            <a:prstDash val="solid"/>
          </a:ln>
        </p:spPr>
      </p:sp>
      <p:sp>
        <p:nvSpPr>
          <p:cNvPr id="12" name="Text 8"/>
          <p:cNvSpPr txBox="1"/>
          <p:nvPr/>
        </p:nvSpPr>
        <p:spPr>
          <a:xfrm>
            <a:off x="4846320" y="3291840"/>
            <a:ext cx="3657600" cy="1097280"/>
          </a:xfrm>
          <a:prstGeom prst="rect">
            <a:avLst/>
          </a:prstGeom>
          <a:noFill/>
          <a:ln/>
        </p:spPr>
        <p:txBody>
          <a:bodyPr wrap="square" lIns="0" tIns="0" rIns="0" bIns="0" rtlCol="0" anchor="ctr"/>
          <a:lstStyle/>
          <a:p>
            <a:pPr indent="0" marL="0">
              <a:buNone/>
            </a:pPr>
            <a:r>
              <a:rPr lang="en-US" sz="1400" b="1" dirty="0">
                <a:solidFill>
                  <a:srgbClr val="2E8B57"/>
                </a:solidFill>
                <a:latin typeface="Calibri" pitchFamily="34" charset="0"/>
                <a:ea typeface="Calibri" pitchFamily="34" charset="-122"/>
                <a:cs typeface="Calibri" pitchFamily="34" charset="-120"/>
              </a:rPr>
              <a:t>Meaning: </a:t>
            </a:r>
            <a:pPr indent="0" marL="0">
              <a:buNone/>
            </a:pPr>
            <a:r>
              <a:rPr lang="en-US" sz="1400" dirty="0">
                <a:solidFill>
                  <a:srgbClr val="1F2933"/>
                </a:solidFill>
                <a:latin typeface="Calibri" pitchFamily="34" charset="0"/>
                <a:ea typeface="Calibri" pitchFamily="34" charset="-122"/>
                <a:cs typeface="Calibri" pitchFamily="34" charset="-120"/>
              </a:rPr>
              <a:t>once X0 is known, X314 adds nothing (X0 alone 57.48 %, X0 + X314 57.48 %).</a:t>
            </a:r>
            <a:endParaRPr lang="en-US" sz="1400" dirty="0"/>
          </a:p>
        </p:txBody>
      </p:sp>
      <p:sp>
        <p:nvSpPr>
          <p:cNvPr id="13" name="Text 9"/>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belongs to main slide 4   </a:t>
            </a:r>
            <a:pPr indent="0" marL="0">
              <a:buNone/>
            </a:pPr>
            <a:r>
              <a:rPr lang="en-US" sz="900" i="1" dirty="0">
                <a:solidFill>
                  <a:srgbClr val="5B6670"/>
                </a:solidFill>
                <a:latin typeface="Calibri" pitchFamily="34" charset="0"/>
                <a:ea typeface="Calibri" pitchFamily="34" charset="-122"/>
                <a:cs typeface="Calibri" pitchFamily="34" charset="-120"/>
              </a:rPr>
              <a:t>Source: content list #11a; table and counts: handover 27 result (D55, D56; R74); 57.48 % / +0.00 pp: Step 16 (D29)</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Why we removed 0/1 columns</a:t>
            </a:r>
            <a:endParaRPr lang="en-US" sz="2600" dirty="0"/>
          </a:p>
        </p:txBody>
      </p:sp>
      <p:sp>
        <p:nvSpPr>
          <p:cNvPr id="3" name="tag"/>
          <p:cNvSpPr/>
          <p:nvPr/>
        </p:nvSpPr>
        <p:spPr>
          <a:xfrm>
            <a:off x="7818120" y="347472"/>
            <a:ext cx="868680" cy="274320"/>
          </a:xfrm>
          <a:prstGeom prst="roundRect">
            <a:avLst>
              <a:gd name="adj" fmla="val 26667"/>
            </a:avLst>
          </a:prstGeom>
          <a:solidFill>
            <a:srgbClr val="EAF2FB"/>
          </a:solidFill>
          <a:ln w="12700">
            <a:solidFill>
              <a:srgbClr val="EAF2FB"/>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164A82"/>
                </a:solidFill>
                <a:latin typeface="Calibri" pitchFamily="34" charset="0"/>
                <a:ea typeface="Calibri" pitchFamily="34" charset="-122"/>
                <a:cs typeface="Calibri" pitchFamily="34" charset="-120"/>
              </a:rPr>
              <a:t>Backup · M1</a:t>
            </a:r>
            <a:endParaRPr lang="en-US" sz="900" dirty="0"/>
          </a:p>
        </p:txBody>
      </p:sp>
      <p:sp>
        <p:nvSpPr>
          <p:cNvPr id="6" name="card"/>
          <p:cNvSpPr/>
          <p:nvPr/>
        </p:nvSpPr>
        <p:spPr>
          <a:xfrm>
            <a:off x="457200" y="1188720"/>
            <a:ext cx="1508760" cy="1371600"/>
          </a:xfrm>
          <a:prstGeom prst="roundRect">
            <a:avLst>
              <a:gd name="adj" fmla="val 6667"/>
            </a:avLst>
          </a:prstGeom>
          <a:solidFill>
            <a:srgbClr val="EAF2FB"/>
          </a:solidFill>
          <a:ln w="12700">
            <a:solidFill>
              <a:srgbClr val="EAF2FB"/>
            </a:solidFill>
            <a:prstDash val="solid"/>
          </a:ln>
        </p:spPr>
      </p:sp>
      <p:sp>
        <p:nvSpPr>
          <p:cNvPr id="7" name="Text 4"/>
          <p:cNvSpPr txBox="1"/>
          <p:nvPr/>
        </p:nvSpPr>
        <p:spPr>
          <a:xfrm>
            <a:off x="457200" y="1280160"/>
            <a:ext cx="1508760" cy="685800"/>
          </a:xfrm>
          <a:prstGeom prst="rect">
            <a:avLst/>
          </a:prstGeom>
          <a:noFill/>
          <a:ln/>
        </p:spPr>
        <p:txBody>
          <a:bodyPr wrap="square" lIns="0" tIns="0" rIns="0" bIns="0" rtlCol="0" anchor="ctr"/>
          <a:lstStyle/>
          <a:p>
            <a:pPr algn="ctr" indent="0" marL="0">
              <a:buNone/>
            </a:pPr>
            <a:r>
              <a:rPr lang="en-US" sz="3000" b="1" dirty="0">
                <a:solidFill>
                  <a:srgbClr val="2B7BD8"/>
                </a:solidFill>
                <a:latin typeface="Cambria" pitchFamily="34" charset="0"/>
                <a:ea typeface="Cambria" pitchFamily="34" charset="-122"/>
                <a:cs typeface="Cambria" pitchFamily="34" charset="-120"/>
              </a:rPr>
              <a:t>368</a:t>
            </a:r>
            <a:endParaRPr lang="en-US" sz="3000" dirty="0"/>
          </a:p>
        </p:txBody>
      </p:sp>
      <p:sp>
        <p:nvSpPr>
          <p:cNvPr id="8" name="Text 5"/>
          <p:cNvSpPr txBox="1"/>
          <p:nvPr/>
        </p:nvSpPr>
        <p:spPr>
          <a:xfrm>
            <a:off x="457200" y="1920240"/>
            <a:ext cx="1508760" cy="548640"/>
          </a:xfrm>
          <a:prstGeom prst="rect">
            <a:avLst/>
          </a:prstGeom>
          <a:noFill/>
          <a:ln/>
        </p:spPr>
        <p:txBody>
          <a:bodyPr wrap="square" lIns="0" tIns="0" rIns="0" bIns="0" rtlCol="0" anchor="t"/>
          <a:lstStyle/>
          <a:p>
            <a:pPr algn="ctr" indent="0" marL="0">
              <a:buNone/>
            </a:pPr>
            <a:r>
              <a:rPr lang="en-US" sz="1300" dirty="0">
                <a:solidFill>
                  <a:srgbClr val="1F2933"/>
                </a:solidFill>
                <a:latin typeface="Calibri" pitchFamily="34" charset="0"/>
                <a:ea typeface="Calibri" pitchFamily="34" charset="-122"/>
                <a:cs typeface="Calibri" pitchFamily="34" charset="-120"/>
              </a:rPr>
              <a:t>yes/no (0/1) columns</a:t>
            </a:r>
            <a:endParaRPr lang="en-US" sz="1300" dirty="0"/>
          </a:p>
        </p:txBody>
      </p:sp>
      <p:sp>
        <p:nvSpPr>
          <p:cNvPr id="9" name="card"/>
          <p:cNvSpPr/>
          <p:nvPr/>
        </p:nvSpPr>
        <p:spPr>
          <a:xfrm>
            <a:off x="2148840" y="1188720"/>
            <a:ext cx="1508760" cy="1371600"/>
          </a:xfrm>
          <a:prstGeom prst="roundRect">
            <a:avLst>
              <a:gd name="adj" fmla="val 6667"/>
            </a:avLst>
          </a:prstGeom>
          <a:solidFill>
            <a:srgbClr val="F3F6F9"/>
          </a:solidFill>
          <a:ln w="12700">
            <a:solidFill>
              <a:srgbClr val="F3F6F9"/>
            </a:solidFill>
            <a:prstDash val="solid"/>
          </a:ln>
        </p:spPr>
      </p:sp>
      <p:sp>
        <p:nvSpPr>
          <p:cNvPr id="10" name="Text 7"/>
          <p:cNvSpPr txBox="1"/>
          <p:nvPr/>
        </p:nvSpPr>
        <p:spPr>
          <a:xfrm>
            <a:off x="2148840" y="1280160"/>
            <a:ext cx="1508760" cy="685800"/>
          </a:xfrm>
          <a:prstGeom prst="rect">
            <a:avLst/>
          </a:prstGeom>
          <a:noFill/>
          <a:ln/>
        </p:spPr>
        <p:txBody>
          <a:bodyPr wrap="square" lIns="0" tIns="0" rIns="0" bIns="0" rtlCol="0" anchor="ctr"/>
          <a:lstStyle/>
          <a:p>
            <a:pPr algn="ctr" indent="0" marL="0">
              <a:buNone/>
            </a:pPr>
            <a:r>
              <a:rPr lang="en-US" sz="3000" b="1" dirty="0">
                <a:solidFill>
                  <a:srgbClr val="5B6670"/>
                </a:solidFill>
                <a:latin typeface="Cambria" pitchFamily="34" charset="0"/>
                <a:ea typeface="Cambria" pitchFamily="34" charset="-122"/>
                <a:cs typeface="Cambria" pitchFamily="34" charset="-120"/>
              </a:rPr>
              <a:t>− 12</a:t>
            </a:r>
            <a:endParaRPr lang="en-US" sz="3000" dirty="0"/>
          </a:p>
        </p:txBody>
      </p:sp>
      <p:sp>
        <p:nvSpPr>
          <p:cNvPr id="11" name="Text 8"/>
          <p:cNvSpPr txBox="1"/>
          <p:nvPr/>
        </p:nvSpPr>
        <p:spPr>
          <a:xfrm>
            <a:off x="2148840" y="1920240"/>
            <a:ext cx="1508760" cy="548640"/>
          </a:xfrm>
          <a:prstGeom prst="rect">
            <a:avLst/>
          </a:prstGeom>
          <a:noFill/>
          <a:ln/>
        </p:spPr>
        <p:txBody>
          <a:bodyPr wrap="square" lIns="0" tIns="0" rIns="0" bIns="0" rtlCol="0" anchor="t"/>
          <a:lstStyle/>
          <a:p>
            <a:pPr algn="ctr" indent="0" marL="0">
              <a:buNone/>
            </a:pPr>
            <a:r>
              <a:rPr lang="en-US" sz="1300" dirty="0">
                <a:solidFill>
                  <a:srgbClr val="1F2933"/>
                </a:solidFill>
                <a:latin typeface="Calibri" pitchFamily="34" charset="0"/>
                <a:ea typeface="Calibri" pitchFamily="34" charset="-122"/>
                <a:cs typeface="Calibri" pitchFamily="34" charset="-120"/>
              </a:rPr>
              <a:t>never change</a:t>
            </a:r>
            <a:endParaRPr lang="en-US" sz="1300" dirty="0"/>
          </a:p>
        </p:txBody>
      </p:sp>
      <p:sp>
        <p:nvSpPr>
          <p:cNvPr id="12" name="card"/>
          <p:cNvSpPr/>
          <p:nvPr/>
        </p:nvSpPr>
        <p:spPr>
          <a:xfrm>
            <a:off x="3840480" y="1188720"/>
            <a:ext cx="1508760" cy="1371600"/>
          </a:xfrm>
          <a:prstGeom prst="roundRect">
            <a:avLst>
              <a:gd name="adj" fmla="val 6667"/>
            </a:avLst>
          </a:prstGeom>
          <a:solidFill>
            <a:srgbClr val="F3F6F9"/>
          </a:solidFill>
          <a:ln w="12700">
            <a:solidFill>
              <a:srgbClr val="F3F6F9"/>
            </a:solidFill>
            <a:prstDash val="solid"/>
          </a:ln>
        </p:spPr>
      </p:sp>
      <p:sp>
        <p:nvSpPr>
          <p:cNvPr id="13" name="Text 10"/>
          <p:cNvSpPr txBox="1"/>
          <p:nvPr/>
        </p:nvSpPr>
        <p:spPr>
          <a:xfrm>
            <a:off x="3840480" y="1280160"/>
            <a:ext cx="1508760" cy="685800"/>
          </a:xfrm>
          <a:prstGeom prst="rect">
            <a:avLst/>
          </a:prstGeom>
          <a:noFill/>
          <a:ln/>
        </p:spPr>
        <p:txBody>
          <a:bodyPr wrap="square" lIns="0" tIns="0" rIns="0" bIns="0" rtlCol="0" anchor="ctr"/>
          <a:lstStyle/>
          <a:p>
            <a:pPr algn="ctr" indent="0" marL="0">
              <a:buNone/>
            </a:pPr>
            <a:r>
              <a:rPr lang="en-US" sz="3000" b="1" dirty="0">
                <a:solidFill>
                  <a:srgbClr val="5B6670"/>
                </a:solidFill>
                <a:latin typeface="Cambria" pitchFamily="34" charset="0"/>
                <a:ea typeface="Cambria" pitchFamily="34" charset="-122"/>
                <a:cs typeface="Cambria" pitchFamily="34" charset="-120"/>
              </a:rPr>
              <a:t>− 45</a:t>
            </a:r>
            <a:endParaRPr lang="en-US" sz="3000" dirty="0"/>
          </a:p>
        </p:txBody>
      </p:sp>
      <p:sp>
        <p:nvSpPr>
          <p:cNvPr id="14" name="Text 11"/>
          <p:cNvSpPr txBox="1"/>
          <p:nvPr/>
        </p:nvSpPr>
        <p:spPr>
          <a:xfrm>
            <a:off x="3840480" y="1920240"/>
            <a:ext cx="1508760" cy="548640"/>
          </a:xfrm>
          <a:prstGeom prst="rect">
            <a:avLst/>
          </a:prstGeom>
          <a:noFill/>
          <a:ln/>
        </p:spPr>
        <p:txBody>
          <a:bodyPr wrap="square" lIns="0" tIns="0" rIns="0" bIns="0" rtlCol="0" anchor="t"/>
          <a:lstStyle/>
          <a:p>
            <a:pPr algn="ctr" indent="0" marL="0">
              <a:buNone/>
            </a:pPr>
            <a:r>
              <a:rPr lang="en-US" sz="1300" dirty="0">
                <a:solidFill>
                  <a:srgbClr val="1F2933"/>
                </a:solidFill>
                <a:latin typeface="Calibri" pitchFamily="34" charset="0"/>
                <a:ea typeface="Calibri" pitchFamily="34" charset="-122"/>
                <a:cs typeface="Calibri" pitchFamily="34" charset="-120"/>
              </a:rPr>
              <a:t>exact copies</a:t>
            </a:r>
            <a:endParaRPr lang="en-US" sz="1300" dirty="0"/>
          </a:p>
        </p:txBody>
      </p:sp>
      <p:sp>
        <p:nvSpPr>
          <p:cNvPr id="15" name="card"/>
          <p:cNvSpPr/>
          <p:nvPr/>
        </p:nvSpPr>
        <p:spPr>
          <a:xfrm>
            <a:off x="5532120" y="1188720"/>
            <a:ext cx="1508760" cy="1371600"/>
          </a:xfrm>
          <a:prstGeom prst="roundRect">
            <a:avLst>
              <a:gd name="adj" fmla="val 6667"/>
            </a:avLst>
          </a:prstGeom>
          <a:solidFill>
            <a:srgbClr val="F3F6F9"/>
          </a:solidFill>
          <a:ln w="12700">
            <a:solidFill>
              <a:srgbClr val="F3F6F9"/>
            </a:solidFill>
            <a:prstDash val="solid"/>
          </a:ln>
        </p:spPr>
      </p:sp>
      <p:sp>
        <p:nvSpPr>
          <p:cNvPr id="16" name="Text 13"/>
          <p:cNvSpPr txBox="1"/>
          <p:nvPr/>
        </p:nvSpPr>
        <p:spPr>
          <a:xfrm>
            <a:off x="5532120" y="1280160"/>
            <a:ext cx="1508760" cy="685800"/>
          </a:xfrm>
          <a:prstGeom prst="rect">
            <a:avLst/>
          </a:prstGeom>
          <a:noFill/>
          <a:ln/>
        </p:spPr>
        <p:txBody>
          <a:bodyPr wrap="square" lIns="0" tIns="0" rIns="0" bIns="0" rtlCol="0" anchor="ctr"/>
          <a:lstStyle/>
          <a:p>
            <a:pPr algn="ctr" indent="0" marL="0">
              <a:buNone/>
            </a:pPr>
            <a:r>
              <a:rPr lang="en-US" sz="3000" b="1" dirty="0">
                <a:solidFill>
                  <a:srgbClr val="5B6670"/>
                </a:solidFill>
                <a:latin typeface="Cambria" pitchFamily="34" charset="0"/>
                <a:ea typeface="Cambria" pitchFamily="34" charset="-122"/>
                <a:cs typeface="Cambria" pitchFamily="34" charset="-120"/>
              </a:rPr>
              <a:t>− 8</a:t>
            </a:r>
            <a:endParaRPr lang="en-US" sz="3000" dirty="0"/>
          </a:p>
        </p:txBody>
      </p:sp>
      <p:sp>
        <p:nvSpPr>
          <p:cNvPr id="17" name="Text 14"/>
          <p:cNvSpPr txBox="1"/>
          <p:nvPr/>
        </p:nvSpPr>
        <p:spPr>
          <a:xfrm>
            <a:off x="5532120" y="1920240"/>
            <a:ext cx="1508760" cy="548640"/>
          </a:xfrm>
          <a:prstGeom prst="rect">
            <a:avLst/>
          </a:prstGeom>
          <a:noFill/>
          <a:ln/>
        </p:spPr>
        <p:txBody>
          <a:bodyPr wrap="square" lIns="0" tIns="0" rIns="0" bIns="0" rtlCol="0" anchor="t"/>
          <a:lstStyle/>
          <a:p>
            <a:pPr algn="ctr" indent="0" marL="0">
              <a:buNone/>
            </a:pPr>
            <a:r>
              <a:rPr lang="en-US" sz="1300" dirty="0">
                <a:solidFill>
                  <a:srgbClr val="1F2933"/>
                </a:solidFill>
                <a:latin typeface="Calibri" pitchFamily="34" charset="0"/>
                <a:ea typeface="Calibri" pitchFamily="34" charset="-122"/>
                <a:cs typeface="Calibri" pitchFamily="34" charset="-120"/>
              </a:rPr>
              <a:t>exact opposites</a:t>
            </a:r>
            <a:endParaRPr lang="en-US" sz="1300" dirty="0"/>
          </a:p>
        </p:txBody>
      </p:sp>
      <p:sp>
        <p:nvSpPr>
          <p:cNvPr id="18" name="card"/>
          <p:cNvSpPr/>
          <p:nvPr/>
        </p:nvSpPr>
        <p:spPr>
          <a:xfrm>
            <a:off x="7223760" y="1188720"/>
            <a:ext cx="1508760" cy="1371600"/>
          </a:xfrm>
          <a:prstGeom prst="roundRect">
            <a:avLst>
              <a:gd name="adj" fmla="val 6667"/>
            </a:avLst>
          </a:prstGeom>
          <a:solidFill>
            <a:srgbClr val="E6F3EC"/>
          </a:solidFill>
          <a:ln w="12700">
            <a:solidFill>
              <a:srgbClr val="E6F3EC"/>
            </a:solidFill>
            <a:prstDash val="solid"/>
          </a:ln>
        </p:spPr>
      </p:sp>
      <p:sp>
        <p:nvSpPr>
          <p:cNvPr id="19" name="Text 16"/>
          <p:cNvSpPr txBox="1"/>
          <p:nvPr/>
        </p:nvSpPr>
        <p:spPr>
          <a:xfrm>
            <a:off x="7223760" y="1280160"/>
            <a:ext cx="1508760" cy="685800"/>
          </a:xfrm>
          <a:prstGeom prst="rect">
            <a:avLst/>
          </a:prstGeom>
          <a:noFill/>
          <a:ln/>
        </p:spPr>
        <p:txBody>
          <a:bodyPr wrap="square" lIns="0" tIns="0" rIns="0" bIns="0" rtlCol="0" anchor="ctr"/>
          <a:lstStyle/>
          <a:p>
            <a:pPr algn="ctr" indent="0" marL="0">
              <a:buNone/>
            </a:pPr>
            <a:r>
              <a:rPr lang="en-US" sz="3000" b="1" dirty="0">
                <a:solidFill>
                  <a:srgbClr val="2E8B57"/>
                </a:solidFill>
                <a:latin typeface="Cambria" pitchFamily="34" charset="0"/>
                <a:ea typeface="Cambria" pitchFamily="34" charset="-122"/>
                <a:cs typeface="Cambria" pitchFamily="34" charset="-120"/>
              </a:rPr>
              <a:t>303</a:t>
            </a:r>
            <a:endParaRPr lang="en-US" sz="3000" dirty="0"/>
          </a:p>
        </p:txBody>
      </p:sp>
      <p:sp>
        <p:nvSpPr>
          <p:cNvPr id="20" name="Text 17"/>
          <p:cNvSpPr txBox="1"/>
          <p:nvPr/>
        </p:nvSpPr>
        <p:spPr>
          <a:xfrm>
            <a:off x="7223760" y="1920240"/>
            <a:ext cx="1508760" cy="548640"/>
          </a:xfrm>
          <a:prstGeom prst="rect">
            <a:avLst/>
          </a:prstGeom>
          <a:noFill/>
          <a:ln/>
        </p:spPr>
        <p:txBody>
          <a:bodyPr wrap="square" lIns="0" tIns="0" rIns="0" bIns="0" rtlCol="0" anchor="t"/>
          <a:lstStyle/>
          <a:p>
            <a:pPr algn="ctr" indent="0" marL="0">
              <a:buNone/>
            </a:pPr>
            <a:r>
              <a:rPr lang="en-US" sz="1300" dirty="0">
                <a:solidFill>
                  <a:srgbClr val="1F2933"/>
                </a:solidFill>
                <a:latin typeface="Calibri" pitchFamily="34" charset="0"/>
                <a:ea typeface="Calibri" pitchFamily="34" charset="-122"/>
                <a:cs typeface="Calibri" pitchFamily="34" charset="-120"/>
              </a:rPr>
              <a:t>kept</a:t>
            </a:r>
            <a:endParaRPr lang="en-US" sz="1300" dirty="0"/>
          </a:p>
        </p:txBody>
      </p:sp>
      <p:sp>
        <p:nvSpPr>
          <p:cNvPr id="21" name="Text 18"/>
          <p:cNvSpPr txBox="1"/>
          <p:nvPr/>
        </p:nvSpPr>
        <p:spPr>
          <a:xfrm>
            <a:off x="457200" y="2880360"/>
            <a:ext cx="8229600" cy="822960"/>
          </a:xfrm>
          <a:prstGeom prst="rect">
            <a:avLst/>
          </a:prstGeom>
          <a:noFill/>
          <a:ln/>
        </p:spPr>
        <p:txBody>
          <a:bodyPr wrap="square" lIns="0" tIns="0" rIns="0" bIns="0" rtlCol="0" anchor="t"/>
          <a:lstStyle/>
          <a:p>
            <a:pPr indent="0" marL="0">
              <a:buNone/>
            </a:pPr>
            <a:r>
              <a:rPr lang="en-US" sz="1500" b="1" dirty="0">
                <a:solidFill>
                  <a:srgbClr val="1F2933"/>
                </a:solidFill>
                <a:latin typeface="Calibri" pitchFamily="34" charset="0"/>
                <a:ea typeface="Calibri" pitchFamily="34" charset="-122"/>
                <a:cs typeface="Calibri" pitchFamily="34" charset="-120"/>
              </a:rPr>
              <a:t>Outcome: </a:t>
            </a:r>
            <a:pPr indent="0" marL="0">
              <a:buNone/>
            </a:pPr>
            <a:r>
              <a:rPr lang="en-US" sz="1500" dirty="0">
                <a:solidFill>
                  <a:srgbClr val="1F2933"/>
                </a:solidFill>
                <a:latin typeface="Calibri" pitchFamily="34" charset="0"/>
                <a:ea typeface="Calibri" pitchFamily="34" charset="-122"/>
                <a:cs typeface="Calibri" pitchFamily="34" charset="-120"/>
              </a:rPr>
              <a:t>the strong columns only repeat X0. All columns together did not beat X0 alone: share explained 57.4 % vs 58.7 %, typical miss 8.09 s vs 7.97 s (→ slide 29).</a:t>
            </a:r>
            <a:endParaRPr lang="en-US" sz="1500" dirty="0"/>
          </a:p>
        </p:txBody>
      </p:sp>
      <p:sp>
        <p:nvSpPr>
          <p:cNvPr id="22" name="Text 19"/>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belongs to main slide 4   </a:t>
            </a:r>
            <a:pPr indent="0" marL="0">
              <a:buNone/>
            </a:pPr>
            <a:r>
              <a:rPr lang="en-US" sz="900" i="1" dirty="0">
                <a:solidFill>
                  <a:srgbClr val="5B6670"/>
                </a:solidFill>
                <a:latin typeface="Calibri" pitchFamily="34" charset="0"/>
                <a:ea typeface="Calibri" pitchFamily="34" charset="-122"/>
                <a:cs typeface="Calibri" pitchFamily="34" charset="-120"/>
              </a:rPr>
              <a:t>Source: content list #12; 12 / 45 / 8 → 303: Steps 13–15 (R25, R28, R30; D27); repeat X0: Step 16 (D29); 0.574 / 8.09 s vs 0.587 / 7.97 s: Step 20 (R47, D32)</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00584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M2 – baseline: explanation slides</a:t>
            </a:r>
            <a:endParaRPr lang="en-US" sz="4000" dirty="0"/>
          </a:p>
        </p:txBody>
      </p:sp>
      <p:sp>
        <p:nvSpPr>
          <p:cNvPr id="4" name="Text 1"/>
          <p:cNvSpPr txBox="1"/>
          <p:nvPr/>
        </p:nvSpPr>
        <p:spPr>
          <a:xfrm>
            <a:off x="548640" y="2514600"/>
            <a:ext cx="8046720" cy="548640"/>
          </a:xfrm>
          <a:prstGeom prst="rect">
            <a:avLst/>
          </a:prstGeom>
          <a:noFill/>
          <a:ln/>
        </p:spPr>
        <p:txBody>
          <a:bodyPr wrap="square" lIns="0" tIns="0" rIns="0" bIns="0" rtlCol="0" anchor="t"/>
          <a:lstStyle/>
          <a:p>
            <a:pPr indent="0" marL="0">
              <a:buNone/>
            </a:pPr>
            <a:r>
              <a:rPr lang="en-US" sz="1500" dirty="0">
                <a:solidFill>
                  <a:srgbClr val="CFD8E3"/>
                </a:solidFill>
                <a:latin typeface="Calibri" pitchFamily="34" charset="0"/>
                <a:ea typeface="Calibri" pitchFamily="34" charset="-122"/>
                <a:cs typeface="Calibri" pitchFamily="34" charset="-120"/>
              </a:rPr>
              <a:t>Backup for the M2 summary slide. Each slide names the main slide it belongs to and its source (content list #, notebook 04 step, decision log D-/R-IDs).</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Feature engineering: only cleanup</a:t>
            </a:r>
            <a:endParaRPr lang="en-US" sz="2600" dirty="0"/>
          </a:p>
        </p:txBody>
      </p:sp>
      <p:sp>
        <p:nvSpPr>
          <p:cNvPr id="3" name="tag"/>
          <p:cNvSpPr/>
          <p:nvPr/>
        </p:nvSpPr>
        <p:spPr>
          <a:xfrm>
            <a:off x="7818120" y="347472"/>
            <a:ext cx="868680" cy="274320"/>
          </a:xfrm>
          <a:prstGeom prst="roundRect">
            <a:avLst>
              <a:gd name="adj" fmla="val 26667"/>
            </a:avLst>
          </a:prstGeom>
          <a:solidFill>
            <a:srgbClr val="EAF2FB"/>
          </a:solidFill>
          <a:ln w="12700">
            <a:solidFill>
              <a:srgbClr val="EAF2FB"/>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164A82"/>
                </a:solidFill>
                <a:latin typeface="Calibri" pitchFamily="34" charset="0"/>
                <a:ea typeface="Calibri" pitchFamily="34" charset="-122"/>
                <a:cs typeface="Calibri" pitchFamily="34" charset="-120"/>
              </a:rPr>
              <a:t>Backup · M2</a:t>
            </a:r>
            <a:endParaRPr lang="en-US" sz="900" dirty="0"/>
          </a:p>
        </p:txBody>
      </p:sp>
      <p:sp>
        <p:nvSpPr>
          <p:cNvPr id="6" name="card"/>
          <p:cNvSpPr/>
          <p:nvPr/>
        </p:nvSpPr>
        <p:spPr>
          <a:xfrm>
            <a:off x="457200" y="960120"/>
            <a:ext cx="4023360" cy="777240"/>
          </a:xfrm>
          <a:prstGeom prst="roundRect">
            <a:avLst>
              <a:gd name="adj" fmla="val 11765"/>
            </a:avLst>
          </a:prstGeom>
          <a:solidFill>
            <a:srgbClr val="F3F6F9"/>
          </a:solidFill>
          <a:ln w="12700">
            <a:solidFill>
              <a:srgbClr val="F3F6F9"/>
            </a:solidFill>
            <a:prstDash val="solid"/>
          </a:ln>
        </p:spPr>
      </p:sp>
      <p:sp>
        <p:nvSpPr>
          <p:cNvPr id="7" name="num1"/>
          <p:cNvSpPr/>
          <p:nvPr/>
        </p:nvSpPr>
        <p:spPr>
          <a:xfrm>
            <a:off x="640080" y="1161288"/>
            <a:ext cx="365760" cy="365760"/>
          </a:xfrm>
          <a:prstGeom prst="ellipse">
            <a:avLst/>
          </a:prstGeom>
          <a:solidFill>
            <a:srgbClr val="164A82"/>
          </a:solidFill>
          <a:ln w="12700">
            <a:solidFill>
              <a:srgbClr val="164A82"/>
            </a:solidFill>
            <a:prstDash val="solid"/>
          </a:ln>
        </p:spPr>
      </p:sp>
      <p:sp>
        <p:nvSpPr>
          <p:cNvPr id="8" name="Text 5"/>
          <p:cNvSpPr txBox="1"/>
          <p:nvPr/>
        </p:nvSpPr>
        <p:spPr>
          <a:xfrm>
            <a:off x="640080" y="11612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txBox="1"/>
          <p:nvPr/>
        </p:nvSpPr>
        <p:spPr>
          <a:xfrm>
            <a:off x="1188720" y="1051560"/>
            <a:ext cx="3108960" cy="347472"/>
          </a:xfrm>
          <a:prstGeom prst="rect">
            <a:avLst/>
          </a:prstGeom>
          <a:noFill/>
          <a:ln/>
        </p:spPr>
        <p:txBody>
          <a:bodyPr wrap="square" lIns="0" tIns="0" rIns="0" bIns="0" rtlCol="0" anchor="t"/>
          <a:lstStyle/>
          <a:p>
            <a:pPr indent="0" marL="0">
              <a:buNone/>
            </a:pPr>
            <a:r>
              <a:rPr lang="en-US" sz="1400" b="1" dirty="0">
                <a:solidFill>
                  <a:srgbClr val="164A82"/>
                </a:solidFill>
                <a:latin typeface="Calibri" pitchFamily="34" charset="0"/>
                <a:ea typeface="Calibri" pitchFamily="34" charset="-122"/>
                <a:cs typeface="Calibri" pitchFamily="34" charset="-120"/>
              </a:rPr>
              <a:t>Dropped the 265 s car</a:t>
            </a:r>
            <a:endParaRPr lang="en-US" sz="1400" dirty="0"/>
          </a:p>
        </p:txBody>
      </p:sp>
      <p:sp>
        <p:nvSpPr>
          <p:cNvPr id="10" name="Text 7"/>
          <p:cNvSpPr txBox="1"/>
          <p:nvPr/>
        </p:nvSpPr>
        <p:spPr>
          <a:xfrm>
            <a:off x="1188720" y="1389888"/>
            <a:ext cx="3108960" cy="29260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likely faulty test</a:t>
            </a:r>
            <a:endParaRPr lang="en-US" sz="1200" dirty="0"/>
          </a:p>
        </p:txBody>
      </p:sp>
      <p:sp>
        <p:nvSpPr>
          <p:cNvPr id="11" name="card"/>
          <p:cNvSpPr/>
          <p:nvPr/>
        </p:nvSpPr>
        <p:spPr>
          <a:xfrm>
            <a:off x="4663440" y="960120"/>
            <a:ext cx="4023360" cy="777240"/>
          </a:xfrm>
          <a:prstGeom prst="roundRect">
            <a:avLst>
              <a:gd name="adj" fmla="val 11765"/>
            </a:avLst>
          </a:prstGeom>
          <a:solidFill>
            <a:srgbClr val="F3F6F9"/>
          </a:solidFill>
          <a:ln w="12700">
            <a:solidFill>
              <a:srgbClr val="F3F6F9"/>
            </a:solidFill>
            <a:prstDash val="solid"/>
          </a:ln>
        </p:spPr>
      </p:sp>
      <p:sp>
        <p:nvSpPr>
          <p:cNvPr id="12" name="num2"/>
          <p:cNvSpPr/>
          <p:nvPr/>
        </p:nvSpPr>
        <p:spPr>
          <a:xfrm>
            <a:off x="4846320" y="1161288"/>
            <a:ext cx="365760" cy="365760"/>
          </a:xfrm>
          <a:prstGeom prst="ellipse">
            <a:avLst/>
          </a:prstGeom>
          <a:solidFill>
            <a:srgbClr val="164A82"/>
          </a:solidFill>
          <a:ln w="12700">
            <a:solidFill>
              <a:srgbClr val="164A82"/>
            </a:solidFill>
            <a:prstDash val="solid"/>
          </a:ln>
        </p:spPr>
      </p:sp>
      <p:sp>
        <p:nvSpPr>
          <p:cNvPr id="13" name="Text 10"/>
          <p:cNvSpPr txBox="1"/>
          <p:nvPr/>
        </p:nvSpPr>
        <p:spPr>
          <a:xfrm>
            <a:off x="4846320" y="11612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txBox="1"/>
          <p:nvPr/>
        </p:nvSpPr>
        <p:spPr>
          <a:xfrm>
            <a:off x="5394960" y="1051560"/>
            <a:ext cx="3108960" cy="347472"/>
          </a:xfrm>
          <a:prstGeom prst="rect">
            <a:avLst/>
          </a:prstGeom>
          <a:noFill/>
          <a:ln/>
        </p:spPr>
        <p:txBody>
          <a:bodyPr wrap="square" lIns="0" tIns="0" rIns="0" bIns="0" rtlCol="0" anchor="t"/>
          <a:lstStyle/>
          <a:p>
            <a:pPr indent="0" marL="0">
              <a:buNone/>
            </a:pPr>
            <a:r>
              <a:rPr lang="en-US" sz="1400" b="1" dirty="0">
                <a:solidFill>
                  <a:srgbClr val="164A82"/>
                </a:solidFill>
                <a:latin typeface="Calibri" pitchFamily="34" charset="0"/>
                <a:ea typeface="Calibri" pitchFamily="34" charset="-122"/>
                <a:cs typeface="Calibri" pitchFamily="34" charset="-120"/>
              </a:rPr>
              <a:t>Left out X4</a:t>
            </a:r>
            <a:endParaRPr lang="en-US" sz="1400" dirty="0"/>
          </a:p>
        </p:txBody>
      </p:sp>
      <p:sp>
        <p:nvSpPr>
          <p:cNvPr id="15" name="Text 12"/>
          <p:cNvSpPr txBox="1"/>
          <p:nvPr/>
        </p:nvSpPr>
        <p:spPr>
          <a:xfrm>
            <a:off x="5394960" y="1389888"/>
            <a:ext cx="3108960" cy="29260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almost always the same value</a:t>
            </a:r>
            <a:endParaRPr lang="en-US" sz="1200" dirty="0"/>
          </a:p>
        </p:txBody>
      </p:sp>
      <p:sp>
        <p:nvSpPr>
          <p:cNvPr id="16" name="card"/>
          <p:cNvSpPr/>
          <p:nvPr/>
        </p:nvSpPr>
        <p:spPr>
          <a:xfrm>
            <a:off x="457200" y="1828800"/>
            <a:ext cx="4023360" cy="777240"/>
          </a:xfrm>
          <a:prstGeom prst="roundRect">
            <a:avLst>
              <a:gd name="adj" fmla="val 11765"/>
            </a:avLst>
          </a:prstGeom>
          <a:solidFill>
            <a:srgbClr val="F3F6F9"/>
          </a:solidFill>
          <a:ln w="12700">
            <a:solidFill>
              <a:srgbClr val="F3F6F9"/>
            </a:solidFill>
            <a:prstDash val="solid"/>
          </a:ln>
        </p:spPr>
      </p:sp>
      <p:sp>
        <p:nvSpPr>
          <p:cNvPr id="17" name="num3"/>
          <p:cNvSpPr/>
          <p:nvPr/>
        </p:nvSpPr>
        <p:spPr>
          <a:xfrm>
            <a:off x="640080" y="2029968"/>
            <a:ext cx="365760" cy="365760"/>
          </a:xfrm>
          <a:prstGeom prst="ellipse">
            <a:avLst/>
          </a:prstGeom>
          <a:solidFill>
            <a:srgbClr val="164A82"/>
          </a:solidFill>
          <a:ln w="12700">
            <a:solidFill>
              <a:srgbClr val="164A82"/>
            </a:solidFill>
            <a:prstDash val="solid"/>
          </a:ln>
        </p:spPr>
      </p:sp>
      <p:sp>
        <p:nvSpPr>
          <p:cNvPr id="18" name="Text 15"/>
          <p:cNvSpPr txBox="1"/>
          <p:nvPr/>
        </p:nvSpPr>
        <p:spPr>
          <a:xfrm>
            <a:off x="640080" y="20299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1188720" y="1920240"/>
            <a:ext cx="3108960" cy="347472"/>
          </a:xfrm>
          <a:prstGeom prst="rect">
            <a:avLst/>
          </a:prstGeom>
          <a:noFill/>
          <a:ln/>
        </p:spPr>
        <p:txBody>
          <a:bodyPr wrap="square" lIns="0" tIns="0" rIns="0" bIns="0" rtlCol="0" anchor="t"/>
          <a:lstStyle/>
          <a:p>
            <a:pPr indent="0" marL="0">
              <a:buNone/>
            </a:pPr>
            <a:r>
              <a:rPr lang="en-US" sz="1400" b="1" dirty="0">
                <a:solidFill>
                  <a:srgbClr val="164A82"/>
                </a:solidFill>
                <a:latin typeface="Calibri" pitchFamily="34" charset="0"/>
                <a:ea typeface="Calibri" pitchFamily="34" charset="-122"/>
                <a:cs typeface="Calibri" pitchFamily="34" charset="-120"/>
              </a:rPr>
              <a:t>0/1 columns 368 → 303</a:t>
            </a:r>
            <a:endParaRPr lang="en-US" sz="1400" dirty="0"/>
          </a:p>
        </p:txBody>
      </p:sp>
      <p:sp>
        <p:nvSpPr>
          <p:cNvPr id="20" name="Text 17"/>
          <p:cNvSpPr txBox="1"/>
          <p:nvPr/>
        </p:nvSpPr>
        <p:spPr>
          <a:xfrm>
            <a:off x="1188720" y="2258568"/>
            <a:ext cx="3108960" cy="29260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constant, copies, opposites</a:t>
            </a:r>
            <a:endParaRPr lang="en-US" sz="1200" dirty="0"/>
          </a:p>
        </p:txBody>
      </p:sp>
      <p:sp>
        <p:nvSpPr>
          <p:cNvPr id="21" name="card"/>
          <p:cNvSpPr/>
          <p:nvPr/>
        </p:nvSpPr>
        <p:spPr>
          <a:xfrm>
            <a:off x="4663440" y="1828800"/>
            <a:ext cx="4023360" cy="777240"/>
          </a:xfrm>
          <a:prstGeom prst="roundRect">
            <a:avLst>
              <a:gd name="adj" fmla="val 11765"/>
            </a:avLst>
          </a:prstGeom>
          <a:solidFill>
            <a:srgbClr val="F3F6F9"/>
          </a:solidFill>
          <a:ln w="12700">
            <a:solidFill>
              <a:srgbClr val="F3F6F9"/>
            </a:solidFill>
            <a:prstDash val="solid"/>
          </a:ln>
        </p:spPr>
      </p:sp>
      <p:sp>
        <p:nvSpPr>
          <p:cNvPr id="22" name="num4"/>
          <p:cNvSpPr/>
          <p:nvPr/>
        </p:nvSpPr>
        <p:spPr>
          <a:xfrm>
            <a:off x="4846320" y="2029968"/>
            <a:ext cx="365760" cy="365760"/>
          </a:xfrm>
          <a:prstGeom prst="ellipse">
            <a:avLst/>
          </a:prstGeom>
          <a:solidFill>
            <a:srgbClr val="164A82"/>
          </a:solidFill>
          <a:ln w="12700">
            <a:solidFill>
              <a:srgbClr val="164A82"/>
            </a:solidFill>
            <a:prstDash val="solid"/>
          </a:ln>
        </p:spPr>
      </p:sp>
      <p:sp>
        <p:nvSpPr>
          <p:cNvPr id="23" name="Text 20"/>
          <p:cNvSpPr txBox="1"/>
          <p:nvPr/>
        </p:nvSpPr>
        <p:spPr>
          <a:xfrm>
            <a:off x="4846320" y="20299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5394960" y="1920240"/>
            <a:ext cx="3108960" cy="347472"/>
          </a:xfrm>
          <a:prstGeom prst="rect">
            <a:avLst/>
          </a:prstGeom>
          <a:noFill/>
          <a:ln/>
        </p:spPr>
        <p:txBody>
          <a:bodyPr wrap="square" lIns="0" tIns="0" rIns="0" bIns="0" rtlCol="0" anchor="t"/>
          <a:lstStyle/>
          <a:p>
            <a:pPr indent="0" marL="0">
              <a:buNone/>
            </a:pPr>
            <a:r>
              <a:rPr lang="en-US" sz="1400" b="1" dirty="0">
                <a:solidFill>
                  <a:srgbClr val="164A82"/>
                </a:solidFill>
                <a:latin typeface="Calibri" pitchFamily="34" charset="0"/>
                <a:ea typeface="Calibri" pitchFamily="34" charset="-122"/>
                <a:cs typeface="Calibri" pitchFamily="34" charset="-120"/>
              </a:rPr>
              <a:t>No new features, no scaling</a:t>
            </a:r>
            <a:endParaRPr lang="en-US" sz="1400" dirty="0"/>
          </a:p>
        </p:txBody>
      </p:sp>
      <p:sp>
        <p:nvSpPr>
          <p:cNvPr id="25" name="Text 22"/>
          <p:cNvSpPr txBox="1"/>
          <p:nvPr/>
        </p:nvSpPr>
        <p:spPr>
          <a:xfrm>
            <a:off x="5394960" y="2258568"/>
            <a:ext cx="3108960" cy="29260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inputs are 0/1 or codes</a:t>
            </a:r>
            <a:endParaRPr lang="en-US" sz="1200" dirty="0"/>
          </a:p>
        </p:txBody>
      </p:sp>
      <p:sp>
        <p:nvSpPr>
          <p:cNvPr id="26" name="Text 23"/>
          <p:cNvSpPr txBox="1"/>
          <p:nvPr/>
        </p:nvSpPr>
        <p:spPr>
          <a:xfrm>
            <a:off x="457200" y="2743200"/>
            <a:ext cx="8229600" cy="1051560"/>
          </a:xfrm>
          <a:prstGeom prst="rect">
            <a:avLst/>
          </a:prstGeom>
          <a:noFill/>
          <a:ln/>
        </p:spPr>
        <p:txBody>
          <a:bodyPr wrap="square" lIns="0" tIns="0" rIns="0" bIns="0" rtlCol="0" anchor="t"/>
          <a:lstStyle/>
          <a:p>
            <a:pPr indent="0" marL="0">
              <a:spcAft>
                <a:spcPts val="300"/>
              </a:spcAft>
              <a:buNone/>
            </a:pPr>
            <a:r>
              <a:rPr lang="en-US" sz="1200" b="1" dirty="0">
                <a:solidFill>
                  <a:srgbClr val="164A82"/>
                </a:solidFill>
                <a:latin typeface="Calibri" pitchFamily="34" charset="0"/>
                <a:ea typeface="Calibri" pitchFamily="34" charset="-122"/>
                <a:cs typeface="Calibri" pitchFamily="34" charset="-120"/>
              </a:rPr>
              <a:t>Where the 310 columns come from: </a:t>
            </a:r>
            <a:pPr indent="0" marL="0">
              <a:spcAft>
                <a:spcPts val="300"/>
              </a:spcAft>
              <a:buNone/>
            </a:pPr>
            <a:r>
              <a:rPr lang="en-US" sz="1200" dirty="0">
                <a:solidFill>
                  <a:srgbClr val="1F2933"/>
                </a:solidFill>
                <a:latin typeface="Calibri" pitchFamily="34" charset="0"/>
                <a:ea typeface="Calibri" pitchFamily="34" charset="-122"/>
                <a:cs typeface="Calibri" pitchFamily="34" charset="-120"/>
              </a:rPr>
              <a:t>376 − X4 − 65 yes/no columns (12 never change, 45 copies, 8 opposites) = 7 text + 303 yes/no.</a:t>
            </a:r>
            <a:endParaRPr lang="en-US" sz="1200" dirty="0"/>
          </a:p>
          <a:p>
            <a:pPr indent="0" marL="0">
              <a:spcAft>
                <a:spcPts val="300"/>
              </a:spcAft>
              <a:buNone/>
            </a:pPr>
            <a:r>
              <a:rPr lang="en-US" sz="1200" b="1" dirty="0">
                <a:solidFill>
                  <a:srgbClr val="164A82"/>
                </a:solidFill>
                <a:latin typeface="Calibri" pitchFamily="34" charset="0"/>
                <a:ea typeface="Calibri" pitchFamily="34" charset="-122"/>
                <a:cs typeface="Calibri" pitchFamily="34" charset="-120"/>
              </a:rPr>
              <a:t>Why they made it slightly worse (8.09 s vs 7.97 s): </a:t>
            </a:r>
            <a:pPr indent="0" marL="0">
              <a:spcAft>
                <a:spcPts val="300"/>
              </a:spcAft>
              <a:buNone/>
            </a:pPr>
            <a:r>
              <a:rPr lang="en-US" sz="1200" dirty="0">
                <a:solidFill>
                  <a:srgbClr val="1F2933"/>
                </a:solidFill>
                <a:latin typeface="Calibri" pitchFamily="34" charset="0"/>
                <a:ea typeface="Calibri" pitchFamily="34" charset="-122"/>
                <a:cs typeface="Calibri" pitchFamily="34" charset="-120"/>
              </a:rPr>
              <a:t>they bring no new information beyond X0, but the model must learn hundreds of weights from 4,208 cars instead of 47 values → it learns some noise (overfitting). Ridge needed a strong penalty for them (alpha 10–100 vs 0.1).</a:t>
            </a:r>
            <a:endParaRPr lang="en-US" sz="1200" dirty="0"/>
          </a:p>
        </p:txBody>
      </p:sp>
      <p:sp>
        <p:nvSpPr>
          <p:cNvPr id="27" name="meaning"/>
          <p:cNvSpPr/>
          <p:nvPr/>
        </p:nvSpPr>
        <p:spPr>
          <a:xfrm>
            <a:off x="457200" y="3858768"/>
            <a:ext cx="8229600" cy="502920"/>
          </a:xfrm>
          <a:prstGeom prst="roundRect">
            <a:avLst>
              <a:gd name="adj" fmla="val 14545"/>
            </a:avLst>
          </a:prstGeom>
          <a:solidFill>
            <a:srgbClr val="E6F3EC"/>
          </a:solidFill>
          <a:ln w="12700">
            <a:solidFill>
              <a:srgbClr val="E6F3EC"/>
            </a:solidFill>
            <a:prstDash val="solid"/>
          </a:ln>
        </p:spPr>
      </p:sp>
      <p:sp>
        <p:nvSpPr>
          <p:cNvPr id="28" name="Text 25"/>
          <p:cNvSpPr txBox="1"/>
          <p:nvPr/>
        </p:nvSpPr>
        <p:spPr>
          <a:xfrm>
            <a:off x="640080" y="3858768"/>
            <a:ext cx="7863840" cy="502920"/>
          </a:xfrm>
          <a:prstGeom prst="rect">
            <a:avLst/>
          </a:prstGeom>
          <a:noFill/>
          <a:ln/>
        </p:spPr>
        <p:txBody>
          <a:bodyPr wrap="square" lIns="0" tIns="0" rIns="0" bIns="0" rtlCol="0" anchor="ctr"/>
          <a:lstStyle/>
          <a:p>
            <a:pPr indent="0" marL="0">
              <a:buNone/>
            </a:pPr>
            <a:r>
              <a:rPr lang="en-US" sz="1400" b="1" dirty="0">
                <a:solidFill>
                  <a:srgbClr val="2E8B57"/>
                </a:solidFill>
                <a:latin typeface="Calibri" pitchFamily="34" charset="0"/>
                <a:ea typeface="Calibri" pitchFamily="34" charset="-122"/>
                <a:cs typeface="Calibri" pitchFamily="34" charset="-120"/>
              </a:rPr>
              <a:t>Meaning: </a:t>
            </a:r>
            <a:pPr indent="0" marL="0">
              <a:buNone/>
            </a:pPr>
            <a:r>
              <a:rPr lang="en-US" sz="1400" dirty="0">
                <a:solidFill>
                  <a:srgbClr val="1F2933"/>
                </a:solidFill>
                <a:latin typeface="Calibri" pitchFamily="34" charset="0"/>
                <a:ea typeface="Calibri" pitchFamily="34" charset="-122"/>
                <a:cs typeface="Calibri" pitchFamily="34" charset="-120"/>
              </a:rPr>
              <a:t>more columns did not help (57.4 % with all columns vs 58.7 % with X0 alone) → we keep X0 only.</a:t>
            </a:r>
            <a:endParaRPr lang="en-US" sz="1400" dirty="0"/>
          </a:p>
        </p:txBody>
      </p:sp>
      <p:sp>
        <p:nvSpPr>
          <p:cNvPr id="29" name="Text 26"/>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belongs to main slide 8   </a:t>
            </a:r>
            <a:pPr indent="0" marL="0">
              <a:buNone/>
            </a:pPr>
            <a:r>
              <a:rPr lang="en-US" sz="900" i="1" dirty="0">
                <a:solidFill>
                  <a:srgbClr val="5B6670"/>
                </a:solidFill>
                <a:latin typeface="Calibri" pitchFamily="34" charset="0"/>
                <a:ea typeface="Calibri" pitchFamily="34" charset="-122"/>
                <a:cs typeface="Calibri" pitchFamily="34" charset="-120"/>
              </a:rPr>
              <a:t>Source: content list #13; 310 + overfitting reason: change 24 (D64), alpha per fold: handover 28 (D58); 265 s car: Step 9 (D23); X4: Step 10 (R17, D25); 368 → 303: Steps 13–15 (D27); 0.574 vs 0.587: Step 20; X0 only: D40</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00584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M3 – model: explanation slides</a:t>
            </a:r>
            <a:endParaRPr lang="en-US" sz="4000" dirty="0"/>
          </a:p>
        </p:txBody>
      </p:sp>
      <p:sp>
        <p:nvSpPr>
          <p:cNvPr id="4" name="Text 1"/>
          <p:cNvSpPr txBox="1"/>
          <p:nvPr/>
        </p:nvSpPr>
        <p:spPr>
          <a:xfrm>
            <a:off x="548640" y="2514600"/>
            <a:ext cx="8046720" cy="548640"/>
          </a:xfrm>
          <a:prstGeom prst="rect">
            <a:avLst/>
          </a:prstGeom>
          <a:noFill/>
          <a:ln/>
        </p:spPr>
        <p:txBody>
          <a:bodyPr wrap="square" lIns="0" tIns="0" rIns="0" bIns="0" rtlCol="0" anchor="t"/>
          <a:lstStyle/>
          <a:p>
            <a:pPr indent="0" marL="0">
              <a:buNone/>
            </a:pPr>
            <a:r>
              <a:rPr lang="en-US" sz="1500" dirty="0">
                <a:solidFill>
                  <a:srgbClr val="CFD8E3"/>
                </a:solidFill>
                <a:latin typeface="Calibri" pitchFamily="34" charset="0"/>
                <a:ea typeface="Calibri" pitchFamily="34" charset="-122"/>
                <a:cs typeface="Calibri" pitchFamily="34" charset="-120"/>
              </a:rPr>
              <a:t>Backup for the M3 summary slide. Each slide names the main slide it belongs to and its source (content list #, notebook 04 step, decision log D-/R-IDs).</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Why Ridge, Random Forest and XGBoost</a:t>
            </a:r>
            <a:endParaRPr lang="en-US" sz="2600" dirty="0"/>
          </a:p>
        </p:txBody>
      </p:sp>
      <p:sp>
        <p:nvSpPr>
          <p:cNvPr id="3" name="tag"/>
          <p:cNvSpPr/>
          <p:nvPr/>
        </p:nvSpPr>
        <p:spPr>
          <a:xfrm>
            <a:off x="7818120" y="347472"/>
            <a:ext cx="868680" cy="274320"/>
          </a:xfrm>
          <a:prstGeom prst="roundRect">
            <a:avLst>
              <a:gd name="adj" fmla="val 26667"/>
            </a:avLst>
          </a:prstGeom>
          <a:solidFill>
            <a:srgbClr val="EAF2FB"/>
          </a:solidFill>
          <a:ln w="12700">
            <a:solidFill>
              <a:srgbClr val="EAF2FB"/>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164A82"/>
                </a:solidFill>
                <a:latin typeface="Calibri" pitchFamily="34" charset="0"/>
                <a:ea typeface="Calibri" pitchFamily="34" charset="-122"/>
                <a:cs typeface="Calibri" pitchFamily="34" charset="-120"/>
              </a:rPr>
              <a:t>Backup · M3</a:t>
            </a:r>
            <a:endParaRPr lang="en-US" sz="900" dirty="0"/>
          </a:p>
        </p:txBody>
      </p:sp>
      <p:sp>
        <p:nvSpPr>
          <p:cNvPr id="6" name="card"/>
          <p:cNvSpPr/>
          <p:nvPr/>
        </p:nvSpPr>
        <p:spPr>
          <a:xfrm>
            <a:off x="457200" y="1143000"/>
            <a:ext cx="2606040" cy="2377440"/>
          </a:xfrm>
          <a:prstGeom prst="roundRect">
            <a:avLst>
              <a:gd name="adj" fmla="val 3846"/>
            </a:avLst>
          </a:prstGeom>
          <a:solidFill>
            <a:srgbClr val="F3F6F9"/>
          </a:solidFill>
          <a:ln w="12700">
            <a:solidFill>
              <a:srgbClr val="F3F6F9"/>
            </a:solidFill>
            <a:prstDash val="solid"/>
          </a:ln>
        </p:spPr>
      </p:sp>
      <p:pic>
        <p:nvPicPr>
          <p:cNvPr id="7" name="Image 0" descr="preencoded.png">    </p:cNvPr>
          <p:cNvPicPr>
            <a:picLocks noChangeAspect="1"/>
          </p:cNvPicPr>
          <p:nvPr/>
        </p:nvPicPr>
        <p:blipFill>
          <a:blip r:embed="rId1"/>
          <a:stretch>
            <a:fillRect/>
          </a:stretch>
        </p:blipFill>
        <p:spPr>
          <a:xfrm>
            <a:off x="731520" y="1371600"/>
            <a:ext cx="502920" cy="502920"/>
          </a:xfrm>
          <a:prstGeom prst="rect">
            <a:avLst/>
          </a:prstGeom>
        </p:spPr>
      </p:pic>
      <p:sp>
        <p:nvSpPr>
          <p:cNvPr id="8" name="Text 4"/>
          <p:cNvSpPr txBox="1"/>
          <p:nvPr/>
        </p:nvSpPr>
        <p:spPr>
          <a:xfrm>
            <a:off x="731520" y="2011680"/>
            <a:ext cx="2103120" cy="411480"/>
          </a:xfrm>
          <a:prstGeom prst="rect">
            <a:avLst/>
          </a:prstGeom>
          <a:noFill/>
          <a:ln/>
        </p:spPr>
        <p:txBody>
          <a:bodyPr wrap="square" lIns="0" tIns="0" rIns="0" bIns="0" rtlCol="0" anchor="t"/>
          <a:lstStyle/>
          <a:p>
            <a:pPr indent="0" marL="0">
              <a:buNone/>
            </a:pPr>
            <a:r>
              <a:rPr lang="en-US" sz="1700" b="1" dirty="0">
                <a:solidFill>
                  <a:srgbClr val="164A82"/>
                </a:solidFill>
                <a:latin typeface="Calibri" pitchFamily="34" charset="0"/>
                <a:ea typeface="Calibri" pitchFamily="34" charset="-122"/>
                <a:cs typeface="Calibri" pitchFamily="34" charset="-120"/>
              </a:rPr>
              <a:t>Ridge</a:t>
            </a:r>
            <a:endParaRPr lang="en-US" sz="1700" dirty="0"/>
          </a:p>
        </p:txBody>
      </p:sp>
      <p:sp>
        <p:nvSpPr>
          <p:cNvPr id="9" name="Text 5"/>
          <p:cNvSpPr txBox="1"/>
          <p:nvPr/>
        </p:nvSpPr>
        <p:spPr>
          <a:xfrm>
            <a:off x="731520" y="2423160"/>
            <a:ext cx="2148840" cy="118872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one straight-line formula: each column adds a fixed number of seconds. It cannot see combinations (e.g. an X0 code that makes the test longer only together with a certain option)</a:t>
            </a:r>
            <a:endParaRPr lang="en-US" sz="1150" dirty="0"/>
          </a:p>
        </p:txBody>
      </p:sp>
      <p:sp>
        <p:nvSpPr>
          <p:cNvPr id="10" name="card"/>
          <p:cNvSpPr/>
          <p:nvPr/>
        </p:nvSpPr>
        <p:spPr>
          <a:xfrm>
            <a:off x="3246120" y="1143000"/>
            <a:ext cx="2606040" cy="2377440"/>
          </a:xfrm>
          <a:prstGeom prst="roundRect">
            <a:avLst>
              <a:gd name="adj" fmla="val 3846"/>
            </a:avLst>
          </a:prstGeom>
          <a:solidFill>
            <a:srgbClr val="F3F6F9"/>
          </a:solidFill>
          <a:ln w="12700">
            <a:solidFill>
              <a:srgbClr val="F3F6F9"/>
            </a:solidFill>
            <a:prstDash val="solid"/>
          </a:ln>
        </p:spPr>
      </p:sp>
      <p:pic>
        <p:nvPicPr>
          <p:cNvPr id="11" name="Image 1" descr="preencoded.png">    </p:cNvPr>
          <p:cNvPicPr>
            <a:picLocks noChangeAspect="1"/>
          </p:cNvPicPr>
          <p:nvPr/>
        </p:nvPicPr>
        <p:blipFill>
          <a:blip r:embed="rId2"/>
          <a:stretch>
            <a:fillRect/>
          </a:stretch>
        </p:blipFill>
        <p:spPr>
          <a:xfrm>
            <a:off x="3520440" y="1371600"/>
            <a:ext cx="502920" cy="502920"/>
          </a:xfrm>
          <a:prstGeom prst="rect">
            <a:avLst/>
          </a:prstGeom>
        </p:spPr>
      </p:pic>
      <p:sp>
        <p:nvSpPr>
          <p:cNvPr id="12" name="Text 7"/>
          <p:cNvSpPr txBox="1"/>
          <p:nvPr/>
        </p:nvSpPr>
        <p:spPr>
          <a:xfrm>
            <a:off x="3520440" y="2011680"/>
            <a:ext cx="2103120" cy="411480"/>
          </a:xfrm>
          <a:prstGeom prst="rect">
            <a:avLst/>
          </a:prstGeom>
          <a:noFill/>
          <a:ln/>
        </p:spPr>
        <p:txBody>
          <a:bodyPr wrap="square" lIns="0" tIns="0" rIns="0" bIns="0" rtlCol="0" anchor="t"/>
          <a:lstStyle/>
          <a:p>
            <a:pPr indent="0" marL="0">
              <a:buNone/>
            </a:pPr>
            <a:r>
              <a:rPr lang="en-US" sz="1700" b="1" dirty="0">
                <a:solidFill>
                  <a:srgbClr val="164A82"/>
                </a:solidFill>
                <a:latin typeface="Calibri" pitchFamily="34" charset="0"/>
                <a:ea typeface="Calibri" pitchFamily="34" charset="-122"/>
                <a:cs typeface="Calibri" pitchFamily="34" charset="-120"/>
              </a:rPr>
              <a:t>Random Forest</a:t>
            </a:r>
            <a:endParaRPr lang="en-US" sz="1700" dirty="0"/>
          </a:p>
        </p:txBody>
      </p:sp>
      <p:sp>
        <p:nvSpPr>
          <p:cNvPr id="13" name="Text 8"/>
          <p:cNvSpPr txBox="1"/>
          <p:nvPr/>
        </p:nvSpPr>
        <p:spPr>
          <a:xfrm>
            <a:off x="3520440" y="2423160"/>
            <a:ext cx="2148840" cy="118872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many decision trees, averaged. Trees split the cars step by step, so they can catch combinations and uneven effects that Ridge misses</a:t>
            </a:r>
            <a:endParaRPr lang="en-US" sz="1150" dirty="0"/>
          </a:p>
        </p:txBody>
      </p:sp>
      <p:sp>
        <p:nvSpPr>
          <p:cNvPr id="14" name="card"/>
          <p:cNvSpPr/>
          <p:nvPr/>
        </p:nvSpPr>
        <p:spPr>
          <a:xfrm>
            <a:off x="6035040" y="1143000"/>
            <a:ext cx="2606040" cy="2377440"/>
          </a:xfrm>
          <a:prstGeom prst="roundRect">
            <a:avLst>
              <a:gd name="adj" fmla="val 3846"/>
            </a:avLst>
          </a:prstGeom>
          <a:solidFill>
            <a:srgbClr val="F3F6F9"/>
          </a:solidFill>
          <a:ln w="12700">
            <a:solidFill>
              <a:srgbClr val="F3F6F9"/>
            </a:solidFill>
            <a:prstDash val="solid"/>
          </a:ln>
        </p:spPr>
      </p:sp>
      <p:pic>
        <p:nvPicPr>
          <p:cNvPr id="15" name="Image 2" descr="preencoded.png">    </p:cNvPr>
          <p:cNvPicPr>
            <a:picLocks noChangeAspect="1"/>
          </p:cNvPicPr>
          <p:nvPr/>
        </p:nvPicPr>
        <p:blipFill>
          <a:blip r:embed="rId3"/>
          <a:stretch>
            <a:fillRect/>
          </a:stretch>
        </p:blipFill>
        <p:spPr>
          <a:xfrm>
            <a:off x="6309360" y="1371600"/>
            <a:ext cx="502920" cy="502920"/>
          </a:xfrm>
          <a:prstGeom prst="rect">
            <a:avLst/>
          </a:prstGeom>
        </p:spPr>
      </p:pic>
      <p:sp>
        <p:nvSpPr>
          <p:cNvPr id="16" name="Text 10"/>
          <p:cNvSpPr txBox="1"/>
          <p:nvPr/>
        </p:nvSpPr>
        <p:spPr>
          <a:xfrm>
            <a:off x="6309360" y="2011680"/>
            <a:ext cx="2103120" cy="411480"/>
          </a:xfrm>
          <a:prstGeom prst="rect">
            <a:avLst/>
          </a:prstGeom>
          <a:noFill/>
          <a:ln/>
        </p:spPr>
        <p:txBody>
          <a:bodyPr wrap="square" lIns="0" tIns="0" rIns="0" bIns="0" rtlCol="0" anchor="t"/>
          <a:lstStyle/>
          <a:p>
            <a:pPr indent="0" marL="0">
              <a:buNone/>
            </a:pPr>
            <a:r>
              <a:rPr lang="en-US" sz="1700" b="1" dirty="0">
                <a:solidFill>
                  <a:srgbClr val="164A82"/>
                </a:solidFill>
                <a:latin typeface="Calibri" pitchFamily="34" charset="0"/>
                <a:ea typeface="Calibri" pitchFamily="34" charset="-122"/>
                <a:cs typeface="Calibri" pitchFamily="34" charset="-120"/>
              </a:rPr>
              <a:t>XGBoost</a:t>
            </a:r>
            <a:endParaRPr lang="en-US" sz="1700" dirty="0"/>
          </a:p>
        </p:txBody>
      </p:sp>
      <p:sp>
        <p:nvSpPr>
          <p:cNvPr id="17" name="Text 11"/>
          <p:cNvSpPr txBox="1"/>
          <p:nvPr/>
        </p:nvSpPr>
        <p:spPr>
          <a:xfrm>
            <a:off x="6309360" y="2423160"/>
            <a:ext cx="2148840" cy="118872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trees built one after another, each fixing the errors of the ones before – usually the strongest method for table data like ours</a:t>
            </a:r>
            <a:endParaRPr lang="en-US" sz="1150" dirty="0"/>
          </a:p>
        </p:txBody>
      </p:sp>
      <p:sp>
        <p:nvSpPr>
          <p:cNvPr id="18" name="meaning"/>
          <p:cNvSpPr/>
          <p:nvPr/>
        </p:nvSpPr>
        <p:spPr>
          <a:xfrm>
            <a:off x="457200" y="3703320"/>
            <a:ext cx="8229600" cy="640080"/>
          </a:xfrm>
          <a:prstGeom prst="roundRect">
            <a:avLst>
              <a:gd name="adj" fmla="val 11429"/>
            </a:avLst>
          </a:prstGeom>
          <a:solidFill>
            <a:srgbClr val="E6F3EC"/>
          </a:solidFill>
          <a:ln w="12700">
            <a:solidFill>
              <a:srgbClr val="E6F3EC"/>
            </a:solidFill>
            <a:prstDash val="solid"/>
          </a:ln>
        </p:spPr>
      </p:sp>
      <p:sp>
        <p:nvSpPr>
          <p:cNvPr id="19" name="Text 13"/>
          <p:cNvSpPr txBox="1"/>
          <p:nvPr/>
        </p:nvSpPr>
        <p:spPr>
          <a:xfrm>
            <a:off x="640080" y="3703320"/>
            <a:ext cx="7863840" cy="640080"/>
          </a:xfrm>
          <a:prstGeom prst="rect">
            <a:avLst/>
          </a:prstGeom>
          <a:noFill/>
          <a:ln/>
        </p:spPr>
        <p:txBody>
          <a:bodyPr wrap="square" lIns="0" tIns="0" rIns="0" bIns="0" rtlCol="0" anchor="ctr"/>
          <a:lstStyle/>
          <a:p>
            <a:pPr indent="0" marL="0">
              <a:buNone/>
            </a:pPr>
            <a:r>
              <a:rPr lang="en-US" sz="1400" b="1" dirty="0">
                <a:solidFill>
                  <a:srgbClr val="2E8B57"/>
                </a:solidFill>
                <a:latin typeface="Calibri" pitchFamily="34" charset="0"/>
                <a:ea typeface="Calibri" pitchFamily="34" charset="-122"/>
                <a:cs typeface="Calibri" pitchFamily="34" charset="-120"/>
              </a:rPr>
              <a:t>Meaning: </a:t>
            </a:r>
            <a:pPr indent="0" marL="0">
              <a:buNone/>
            </a:pPr>
            <a:r>
              <a:rPr lang="en-US" sz="1400" dirty="0">
                <a:solidFill>
                  <a:srgbClr val="1F2933"/>
                </a:solidFill>
                <a:latin typeface="Calibri" pitchFamily="34" charset="0"/>
                <a:ea typeface="Calibri" pitchFamily="34" charset="-122"/>
                <a:cs typeface="Calibri" pitchFamily="34" charset="-120"/>
              </a:rPr>
              <a:t>if hidden combinations existed, Random Forest or XGBoost would score clearly better – they did not (58.9 % and 59.3 % vs 58.7 %): the limit is in the data, so the simplest model, Ridge, is enough (→ slide 11).</a:t>
            </a:r>
            <a:endParaRPr lang="en-US" sz="1400" dirty="0"/>
          </a:p>
        </p:txBody>
      </p:sp>
      <p:sp>
        <p:nvSpPr>
          <p:cNvPr id="20" name="Text 14"/>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belongs to main slide 11   </a:t>
            </a:r>
            <a:pPr indent="0" marL="0">
              <a:buNone/>
            </a:pPr>
            <a:r>
              <a:rPr lang="en-US" sz="900" i="1" dirty="0">
                <a:solidFill>
                  <a:srgbClr val="5B6670"/>
                </a:solidFill>
                <a:latin typeface="Calibri" pitchFamily="34" charset="0"/>
                <a:ea typeface="Calibri" pitchFamily="34" charset="-122"/>
                <a:cs typeface="Calibri" pitchFamily="34" charset="-120"/>
              </a:rPr>
              <a:t>Source: content list #17; requirement: D15; choice: D33; XGBoost install: D34; wording: change 34 (D66); 58.7 / 58.9 / 59.3 %: Steps 20, 23, 24</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How the models were trained and tested</a:t>
            </a:r>
            <a:endParaRPr lang="en-US" sz="2600" dirty="0"/>
          </a:p>
        </p:txBody>
      </p:sp>
      <p:sp>
        <p:nvSpPr>
          <p:cNvPr id="3" name="tag"/>
          <p:cNvSpPr/>
          <p:nvPr/>
        </p:nvSpPr>
        <p:spPr>
          <a:xfrm>
            <a:off x="7818120" y="347472"/>
            <a:ext cx="868680" cy="274320"/>
          </a:xfrm>
          <a:prstGeom prst="roundRect">
            <a:avLst>
              <a:gd name="adj" fmla="val 26667"/>
            </a:avLst>
          </a:prstGeom>
          <a:solidFill>
            <a:srgbClr val="EAF2FB"/>
          </a:solidFill>
          <a:ln w="12700">
            <a:solidFill>
              <a:srgbClr val="EAF2FB"/>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164A82"/>
                </a:solidFill>
                <a:latin typeface="Calibri" pitchFamily="34" charset="0"/>
                <a:ea typeface="Calibri" pitchFamily="34" charset="-122"/>
                <a:cs typeface="Calibri" pitchFamily="34" charset="-120"/>
              </a:rPr>
              <a:t>Backup · M3</a:t>
            </a:r>
            <a:endParaRPr lang="en-US" sz="900" dirty="0"/>
          </a:p>
        </p:txBody>
      </p:sp>
      <p:sp>
        <p:nvSpPr>
          <p:cNvPr id="6" name="Text 3"/>
          <p:cNvSpPr txBox="1"/>
          <p:nvPr/>
        </p:nvSpPr>
        <p:spPr>
          <a:xfrm>
            <a:off x="457200" y="960120"/>
            <a:ext cx="8229600" cy="3657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Cross-validation is a testing method, not part of any model: the 4,208 training cars are split into 5 parts.</a:t>
            </a:r>
            <a:endParaRPr lang="en-US" sz="1300" dirty="0"/>
          </a:p>
        </p:txBody>
      </p:sp>
      <p:sp>
        <p:nvSpPr>
          <p:cNvPr id="7" name="fold00"/>
          <p:cNvSpPr/>
          <p:nvPr/>
        </p:nvSpPr>
        <p:spPr>
          <a:xfrm>
            <a:off x="1280160" y="1417320"/>
            <a:ext cx="768096" cy="256032"/>
          </a:xfrm>
          <a:prstGeom prst="rect">
            <a:avLst/>
          </a:prstGeom>
          <a:solidFill>
            <a:srgbClr val="C77700"/>
          </a:solidFill>
          <a:ln w="12700">
            <a:solidFill>
              <a:srgbClr val="FFFFFF"/>
            </a:solidFill>
            <a:prstDash val="solid"/>
          </a:ln>
        </p:spPr>
      </p:sp>
      <p:sp>
        <p:nvSpPr>
          <p:cNvPr id="8" name="Text 5"/>
          <p:cNvSpPr txBox="1"/>
          <p:nvPr/>
        </p:nvSpPr>
        <p:spPr>
          <a:xfrm>
            <a:off x="1280160" y="1417320"/>
            <a:ext cx="768096" cy="25603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test</a:t>
            </a:r>
            <a:endParaRPr lang="en-US" sz="1000" dirty="0"/>
          </a:p>
        </p:txBody>
      </p:sp>
      <p:sp>
        <p:nvSpPr>
          <p:cNvPr id="9" name="fold01"/>
          <p:cNvSpPr/>
          <p:nvPr/>
        </p:nvSpPr>
        <p:spPr>
          <a:xfrm>
            <a:off x="2084832" y="1417320"/>
            <a:ext cx="768096" cy="256032"/>
          </a:xfrm>
          <a:prstGeom prst="rect">
            <a:avLst/>
          </a:prstGeom>
          <a:solidFill>
            <a:srgbClr val="EAF2FB"/>
          </a:solidFill>
          <a:ln w="12700">
            <a:solidFill>
              <a:srgbClr val="FFFFFF"/>
            </a:solidFill>
            <a:prstDash val="solid"/>
          </a:ln>
        </p:spPr>
      </p:sp>
      <p:sp>
        <p:nvSpPr>
          <p:cNvPr id="10" name="Text 7"/>
          <p:cNvSpPr txBox="1"/>
          <p:nvPr/>
        </p:nvSpPr>
        <p:spPr>
          <a:xfrm>
            <a:off x="2084832" y="1417320"/>
            <a:ext cx="768096" cy="256032"/>
          </a:xfrm>
          <a:prstGeom prst="rect">
            <a:avLst/>
          </a:prstGeom>
          <a:noFill/>
          <a:ln/>
        </p:spPr>
        <p:txBody>
          <a:bodyPr wrap="square" lIns="0" tIns="0" rIns="0" bIns="0" rtlCol="0" anchor="ctr"/>
          <a:lstStyle/>
          <a:p>
            <a:pPr algn="ctr" indent="0" marL="0">
              <a:buNone/>
            </a:pPr>
            <a:r>
              <a:rPr lang="en-US" sz="1000" dirty="0">
                <a:solidFill>
                  <a:srgbClr val="164A82"/>
                </a:solidFill>
                <a:latin typeface="Calibri" pitchFamily="34" charset="0"/>
                <a:ea typeface="Calibri" pitchFamily="34" charset="-122"/>
                <a:cs typeface="Calibri" pitchFamily="34" charset="-120"/>
              </a:rPr>
              <a:t>train</a:t>
            </a:r>
            <a:endParaRPr lang="en-US" sz="1000" dirty="0"/>
          </a:p>
        </p:txBody>
      </p:sp>
      <p:sp>
        <p:nvSpPr>
          <p:cNvPr id="11" name="fold02"/>
          <p:cNvSpPr/>
          <p:nvPr/>
        </p:nvSpPr>
        <p:spPr>
          <a:xfrm>
            <a:off x="2889504" y="1417320"/>
            <a:ext cx="768096" cy="256032"/>
          </a:xfrm>
          <a:prstGeom prst="rect">
            <a:avLst/>
          </a:prstGeom>
          <a:solidFill>
            <a:srgbClr val="EAF2FB"/>
          </a:solidFill>
          <a:ln w="12700">
            <a:solidFill>
              <a:srgbClr val="FFFFFF"/>
            </a:solidFill>
            <a:prstDash val="solid"/>
          </a:ln>
        </p:spPr>
      </p:sp>
      <p:sp>
        <p:nvSpPr>
          <p:cNvPr id="12" name="Text 9"/>
          <p:cNvSpPr txBox="1"/>
          <p:nvPr/>
        </p:nvSpPr>
        <p:spPr>
          <a:xfrm>
            <a:off x="2889504" y="1417320"/>
            <a:ext cx="768096" cy="256032"/>
          </a:xfrm>
          <a:prstGeom prst="rect">
            <a:avLst/>
          </a:prstGeom>
          <a:noFill/>
          <a:ln/>
        </p:spPr>
        <p:txBody>
          <a:bodyPr wrap="square" lIns="0" tIns="0" rIns="0" bIns="0" rtlCol="0" anchor="ctr"/>
          <a:lstStyle/>
          <a:p>
            <a:pPr algn="ctr" indent="0" marL="0">
              <a:buNone/>
            </a:pPr>
            <a:r>
              <a:rPr lang="en-US" sz="1000" dirty="0">
                <a:solidFill>
                  <a:srgbClr val="164A82"/>
                </a:solidFill>
                <a:latin typeface="Calibri" pitchFamily="34" charset="0"/>
                <a:ea typeface="Calibri" pitchFamily="34" charset="-122"/>
                <a:cs typeface="Calibri" pitchFamily="34" charset="-120"/>
              </a:rPr>
              <a:t>train</a:t>
            </a:r>
            <a:endParaRPr lang="en-US" sz="1000" dirty="0"/>
          </a:p>
        </p:txBody>
      </p:sp>
      <p:sp>
        <p:nvSpPr>
          <p:cNvPr id="13" name="fold03"/>
          <p:cNvSpPr/>
          <p:nvPr/>
        </p:nvSpPr>
        <p:spPr>
          <a:xfrm>
            <a:off x="3694176" y="1417320"/>
            <a:ext cx="768096" cy="256032"/>
          </a:xfrm>
          <a:prstGeom prst="rect">
            <a:avLst/>
          </a:prstGeom>
          <a:solidFill>
            <a:srgbClr val="EAF2FB"/>
          </a:solidFill>
          <a:ln w="12700">
            <a:solidFill>
              <a:srgbClr val="FFFFFF"/>
            </a:solidFill>
            <a:prstDash val="solid"/>
          </a:ln>
        </p:spPr>
      </p:sp>
      <p:sp>
        <p:nvSpPr>
          <p:cNvPr id="14" name="Text 11"/>
          <p:cNvSpPr txBox="1"/>
          <p:nvPr/>
        </p:nvSpPr>
        <p:spPr>
          <a:xfrm>
            <a:off x="3694176" y="1417320"/>
            <a:ext cx="768096" cy="256032"/>
          </a:xfrm>
          <a:prstGeom prst="rect">
            <a:avLst/>
          </a:prstGeom>
          <a:noFill/>
          <a:ln/>
        </p:spPr>
        <p:txBody>
          <a:bodyPr wrap="square" lIns="0" tIns="0" rIns="0" bIns="0" rtlCol="0" anchor="ctr"/>
          <a:lstStyle/>
          <a:p>
            <a:pPr algn="ctr" indent="0" marL="0">
              <a:buNone/>
            </a:pPr>
            <a:r>
              <a:rPr lang="en-US" sz="1000" dirty="0">
                <a:solidFill>
                  <a:srgbClr val="164A82"/>
                </a:solidFill>
                <a:latin typeface="Calibri" pitchFamily="34" charset="0"/>
                <a:ea typeface="Calibri" pitchFamily="34" charset="-122"/>
                <a:cs typeface="Calibri" pitchFamily="34" charset="-120"/>
              </a:rPr>
              <a:t>train</a:t>
            </a:r>
            <a:endParaRPr lang="en-US" sz="1000" dirty="0"/>
          </a:p>
        </p:txBody>
      </p:sp>
      <p:sp>
        <p:nvSpPr>
          <p:cNvPr id="15" name="fold04"/>
          <p:cNvSpPr/>
          <p:nvPr/>
        </p:nvSpPr>
        <p:spPr>
          <a:xfrm>
            <a:off x="4498848" y="1417320"/>
            <a:ext cx="768096" cy="256032"/>
          </a:xfrm>
          <a:prstGeom prst="rect">
            <a:avLst/>
          </a:prstGeom>
          <a:solidFill>
            <a:srgbClr val="EAF2FB"/>
          </a:solidFill>
          <a:ln w="12700">
            <a:solidFill>
              <a:srgbClr val="FFFFFF"/>
            </a:solidFill>
            <a:prstDash val="solid"/>
          </a:ln>
        </p:spPr>
      </p:sp>
      <p:sp>
        <p:nvSpPr>
          <p:cNvPr id="16" name="Text 13"/>
          <p:cNvSpPr txBox="1"/>
          <p:nvPr/>
        </p:nvSpPr>
        <p:spPr>
          <a:xfrm>
            <a:off x="4498848" y="1417320"/>
            <a:ext cx="768096" cy="256032"/>
          </a:xfrm>
          <a:prstGeom prst="rect">
            <a:avLst/>
          </a:prstGeom>
          <a:noFill/>
          <a:ln/>
        </p:spPr>
        <p:txBody>
          <a:bodyPr wrap="square" lIns="0" tIns="0" rIns="0" bIns="0" rtlCol="0" anchor="ctr"/>
          <a:lstStyle/>
          <a:p>
            <a:pPr algn="ctr" indent="0" marL="0">
              <a:buNone/>
            </a:pPr>
            <a:r>
              <a:rPr lang="en-US" sz="1000" dirty="0">
                <a:solidFill>
                  <a:srgbClr val="164A82"/>
                </a:solidFill>
                <a:latin typeface="Calibri" pitchFamily="34" charset="0"/>
                <a:ea typeface="Calibri" pitchFamily="34" charset="-122"/>
                <a:cs typeface="Calibri" pitchFamily="34" charset="-120"/>
              </a:rPr>
              <a:t>train</a:t>
            </a:r>
            <a:endParaRPr lang="en-US" sz="1000" dirty="0"/>
          </a:p>
        </p:txBody>
      </p:sp>
      <p:sp>
        <p:nvSpPr>
          <p:cNvPr id="17" name="fold10"/>
          <p:cNvSpPr/>
          <p:nvPr/>
        </p:nvSpPr>
        <p:spPr>
          <a:xfrm>
            <a:off x="1280160" y="1719072"/>
            <a:ext cx="768096" cy="256032"/>
          </a:xfrm>
          <a:prstGeom prst="rect">
            <a:avLst/>
          </a:prstGeom>
          <a:solidFill>
            <a:srgbClr val="EAF2FB"/>
          </a:solidFill>
          <a:ln w="12700">
            <a:solidFill>
              <a:srgbClr val="FFFFFF"/>
            </a:solidFill>
            <a:prstDash val="solid"/>
          </a:ln>
        </p:spPr>
      </p:sp>
      <p:sp>
        <p:nvSpPr>
          <p:cNvPr id="18" name="Text 15"/>
          <p:cNvSpPr txBox="1"/>
          <p:nvPr/>
        </p:nvSpPr>
        <p:spPr>
          <a:xfrm>
            <a:off x="1280160" y="1719072"/>
            <a:ext cx="768096" cy="256032"/>
          </a:xfrm>
          <a:prstGeom prst="rect">
            <a:avLst/>
          </a:prstGeom>
          <a:noFill/>
          <a:ln/>
        </p:spPr>
        <p:txBody>
          <a:bodyPr wrap="square" lIns="0" tIns="0" rIns="0" bIns="0" rtlCol="0" anchor="ctr"/>
          <a:lstStyle/>
          <a:p>
            <a:pPr algn="ctr" indent="0" marL="0">
              <a:buNone/>
            </a:pPr>
            <a:r>
              <a:rPr lang="en-US" sz="1000" dirty="0">
                <a:solidFill>
                  <a:srgbClr val="164A82"/>
                </a:solidFill>
                <a:latin typeface="Calibri" pitchFamily="34" charset="0"/>
                <a:ea typeface="Calibri" pitchFamily="34" charset="-122"/>
                <a:cs typeface="Calibri" pitchFamily="34" charset="-120"/>
              </a:rPr>
              <a:t>train</a:t>
            </a:r>
            <a:endParaRPr lang="en-US" sz="1000" dirty="0"/>
          </a:p>
        </p:txBody>
      </p:sp>
      <p:sp>
        <p:nvSpPr>
          <p:cNvPr id="19" name="fold11"/>
          <p:cNvSpPr/>
          <p:nvPr/>
        </p:nvSpPr>
        <p:spPr>
          <a:xfrm>
            <a:off x="2084832" y="1719072"/>
            <a:ext cx="768096" cy="256032"/>
          </a:xfrm>
          <a:prstGeom prst="rect">
            <a:avLst/>
          </a:prstGeom>
          <a:solidFill>
            <a:srgbClr val="C77700"/>
          </a:solidFill>
          <a:ln w="12700">
            <a:solidFill>
              <a:srgbClr val="FFFFFF"/>
            </a:solidFill>
            <a:prstDash val="solid"/>
          </a:ln>
        </p:spPr>
      </p:sp>
      <p:sp>
        <p:nvSpPr>
          <p:cNvPr id="20" name="Text 17"/>
          <p:cNvSpPr txBox="1"/>
          <p:nvPr/>
        </p:nvSpPr>
        <p:spPr>
          <a:xfrm>
            <a:off x="2084832" y="1719072"/>
            <a:ext cx="768096" cy="25603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test</a:t>
            </a:r>
            <a:endParaRPr lang="en-US" sz="1000" dirty="0"/>
          </a:p>
        </p:txBody>
      </p:sp>
      <p:sp>
        <p:nvSpPr>
          <p:cNvPr id="21" name="fold12"/>
          <p:cNvSpPr/>
          <p:nvPr/>
        </p:nvSpPr>
        <p:spPr>
          <a:xfrm>
            <a:off x="2889504" y="1719072"/>
            <a:ext cx="768096" cy="256032"/>
          </a:xfrm>
          <a:prstGeom prst="rect">
            <a:avLst/>
          </a:prstGeom>
          <a:solidFill>
            <a:srgbClr val="EAF2FB"/>
          </a:solidFill>
          <a:ln w="12700">
            <a:solidFill>
              <a:srgbClr val="FFFFFF"/>
            </a:solidFill>
            <a:prstDash val="solid"/>
          </a:ln>
        </p:spPr>
      </p:sp>
      <p:sp>
        <p:nvSpPr>
          <p:cNvPr id="22" name="Text 19"/>
          <p:cNvSpPr txBox="1"/>
          <p:nvPr/>
        </p:nvSpPr>
        <p:spPr>
          <a:xfrm>
            <a:off x="2889504" y="1719072"/>
            <a:ext cx="768096" cy="256032"/>
          </a:xfrm>
          <a:prstGeom prst="rect">
            <a:avLst/>
          </a:prstGeom>
          <a:noFill/>
          <a:ln/>
        </p:spPr>
        <p:txBody>
          <a:bodyPr wrap="square" lIns="0" tIns="0" rIns="0" bIns="0" rtlCol="0" anchor="ctr"/>
          <a:lstStyle/>
          <a:p>
            <a:pPr algn="ctr" indent="0" marL="0">
              <a:buNone/>
            </a:pPr>
            <a:r>
              <a:rPr lang="en-US" sz="1000" dirty="0">
                <a:solidFill>
                  <a:srgbClr val="164A82"/>
                </a:solidFill>
                <a:latin typeface="Calibri" pitchFamily="34" charset="0"/>
                <a:ea typeface="Calibri" pitchFamily="34" charset="-122"/>
                <a:cs typeface="Calibri" pitchFamily="34" charset="-120"/>
              </a:rPr>
              <a:t>train</a:t>
            </a:r>
            <a:endParaRPr lang="en-US" sz="1000" dirty="0"/>
          </a:p>
        </p:txBody>
      </p:sp>
      <p:sp>
        <p:nvSpPr>
          <p:cNvPr id="23" name="fold13"/>
          <p:cNvSpPr/>
          <p:nvPr/>
        </p:nvSpPr>
        <p:spPr>
          <a:xfrm>
            <a:off x="3694176" y="1719072"/>
            <a:ext cx="768096" cy="256032"/>
          </a:xfrm>
          <a:prstGeom prst="rect">
            <a:avLst/>
          </a:prstGeom>
          <a:solidFill>
            <a:srgbClr val="EAF2FB"/>
          </a:solidFill>
          <a:ln w="12700">
            <a:solidFill>
              <a:srgbClr val="FFFFFF"/>
            </a:solidFill>
            <a:prstDash val="solid"/>
          </a:ln>
        </p:spPr>
      </p:sp>
      <p:sp>
        <p:nvSpPr>
          <p:cNvPr id="24" name="Text 21"/>
          <p:cNvSpPr txBox="1"/>
          <p:nvPr/>
        </p:nvSpPr>
        <p:spPr>
          <a:xfrm>
            <a:off x="3694176" y="1719072"/>
            <a:ext cx="768096" cy="256032"/>
          </a:xfrm>
          <a:prstGeom prst="rect">
            <a:avLst/>
          </a:prstGeom>
          <a:noFill/>
          <a:ln/>
        </p:spPr>
        <p:txBody>
          <a:bodyPr wrap="square" lIns="0" tIns="0" rIns="0" bIns="0" rtlCol="0" anchor="ctr"/>
          <a:lstStyle/>
          <a:p>
            <a:pPr algn="ctr" indent="0" marL="0">
              <a:buNone/>
            </a:pPr>
            <a:r>
              <a:rPr lang="en-US" sz="1000" dirty="0">
                <a:solidFill>
                  <a:srgbClr val="164A82"/>
                </a:solidFill>
                <a:latin typeface="Calibri" pitchFamily="34" charset="0"/>
                <a:ea typeface="Calibri" pitchFamily="34" charset="-122"/>
                <a:cs typeface="Calibri" pitchFamily="34" charset="-120"/>
              </a:rPr>
              <a:t>train</a:t>
            </a:r>
            <a:endParaRPr lang="en-US" sz="1000" dirty="0"/>
          </a:p>
        </p:txBody>
      </p:sp>
      <p:sp>
        <p:nvSpPr>
          <p:cNvPr id="25" name="fold14"/>
          <p:cNvSpPr/>
          <p:nvPr/>
        </p:nvSpPr>
        <p:spPr>
          <a:xfrm>
            <a:off x="4498848" y="1719072"/>
            <a:ext cx="768096" cy="256032"/>
          </a:xfrm>
          <a:prstGeom prst="rect">
            <a:avLst/>
          </a:prstGeom>
          <a:solidFill>
            <a:srgbClr val="EAF2FB"/>
          </a:solidFill>
          <a:ln w="12700">
            <a:solidFill>
              <a:srgbClr val="FFFFFF"/>
            </a:solidFill>
            <a:prstDash val="solid"/>
          </a:ln>
        </p:spPr>
      </p:sp>
      <p:sp>
        <p:nvSpPr>
          <p:cNvPr id="26" name="Text 23"/>
          <p:cNvSpPr txBox="1"/>
          <p:nvPr/>
        </p:nvSpPr>
        <p:spPr>
          <a:xfrm>
            <a:off x="4498848" y="1719072"/>
            <a:ext cx="768096" cy="256032"/>
          </a:xfrm>
          <a:prstGeom prst="rect">
            <a:avLst/>
          </a:prstGeom>
          <a:noFill/>
          <a:ln/>
        </p:spPr>
        <p:txBody>
          <a:bodyPr wrap="square" lIns="0" tIns="0" rIns="0" bIns="0" rtlCol="0" anchor="ctr"/>
          <a:lstStyle/>
          <a:p>
            <a:pPr algn="ctr" indent="0" marL="0">
              <a:buNone/>
            </a:pPr>
            <a:r>
              <a:rPr lang="en-US" sz="1000" dirty="0">
                <a:solidFill>
                  <a:srgbClr val="164A82"/>
                </a:solidFill>
                <a:latin typeface="Calibri" pitchFamily="34" charset="0"/>
                <a:ea typeface="Calibri" pitchFamily="34" charset="-122"/>
                <a:cs typeface="Calibri" pitchFamily="34" charset="-120"/>
              </a:rPr>
              <a:t>train</a:t>
            </a:r>
            <a:endParaRPr lang="en-US" sz="1000" dirty="0"/>
          </a:p>
        </p:txBody>
      </p:sp>
      <p:sp>
        <p:nvSpPr>
          <p:cNvPr id="27" name="fold20"/>
          <p:cNvSpPr/>
          <p:nvPr/>
        </p:nvSpPr>
        <p:spPr>
          <a:xfrm>
            <a:off x="1280160" y="2020824"/>
            <a:ext cx="768096" cy="256032"/>
          </a:xfrm>
          <a:prstGeom prst="rect">
            <a:avLst/>
          </a:prstGeom>
          <a:solidFill>
            <a:srgbClr val="EAF2FB"/>
          </a:solidFill>
          <a:ln w="12700">
            <a:solidFill>
              <a:srgbClr val="FFFFFF"/>
            </a:solidFill>
            <a:prstDash val="solid"/>
          </a:ln>
        </p:spPr>
      </p:sp>
      <p:sp>
        <p:nvSpPr>
          <p:cNvPr id="28" name="Text 25"/>
          <p:cNvSpPr txBox="1"/>
          <p:nvPr/>
        </p:nvSpPr>
        <p:spPr>
          <a:xfrm>
            <a:off x="1280160" y="2020824"/>
            <a:ext cx="768096" cy="256032"/>
          </a:xfrm>
          <a:prstGeom prst="rect">
            <a:avLst/>
          </a:prstGeom>
          <a:noFill/>
          <a:ln/>
        </p:spPr>
        <p:txBody>
          <a:bodyPr wrap="square" lIns="0" tIns="0" rIns="0" bIns="0" rtlCol="0" anchor="ctr"/>
          <a:lstStyle/>
          <a:p>
            <a:pPr algn="ctr" indent="0" marL="0">
              <a:buNone/>
            </a:pPr>
            <a:r>
              <a:rPr lang="en-US" sz="1000" dirty="0">
                <a:solidFill>
                  <a:srgbClr val="164A82"/>
                </a:solidFill>
                <a:latin typeface="Calibri" pitchFamily="34" charset="0"/>
                <a:ea typeface="Calibri" pitchFamily="34" charset="-122"/>
                <a:cs typeface="Calibri" pitchFamily="34" charset="-120"/>
              </a:rPr>
              <a:t>train</a:t>
            </a:r>
            <a:endParaRPr lang="en-US" sz="1000" dirty="0"/>
          </a:p>
        </p:txBody>
      </p:sp>
      <p:sp>
        <p:nvSpPr>
          <p:cNvPr id="29" name="fold21"/>
          <p:cNvSpPr/>
          <p:nvPr/>
        </p:nvSpPr>
        <p:spPr>
          <a:xfrm>
            <a:off x="2084832" y="2020824"/>
            <a:ext cx="768096" cy="256032"/>
          </a:xfrm>
          <a:prstGeom prst="rect">
            <a:avLst/>
          </a:prstGeom>
          <a:solidFill>
            <a:srgbClr val="EAF2FB"/>
          </a:solidFill>
          <a:ln w="12700">
            <a:solidFill>
              <a:srgbClr val="FFFFFF"/>
            </a:solidFill>
            <a:prstDash val="solid"/>
          </a:ln>
        </p:spPr>
      </p:sp>
      <p:sp>
        <p:nvSpPr>
          <p:cNvPr id="30" name="Text 27"/>
          <p:cNvSpPr txBox="1"/>
          <p:nvPr/>
        </p:nvSpPr>
        <p:spPr>
          <a:xfrm>
            <a:off x="2084832" y="2020824"/>
            <a:ext cx="768096" cy="256032"/>
          </a:xfrm>
          <a:prstGeom prst="rect">
            <a:avLst/>
          </a:prstGeom>
          <a:noFill/>
          <a:ln/>
        </p:spPr>
        <p:txBody>
          <a:bodyPr wrap="square" lIns="0" tIns="0" rIns="0" bIns="0" rtlCol="0" anchor="ctr"/>
          <a:lstStyle/>
          <a:p>
            <a:pPr algn="ctr" indent="0" marL="0">
              <a:buNone/>
            </a:pPr>
            <a:r>
              <a:rPr lang="en-US" sz="1000" dirty="0">
                <a:solidFill>
                  <a:srgbClr val="164A82"/>
                </a:solidFill>
                <a:latin typeface="Calibri" pitchFamily="34" charset="0"/>
                <a:ea typeface="Calibri" pitchFamily="34" charset="-122"/>
                <a:cs typeface="Calibri" pitchFamily="34" charset="-120"/>
              </a:rPr>
              <a:t>train</a:t>
            </a:r>
            <a:endParaRPr lang="en-US" sz="1000" dirty="0"/>
          </a:p>
        </p:txBody>
      </p:sp>
      <p:sp>
        <p:nvSpPr>
          <p:cNvPr id="31" name="fold22"/>
          <p:cNvSpPr/>
          <p:nvPr/>
        </p:nvSpPr>
        <p:spPr>
          <a:xfrm>
            <a:off x="2889504" y="2020824"/>
            <a:ext cx="768096" cy="256032"/>
          </a:xfrm>
          <a:prstGeom prst="rect">
            <a:avLst/>
          </a:prstGeom>
          <a:solidFill>
            <a:srgbClr val="C77700"/>
          </a:solidFill>
          <a:ln w="12700">
            <a:solidFill>
              <a:srgbClr val="FFFFFF"/>
            </a:solidFill>
            <a:prstDash val="solid"/>
          </a:ln>
        </p:spPr>
      </p:sp>
      <p:sp>
        <p:nvSpPr>
          <p:cNvPr id="32" name="Text 29"/>
          <p:cNvSpPr txBox="1"/>
          <p:nvPr/>
        </p:nvSpPr>
        <p:spPr>
          <a:xfrm>
            <a:off x="2889504" y="2020824"/>
            <a:ext cx="768096" cy="25603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test</a:t>
            </a:r>
            <a:endParaRPr lang="en-US" sz="1000" dirty="0"/>
          </a:p>
        </p:txBody>
      </p:sp>
      <p:sp>
        <p:nvSpPr>
          <p:cNvPr id="33" name="fold23"/>
          <p:cNvSpPr/>
          <p:nvPr/>
        </p:nvSpPr>
        <p:spPr>
          <a:xfrm>
            <a:off x="3694176" y="2020824"/>
            <a:ext cx="768096" cy="256032"/>
          </a:xfrm>
          <a:prstGeom prst="rect">
            <a:avLst/>
          </a:prstGeom>
          <a:solidFill>
            <a:srgbClr val="EAF2FB"/>
          </a:solidFill>
          <a:ln w="12700">
            <a:solidFill>
              <a:srgbClr val="FFFFFF"/>
            </a:solidFill>
            <a:prstDash val="solid"/>
          </a:ln>
        </p:spPr>
      </p:sp>
      <p:sp>
        <p:nvSpPr>
          <p:cNvPr id="34" name="Text 31"/>
          <p:cNvSpPr txBox="1"/>
          <p:nvPr/>
        </p:nvSpPr>
        <p:spPr>
          <a:xfrm>
            <a:off x="3694176" y="2020824"/>
            <a:ext cx="768096" cy="256032"/>
          </a:xfrm>
          <a:prstGeom prst="rect">
            <a:avLst/>
          </a:prstGeom>
          <a:noFill/>
          <a:ln/>
        </p:spPr>
        <p:txBody>
          <a:bodyPr wrap="square" lIns="0" tIns="0" rIns="0" bIns="0" rtlCol="0" anchor="ctr"/>
          <a:lstStyle/>
          <a:p>
            <a:pPr algn="ctr" indent="0" marL="0">
              <a:buNone/>
            </a:pPr>
            <a:r>
              <a:rPr lang="en-US" sz="1000" dirty="0">
                <a:solidFill>
                  <a:srgbClr val="164A82"/>
                </a:solidFill>
                <a:latin typeface="Calibri" pitchFamily="34" charset="0"/>
                <a:ea typeface="Calibri" pitchFamily="34" charset="-122"/>
                <a:cs typeface="Calibri" pitchFamily="34" charset="-120"/>
              </a:rPr>
              <a:t>train</a:t>
            </a:r>
            <a:endParaRPr lang="en-US" sz="1000" dirty="0"/>
          </a:p>
        </p:txBody>
      </p:sp>
      <p:sp>
        <p:nvSpPr>
          <p:cNvPr id="35" name="fold24"/>
          <p:cNvSpPr/>
          <p:nvPr/>
        </p:nvSpPr>
        <p:spPr>
          <a:xfrm>
            <a:off x="4498848" y="2020824"/>
            <a:ext cx="768096" cy="256032"/>
          </a:xfrm>
          <a:prstGeom prst="rect">
            <a:avLst/>
          </a:prstGeom>
          <a:solidFill>
            <a:srgbClr val="EAF2FB"/>
          </a:solidFill>
          <a:ln w="12700">
            <a:solidFill>
              <a:srgbClr val="FFFFFF"/>
            </a:solidFill>
            <a:prstDash val="solid"/>
          </a:ln>
        </p:spPr>
      </p:sp>
      <p:sp>
        <p:nvSpPr>
          <p:cNvPr id="36" name="Text 33"/>
          <p:cNvSpPr txBox="1"/>
          <p:nvPr/>
        </p:nvSpPr>
        <p:spPr>
          <a:xfrm>
            <a:off x="4498848" y="2020824"/>
            <a:ext cx="768096" cy="256032"/>
          </a:xfrm>
          <a:prstGeom prst="rect">
            <a:avLst/>
          </a:prstGeom>
          <a:noFill/>
          <a:ln/>
        </p:spPr>
        <p:txBody>
          <a:bodyPr wrap="square" lIns="0" tIns="0" rIns="0" bIns="0" rtlCol="0" anchor="ctr"/>
          <a:lstStyle/>
          <a:p>
            <a:pPr algn="ctr" indent="0" marL="0">
              <a:buNone/>
            </a:pPr>
            <a:r>
              <a:rPr lang="en-US" sz="1000" dirty="0">
                <a:solidFill>
                  <a:srgbClr val="164A82"/>
                </a:solidFill>
                <a:latin typeface="Calibri" pitchFamily="34" charset="0"/>
                <a:ea typeface="Calibri" pitchFamily="34" charset="-122"/>
                <a:cs typeface="Calibri" pitchFamily="34" charset="-120"/>
              </a:rPr>
              <a:t>train</a:t>
            </a:r>
            <a:endParaRPr lang="en-US" sz="1000" dirty="0"/>
          </a:p>
        </p:txBody>
      </p:sp>
      <p:sp>
        <p:nvSpPr>
          <p:cNvPr id="37" name="fold30"/>
          <p:cNvSpPr/>
          <p:nvPr/>
        </p:nvSpPr>
        <p:spPr>
          <a:xfrm>
            <a:off x="1280160" y="2322576"/>
            <a:ext cx="768096" cy="256032"/>
          </a:xfrm>
          <a:prstGeom prst="rect">
            <a:avLst/>
          </a:prstGeom>
          <a:solidFill>
            <a:srgbClr val="EAF2FB"/>
          </a:solidFill>
          <a:ln w="12700">
            <a:solidFill>
              <a:srgbClr val="FFFFFF"/>
            </a:solidFill>
            <a:prstDash val="solid"/>
          </a:ln>
        </p:spPr>
      </p:sp>
      <p:sp>
        <p:nvSpPr>
          <p:cNvPr id="38" name="Text 35"/>
          <p:cNvSpPr txBox="1"/>
          <p:nvPr/>
        </p:nvSpPr>
        <p:spPr>
          <a:xfrm>
            <a:off x="1280160" y="2322576"/>
            <a:ext cx="768096" cy="256032"/>
          </a:xfrm>
          <a:prstGeom prst="rect">
            <a:avLst/>
          </a:prstGeom>
          <a:noFill/>
          <a:ln/>
        </p:spPr>
        <p:txBody>
          <a:bodyPr wrap="square" lIns="0" tIns="0" rIns="0" bIns="0" rtlCol="0" anchor="ctr"/>
          <a:lstStyle/>
          <a:p>
            <a:pPr algn="ctr" indent="0" marL="0">
              <a:buNone/>
            </a:pPr>
            <a:r>
              <a:rPr lang="en-US" sz="1000" dirty="0">
                <a:solidFill>
                  <a:srgbClr val="164A82"/>
                </a:solidFill>
                <a:latin typeface="Calibri" pitchFamily="34" charset="0"/>
                <a:ea typeface="Calibri" pitchFamily="34" charset="-122"/>
                <a:cs typeface="Calibri" pitchFamily="34" charset="-120"/>
              </a:rPr>
              <a:t>train</a:t>
            </a:r>
            <a:endParaRPr lang="en-US" sz="1000" dirty="0"/>
          </a:p>
        </p:txBody>
      </p:sp>
      <p:sp>
        <p:nvSpPr>
          <p:cNvPr id="39" name="fold31"/>
          <p:cNvSpPr/>
          <p:nvPr/>
        </p:nvSpPr>
        <p:spPr>
          <a:xfrm>
            <a:off x="2084832" y="2322576"/>
            <a:ext cx="768096" cy="256032"/>
          </a:xfrm>
          <a:prstGeom prst="rect">
            <a:avLst/>
          </a:prstGeom>
          <a:solidFill>
            <a:srgbClr val="EAF2FB"/>
          </a:solidFill>
          <a:ln w="12700">
            <a:solidFill>
              <a:srgbClr val="FFFFFF"/>
            </a:solidFill>
            <a:prstDash val="solid"/>
          </a:ln>
        </p:spPr>
      </p:sp>
      <p:sp>
        <p:nvSpPr>
          <p:cNvPr id="40" name="Text 37"/>
          <p:cNvSpPr txBox="1"/>
          <p:nvPr/>
        </p:nvSpPr>
        <p:spPr>
          <a:xfrm>
            <a:off x="2084832" y="2322576"/>
            <a:ext cx="768096" cy="256032"/>
          </a:xfrm>
          <a:prstGeom prst="rect">
            <a:avLst/>
          </a:prstGeom>
          <a:noFill/>
          <a:ln/>
        </p:spPr>
        <p:txBody>
          <a:bodyPr wrap="square" lIns="0" tIns="0" rIns="0" bIns="0" rtlCol="0" anchor="ctr"/>
          <a:lstStyle/>
          <a:p>
            <a:pPr algn="ctr" indent="0" marL="0">
              <a:buNone/>
            </a:pPr>
            <a:r>
              <a:rPr lang="en-US" sz="1000" dirty="0">
                <a:solidFill>
                  <a:srgbClr val="164A82"/>
                </a:solidFill>
                <a:latin typeface="Calibri" pitchFamily="34" charset="0"/>
                <a:ea typeface="Calibri" pitchFamily="34" charset="-122"/>
                <a:cs typeface="Calibri" pitchFamily="34" charset="-120"/>
              </a:rPr>
              <a:t>train</a:t>
            </a:r>
            <a:endParaRPr lang="en-US" sz="1000" dirty="0"/>
          </a:p>
        </p:txBody>
      </p:sp>
      <p:sp>
        <p:nvSpPr>
          <p:cNvPr id="41" name="fold32"/>
          <p:cNvSpPr/>
          <p:nvPr/>
        </p:nvSpPr>
        <p:spPr>
          <a:xfrm>
            <a:off x="2889504" y="2322576"/>
            <a:ext cx="768096" cy="256032"/>
          </a:xfrm>
          <a:prstGeom prst="rect">
            <a:avLst/>
          </a:prstGeom>
          <a:solidFill>
            <a:srgbClr val="EAF2FB"/>
          </a:solidFill>
          <a:ln w="12700">
            <a:solidFill>
              <a:srgbClr val="FFFFFF"/>
            </a:solidFill>
            <a:prstDash val="solid"/>
          </a:ln>
        </p:spPr>
      </p:sp>
      <p:sp>
        <p:nvSpPr>
          <p:cNvPr id="42" name="Text 39"/>
          <p:cNvSpPr txBox="1"/>
          <p:nvPr/>
        </p:nvSpPr>
        <p:spPr>
          <a:xfrm>
            <a:off x="2889504" y="2322576"/>
            <a:ext cx="768096" cy="256032"/>
          </a:xfrm>
          <a:prstGeom prst="rect">
            <a:avLst/>
          </a:prstGeom>
          <a:noFill/>
          <a:ln/>
        </p:spPr>
        <p:txBody>
          <a:bodyPr wrap="square" lIns="0" tIns="0" rIns="0" bIns="0" rtlCol="0" anchor="ctr"/>
          <a:lstStyle/>
          <a:p>
            <a:pPr algn="ctr" indent="0" marL="0">
              <a:buNone/>
            </a:pPr>
            <a:r>
              <a:rPr lang="en-US" sz="1000" dirty="0">
                <a:solidFill>
                  <a:srgbClr val="164A82"/>
                </a:solidFill>
                <a:latin typeface="Calibri" pitchFamily="34" charset="0"/>
                <a:ea typeface="Calibri" pitchFamily="34" charset="-122"/>
                <a:cs typeface="Calibri" pitchFamily="34" charset="-120"/>
              </a:rPr>
              <a:t>train</a:t>
            </a:r>
            <a:endParaRPr lang="en-US" sz="1000" dirty="0"/>
          </a:p>
        </p:txBody>
      </p:sp>
      <p:sp>
        <p:nvSpPr>
          <p:cNvPr id="43" name="fold33"/>
          <p:cNvSpPr/>
          <p:nvPr/>
        </p:nvSpPr>
        <p:spPr>
          <a:xfrm>
            <a:off x="3694176" y="2322576"/>
            <a:ext cx="768096" cy="256032"/>
          </a:xfrm>
          <a:prstGeom prst="rect">
            <a:avLst/>
          </a:prstGeom>
          <a:solidFill>
            <a:srgbClr val="C77700"/>
          </a:solidFill>
          <a:ln w="12700">
            <a:solidFill>
              <a:srgbClr val="FFFFFF"/>
            </a:solidFill>
            <a:prstDash val="solid"/>
          </a:ln>
        </p:spPr>
      </p:sp>
      <p:sp>
        <p:nvSpPr>
          <p:cNvPr id="44" name="Text 41"/>
          <p:cNvSpPr txBox="1"/>
          <p:nvPr/>
        </p:nvSpPr>
        <p:spPr>
          <a:xfrm>
            <a:off x="3694176" y="2322576"/>
            <a:ext cx="768096" cy="25603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test</a:t>
            </a:r>
            <a:endParaRPr lang="en-US" sz="1000" dirty="0"/>
          </a:p>
        </p:txBody>
      </p:sp>
      <p:sp>
        <p:nvSpPr>
          <p:cNvPr id="45" name="fold34"/>
          <p:cNvSpPr/>
          <p:nvPr/>
        </p:nvSpPr>
        <p:spPr>
          <a:xfrm>
            <a:off x="4498848" y="2322576"/>
            <a:ext cx="768096" cy="256032"/>
          </a:xfrm>
          <a:prstGeom prst="rect">
            <a:avLst/>
          </a:prstGeom>
          <a:solidFill>
            <a:srgbClr val="EAF2FB"/>
          </a:solidFill>
          <a:ln w="12700">
            <a:solidFill>
              <a:srgbClr val="FFFFFF"/>
            </a:solidFill>
            <a:prstDash val="solid"/>
          </a:ln>
        </p:spPr>
      </p:sp>
      <p:sp>
        <p:nvSpPr>
          <p:cNvPr id="46" name="Text 43"/>
          <p:cNvSpPr txBox="1"/>
          <p:nvPr/>
        </p:nvSpPr>
        <p:spPr>
          <a:xfrm>
            <a:off x="4498848" y="2322576"/>
            <a:ext cx="768096" cy="256032"/>
          </a:xfrm>
          <a:prstGeom prst="rect">
            <a:avLst/>
          </a:prstGeom>
          <a:noFill/>
          <a:ln/>
        </p:spPr>
        <p:txBody>
          <a:bodyPr wrap="square" lIns="0" tIns="0" rIns="0" bIns="0" rtlCol="0" anchor="ctr"/>
          <a:lstStyle/>
          <a:p>
            <a:pPr algn="ctr" indent="0" marL="0">
              <a:buNone/>
            </a:pPr>
            <a:r>
              <a:rPr lang="en-US" sz="1000" dirty="0">
                <a:solidFill>
                  <a:srgbClr val="164A82"/>
                </a:solidFill>
                <a:latin typeface="Calibri" pitchFamily="34" charset="0"/>
                <a:ea typeface="Calibri" pitchFamily="34" charset="-122"/>
                <a:cs typeface="Calibri" pitchFamily="34" charset="-120"/>
              </a:rPr>
              <a:t>train</a:t>
            </a:r>
            <a:endParaRPr lang="en-US" sz="1000" dirty="0"/>
          </a:p>
        </p:txBody>
      </p:sp>
      <p:sp>
        <p:nvSpPr>
          <p:cNvPr id="47" name="fold40"/>
          <p:cNvSpPr/>
          <p:nvPr/>
        </p:nvSpPr>
        <p:spPr>
          <a:xfrm>
            <a:off x="1280160" y="2624328"/>
            <a:ext cx="768096" cy="256032"/>
          </a:xfrm>
          <a:prstGeom prst="rect">
            <a:avLst/>
          </a:prstGeom>
          <a:solidFill>
            <a:srgbClr val="EAF2FB"/>
          </a:solidFill>
          <a:ln w="12700">
            <a:solidFill>
              <a:srgbClr val="FFFFFF"/>
            </a:solidFill>
            <a:prstDash val="solid"/>
          </a:ln>
        </p:spPr>
      </p:sp>
      <p:sp>
        <p:nvSpPr>
          <p:cNvPr id="48" name="Text 45"/>
          <p:cNvSpPr txBox="1"/>
          <p:nvPr/>
        </p:nvSpPr>
        <p:spPr>
          <a:xfrm>
            <a:off x="1280160" y="2624328"/>
            <a:ext cx="768096" cy="256032"/>
          </a:xfrm>
          <a:prstGeom prst="rect">
            <a:avLst/>
          </a:prstGeom>
          <a:noFill/>
          <a:ln/>
        </p:spPr>
        <p:txBody>
          <a:bodyPr wrap="square" lIns="0" tIns="0" rIns="0" bIns="0" rtlCol="0" anchor="ctr"/>
          <a:lstStyle/>
          <a:p>
            <a:pPr algn="ctr" indent="0" marL="0">
              <a:buNone/>
            </a:pPr>
            <a:r>
              <a:rPr lang="en-US" sz="1000" dirty="0">
                <a:solidFill>
                  <a:srgbClr val="164A82"/>
                </a:solidFill>
                <a:latin typeface="Calibri" pitchFamily="34" charset="0"/>
                <a:ea typeface="Calibri" pitchFamily="34" charset="-122"/>
                <a:cs typeface="Calibri" pitchFamily="34" charset="-120"/>
              </a:rPr>
              <a:t>train</a:t>
            </a:r>
            <a:endParaRPr lang="en-US" sz="1000" dirty="0"/>
          </a:p>
        </p:txBody>
      </p:sp>
      <p:sp>
        <p:nvSpPr>
          <p:cNvPr id="49" name="fold41"/>
          <p:cNvSpPr/>
          <p:nvPr/>
        </p:nvSpPr>
        <p:spPr>
          <a:xfrm>
            <a:off x="2084832" y="2624328"/>
            <a:ext cx="768096" cy="256032"/>
          </a:xfrm>
          <a:prstGeom prst="rect">
            <a:avLst/>
          </a:prstGeom>
          <a:solidFill>
            <a:srgbClr val="EAF2FB"/>
          </a:solidFill>
          <a:ln w="12700">
            <a:solidFill>
              <a:srgbClr val="FFFFFF"/>
            </a:solidFill>
            <a:prstDash val="solid"/>
          </a:ln>
        </p:spPr>
      </p:sp>
      <p:sp>
        <p:nvSpPr>
          <p:cNvPr id="50" name="Text 47"/>
          <p:cNvSpPr txBox="1"/>
          <p:nvPr/>
        </p:nvSpPr>
        <p:spPr>
          <a:xfrm>
            <a:off x="2084832" y="2624328"/>
            <a:ext cx="768096" cy="256032"/>
          </a:xfrm>
          <a:prstGeom prst="rect">
            <a:avLst/>
          </a:prstGeom>
          <a:noFill/>
          <a:ln/>
        </p:spPr>
        <p:txBody>
          <a:bodyPr wrap="square" lIns="0" tIns="0" rIns="0" bIns="0" rtlCol="0" anchor="ctr"/>
          <a:lstStyle/>
          <a:p>
            <a:pPr algn="ctr" indent="0" marL="0">
              <a:buNone/>
            </a:pPr>
            <a:r>
              <a:rPr lang="en-US" sz="1000" dirty="0">
                <a:solidFill>
                  <a:srgbClr val="164A82"/>
                </a:solidFill>
                <a:latin typeface="Calibri" pitchFamily="34" charset="0"/>
                <a:ea typeface="Calibri" pitchFamily="34" charset="-122"/>
                <a:cs typeface="Calibri" pitchFamily="34" charset="-120"/>
              </a:rPr>
              <a:t>train</a:t>
            </a:r>
            <a:endParaRPr lang="en-US" sz="1000" dirty="0"/>
          </a:p>
        </p:txBody>
      </p:sp>
      <p:sp>
        <p:nvSpPr>
          <p:cNvPr id="51" name="fold42"/>
          <p:cNvSpPr/>
          <p:nvPr/>
        </p:nvSpPr>
        <p:spPr>
          <a:xfrm>
            <a:off x="2889504" y="2624328"/>
            <a:ext cx="768096" cy="256032"/>
          </a:xfrm>
          <a:prstGeom prst="rect">
            <a:avLst/>
          </a:prstGeom>
          <a:solidFill>
            <a:srgbClr val="EAF2FB"/>
          </a:solidFill>
          <a:ln w="12700">
            <a:solidFill>
              <a:srgbClr val="FFFFFF"/>
            </a:solidFill>
            <a:prstDash val="solid"/>
          </a:ln>
        </p:spPr>
      </p:sp>
      <p:sp>
        <p:nvSpPr>
          <p:cNvPr id="52" name="Text 49"/>
          <p:cNvSpPr txBox="1"/>
          <p:nvPr/>
        </p:nvSpPr>
        <p:spPr>
          <a:xfrm>
            <a:off x="2889504" y="2624328"/>
            <a:ext cx="768096" cy="256032"/>
          </a:xfrm>
          <a:prstGeom prst="rect">
            <a:avLst/>
          </a:prstGeom>
          <a:noFill/>
          <a:ln/>
        </p:spPr>
        <p:txBody>
          <a:bodyPr wrap="square" lIns="0" tIns="0" rIns="0" bIns="0" rtlCol="0" anchor="ctr"/>
          <a:lstStyle/>
          <a:p>
            <a:pPr algn="ctr" indent="0" marL="0">
              <a:buNone/>
            </a:pPr>
            <a:r>
              <a:rPr lang="en-US" sz="1000" dirty="0">
                <a:solidFill>
                  <a:srgbClr val="164A82"/>
                </a:solidFill>
                <a:latin typeface="Calibri" pitchFamily="34" charset="0"/>
                <a:ea typeface="Calibri" pitchFamily="34" charset="-122"/>
                <a:cs typeface="Calibri" pitchFamily="34" charset="-120"/>
              </a:rPr>
              <a:t>train</a:t>
            </a:r>
            <a:endParaRPr lang="en-US" sz="1000" dirty="0"/>
          </a:p>
        </p:txBody>
      </p:sp>
      <p:sp>
        <p:nvSpPr>
          <p:cNvPr id="53" name="fold43"/>
          <p:cNvSpPr/>
          <p:nvPr/>
        </p:nvSpPr>
        <p:spPr>
          <a:xfrm>
            <a:off x="3694176" y="2624328"/>
            <a:ext cx="768096" cy="256032"/>
          </a:xfrm>
          <a:prstGeom prst="rect">
            <a:avLst/>
          </a:prstGeom>
          <a:solidFill>
            <a:srgbClr val="EAF2FB"/>
          </a:solidFill>
          <a:ln w="12700">
            <a:solidFill>
              <a:srgbClr val="FFFFFF"/>
            </a:solidFill>
            <a:prstDash val="solid"/>
          </a:ln>
        </p:spPr>
      </p:sp>
      <p:sp>
        <p:nvSpPr>
          <p:cNvPr id="54" name="Text 51"/>
          <p:cNvSpPr txBox="1"/>
          <p:nvPr/>
        </p:nvSpPr>
        <p:spPr>
          <a:xfrm>
            <a:off x="3694176" y="2624328"/>
            <a:ext cx="768096" cy="256032"/>
          </a:xfrm>
          <a:prstGeom prst="rect">
            <a:avLst/>
          </a:prstGeom>
          <a:noFill/>
          <a:ln/>
        </p:spPr>
        <p:txBody>
          <a:bodyPr wrap="square" lIns="0" tIns="0" rIns="0" bIns="0" rtlCol="0" anchor="ctr"/>
          <a:lstStyle/>
          <a:p>
            <a:pPr algn="ctr" indent="0" marL="0">
              <a:buNone/>
            </a:pPr>
            <a:r>
              <a:rPr lang="en-US" sz="1000" dirty="0">
                <a:solidFill>
                  <a:srgbClr val="164A82"/>
                </a:solidFill>
                <a:latin typeface="Calibri" pitchFamily="34" charset="0"/>
                <a:ea typeface="Calibri" pitchFamily="34" charset="-122"/>
                <a:cs typeface="Calibri" pitchFamily="34" charset="-120"/>
              </a:rPr>
              <a:t>train</a:t>
            </a:r>
            <a:endParaRPr lang="en-US" sz="1000" dirty="0"/>
          </a:p>
        </p:txBody>
      </p:sp>
      <p:sp>
        <p:nvSpPr>
          <p:cNvPr id="55" name="fold44"/>
          <p:cNvSpPr/>
          <p:nvPr/>
        </p:nvSpPr>
        <p:spPr>
          <a:xfrm>
            <a:off x="4498848" y="2624328"/>
            <a:ext cx="768096" cy="256032"/>
          </a:xfrm>
          <a:prstGeom prst="rect">
            <a:avLst/>
          </a:prstGeom>
          <a:solidFill>
            <a:srgbClr val="C77700"/>
          </a:solidFill>
          <a:ln w="12700">
            <a:solidFill>
              <a:srgbClr val="FFFFFF"/>
            </a:solidFill>
            <a:prstDash val="solid"/>
          </a:ln>
        </p:spPr>
      </p:sp>
      <p:sp>
        <p:nvSpPr>
          <p:cNvPr id="56" name="Text 53"/>
          <p:cNvSpPr txBox="1"/>
          <p:nvPr/>
        </p:nvSpPr>
        <p:spPr>
          <a:xfrm>
            <a:off x="4498848" y="2624328"/>
            <a:ext cx="768096" cy="25603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test</a:t>
            </a:r>
            <a:endParaRPr lang="en-US" sz="1000" dirty="0"/>
          </a:p>
        </p:txBody>
      </p:sp>
      <p:sp>
        <p:nvSpPr>
          <p:cNvPr id="57" name="Text 54"/>
          <p:cNvSpPr txBox="1"/>
          <p:nvPr/>
        </p:nvSpPr>
        <p:spPr>
          <a:xfrm>
            <a:off x="457200" y="1417320"/>
            <a:ext cx="914400" cy="256032"/>
          </a:xfrm>
          <a:prstGeom prst="rect">
            <a:avLst/>
          </a:prstGeom>
          <a:noFill/>
          <a:ln/>
        </p:spPr>
        <p:txBody>
          <a:bodyPr wrap="square" lIns="0" tIns="0" rIns="0" bIns="0" rtlCol="0" anchor="ctr"/>
          <a:lstStyle/>
          <a:p>
            <a:pPr indent="0" marL="0">
              <a:buNone/>
            </a:pPr>
            <a:r>
              <a:rPr lang="en-US" sz="1000" dirty="0">
                <a:solidFill>
                  <a:srgbClr val="5B6670"/>
                </a:solidFill>
                <a:latin typeface="Calibri" pitchFamily="34" charset="0"/>
                <a:ea typeface="Calibri" pitchFamily="34" charset="-122"/>
                <a:cs typeface="Calibri" pitchFamily="34" charset="-120"/>
              </a:rPr>
              <a:t>round 1</a:t>
            </a:r>
            <a:endParaRPr lang="en-US" sz="1000" dirty="0"/>
          </a:p>
        </p:txBody>
      </p:sp>
      <p:sp>
        <p:nvSpPr>
          <p:cNvPr id="58" name="Text 55"/>
          <p:cNvSpPr txBox="1"/>
          <p:nvPr/>
        </p:nvSpPr>
        <p:spPr>
          <a:xfrm>
            <a:off x="457200" y="1719072"/>
            <a:ext cx="914400" cy="256032"/>
          </a:xfrm>
          <a:prstGeom prst="rect">
            <a:avLst/>
          </a:prstGeom>
          <a:noFill/>
          <a:ln/>
        </p:spPr>
        <p:txBody>
          <a:bodyPr wrap="square" lIns="0" tIns="0" rIns="0" bIns="0" rtlCol="0" anchor="ctr"/>
          <a:lstStyle/>
          <a:p>
            <a:pPr indent="0" marL="0">
              <a:buNone/>
            </a:pPr>
            <a:r>
              <a:rPr lang="en-US" sz="1000" dirty="0">
                <a:solidFill>
                  <a:srgbClr val="5B6670"/>
                </a:solidFill>
                <a:latin typeface="Calibri" pitchFamily="34" charset="0"/>
                <a:ea typeface="Calibri" pitchFamily="34" charset="-122"/>
                <a:cs typeface="Calibri" pitchFamily="34" charset="-120"/>
              </a:rPr>
              <a:t>round 2</a:t>
            </a:r>
            <a:endParaRPr lang="en-US" sz="1000" dirty="0"/>
          </a:p>
        </p:txBody>
      </p:sp>
      <p:sp>
        <p:nvSpPr>
          <p:cNvPr id="59" name="Text 56"/>
          <p:cNvSpPr txBox="1"/>
          <p:nvPr/>
        </p:nvSpPr>
        <p:spPr>
          <a:xfrm>
            <a:off x="457200" y="2020824"/>
            <a:ext cx="914400" cy="256032"/>
          </a:xfrm>
          <a:prstGeom prst="rect">
            <a:avLst/>
          </a:prstGeom>
          <a:noFill/>
          <a:ln/>
        </p:spPr>
        <p:txBody>
          <a:bodyPr wrap="square" lIns="0" tIns="0" rIns="0" bIns="0" rtlCol="0" anchor="ctr"/>
          <a:lstStyle/>
          <a:p>
            <a:pPr indent="0" marL="0">
              <a:buNone/>
            </a:pPr>
            <a:r>
              <a:rPr lang="en-US" sz="1000" dirty="0">
                <a:solidFill>
                  <a:srgbClr val="5B6670"/>
                </a:solidFill>
                <a:latin typeface="Calibri" pitchFamily="34" charset="0"/>
                <a:ea typeface="Calibri" pitchFamily="34" charset="-122"/>
                <a:cs typeface="Calibri" pitchFamily="34" charset="-120"/>
              </a:rPr>
              <a:t>round 3</a:t>
            </a:r>
            <a:endParaRPr lang="en-US" sz="1000" dirty="0"/>
          </a:p>
        </p:txBody>
      </p:sp>
      <p:sp>
        <p:nvSpPr>
          <p:cNvPr id="60" name="Text 57"/>
          <p:cNvSpPr txBox="1"/>
          <p:nvPr/>
        </p:nvSpPr>
        <p:spPr>
          <a:xfrm>
            <a:off x="457200" y="2322576"/>
            <a:ext cx="914400" cy="256032"/>
          </a:xfrm>
          <a:prstGeom prst="rect">
            <a:avLst/>
          </a:prstGeom>
          <a:noFill/>
          <a:ln/>
        </p:spPr>
        <p:txBody>
          <a:bodyPr wrap="square" lIns="0" tIns="0" rIns="0" bIns="0" rtlCol="0" anchor="ctr"/>
          <a:lstStyle/>
          <a:p>
            <a:pPr indent="0" marL="0">
              <a:buNone/>
            </a:pPr>
            <a:r>
              <a:rPr lang="en-US" sz="1000" dirty="0">
                <a:solidFill>
                  <a:srgbClr val="5B6670"/>
                </a:solidFill>
                <a:latin typeface="Calibri" pitchFamily="34" charset="0"/>
                <a:ea typeface="Calibri" pitchFamily="34" charset="-122"/>
                <a:cs typeface="Calibri" pitchFamily="34" charset="-120"/>
              </a:rPr>
              <a:t>round 4</a:t>
            </a:r>
            <a:endParaRPr lang="en-US" sz="1000" dirty="0"/>
          </a:p>
        </p:txBody>
      </p:sp>
      <p:sp>
        <p:nvSpPr>
          <p:cNvPr id="61" name="Text 58"/>
          <p:cNvSpPr txBox="1"/>
          <p:nvPr/>
        </p:nvSpPr>
        <p:spPr>
          <a:xfrm>
            <a:off x="457200" y="2624328"/>
            <a:ext cx="914400" cy="256032"/>
          </a:xfrm>
          <a:prstGeom prst="rect">
            <a:avLst/>
          </a:prstGeom>
          <a:noFill/>
          <a:ln/>
        </p:spPr>
        <p:txBody>
          <a:bodyPr wrap="square" lIns="0" tIns="0" rIns="0" bIns="0" rtlCol="0" anchor="ctr"/>
          <a:lstStyle/>
          <a:p>
            <a:pPr indent="0" marL="0">
              <a:buNone/>
            </a:pPr>
            <a:r>
              <a:rPr lang="en-US" sz="1000" dirty="0">
                <a:solidFill>
                  <a:srgbClr val="5B6670"/>
                </a:solidFill>
                <a:latin typeface="Calibri" pitchFamily="34" charset="0"/>
                <a:ea typeface="Calibri" pitchFamily="34" charset="-122"/>
                <a:cs typeface="Calibri" pitchFamily="34" charset="-120"/>
              </a:rPr>
              <a:t>round 5</a:t>
            </a:r>
            <a:endParaRPr lang="en-US" sz="1000" dirty="0"/>
          </a:p>
        </p:txBody>
      </p:sp>
      <p:sp>
        <p:nvSpPr>
          <p:cNvPr id="62" name="Text 59"/>
          <p:cNvSpPr txBox="1"/>
          <p:nvPr/>
        </p:nvSpPr>
        <p:spPr>
          <a:xfrm>
            <a:off x="5486400" y="1325880"/>
            <a:ext cx="3200400" cy="228600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Each round: train on 4 parts (about 3,367 cars), test on the 5th (about 842 cars) → every car is tested once by a model that did not see it</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The same 5 parts for Ridge, Random Forest and XGBoost → a fair comparison; settings chosen in a second cross-validation inside the 4 training parts</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Kaggle test: only the final Ridge (X0 only), retrained on all 4,208 cars, predicted the 4,209 hidden cars → explains 54.1 % (Kaggle holds their real times)</a:t>
            </a:r>
            <a:endParaRPr lang="en-US" sz="1100" dirty="0"/>
          </a:p>
        </p:txBody>
      </p:sp>
      <p:sp>
        <p:nvSpPr>
          <p:cNvPr id="63" name="Text 60"/>
          <p:cNvSpPr txBox="1"/>
          <p:nvPr/>
        </p:nvSpPr>
        <p:spPr>
          <a:xfrm>
            <a:off x="457200" y="3063240"/>
            <a:ext cx="4846320" cy="5486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Training data: 4,208 cars (265 s car removed), 310 columns. Ridge: Step 20 · Random Forest: Step 23 · XGBoost: Step 24.</a:t>
            </a:r>
            <a:endParaRPr lang="en-US" sz="1150" dirty="0"/>
          </a:p>
        </p:txBody>
      </p:sp>
      <p:sp>
        <p:nvSpPr>
          <p:cNvPr id="64" name="meaning"/>
          <p:cNvSpPr/>
          <p:nvPr/>
        </p:nvSpPr>
        <p:spPr>
          <a:xfrm>
            <a:off x="457200" y="3657600"/>
            <a:ext cx="8229600" cy="502920"/>
          </a:xfrm>
          <a:prstGeom prst="roundRect">
            <a:avLst>
              <a:gd name="adj" fmla="val 14545"/>
            </a:avLst>
          </a:prstGeom>
          <a:solidFill>
            <a:srgbClr val="E6F3EC"/>
          </a:solidFill>
          <a:ln w="12700">
            <a:solidFill>
              <a:srgbClr val="E6F3EC"/>
            </a:solidFill>
            <a:prstDash val="solid"/>
          </a:ln>
        </p:spPr>
      </p:sp>
      <p:sp>
        <p:nvSpPr>
          <p:cNvPr id="65" name="Text 62"/>
          <p:cNvSpPr txBox="1"/>
          <p:nvPr/>
        </p:nvSpPr>
        <p:spPr>
          <a:xfrm>
            <a:off x="640080" y="3657600"/>
            <a:ext cx="7863840" cy="502920"/>
          </a:xfrm>
          <a:prstGeom prst="rect">
            <a:avLst/>
          </a:prstGeom>
          <a:noFill/>
          <a:ln/>
        </p:spPr>
        <p:txBody>
          <a:bodyPr wrap="square" lIns="0" tIns="0" rIns="0" bIns="0" rtlCol="0" anchor="ctr"/>
          <a:lstStyle/>
          <a:p>
            <a:pPr indent="0" marL="0">
              <a:buNone/>
            </a:pPr>
            <a:r>
              <a:rPr lang="en-US" sz="1400" b="1" dirty="0">
                <a:solidFill>
                  <a:srgbClr val="2E8B57"/>
                </a:solidFill>
                <a:latin typeface="Calibri" pitchFamily="34" charset="0"/>
                <a:ea typeface="Calibri" pitchFamily="34" charset="-122"/>
                <a:cs typeface="Calibri" pitchFamily="34" charset="-120"/>
              </a:rPr>
              <a:t>Meaning: </a:t>
            </a:r>
            <a:pPr indent="0" marL="0">
              <a:buNone/>
            </a:pPr>
            <a:r>
              <a:rPr lang="en-US" sz="1400" dirty="0">
                <a:solidFill>
                  <a:srgbClr val="1F2933"/>
                </a:solidFill>
                <a:latin typeface="Calibri" pitchFamily="34" charset="0"/>
                <a:ea typeface="Calibri" pitchFamily="34" charset="-122"/>
                <a:cs typeface="Calibri" pitchFamily="34" charset="-120"/>
              </a:rPr>
              <a:t>all three models were trained and tested the same way; only the winner, Ridge, went to Kaggle.</a:t>
            </a:r>
            <a:endParaRPr lang="en-US" sz="1400" dirty="0"/>
          </a:p>
        </p:txBody>
      </p:sp>
      <p:sp>
        <p:nvSpPr>
          <p:cNvPr id="66" name="Text 63"/>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belongs to main slide 11   </a:t>
            </a:r>
            <a:pPr indent="0" marL="0">
              <a:buNone/>
            </a:pPr>
            <a:r>
              <a:rPr lang="en-US" sz="900" i="1" dirty="0">
                <a:solidFill>
                  <a:srgbClr val="5B6670"/>
                </a:solidFill>
                <a:latin typeface="Calibri" pitchFamily="34" charset="0"/>
                <a:ea typeface="Calibri" pitchFamily="34" charset="-122"/>
                <a:cs typeface="Calibri" pitchFamily="34" charset="-120"/>
              </a:rPr>
              <a:t>Source: Steps 17, 18 (KFold 5, shuffle, random_state 42), 20, 23, 24, 28: handover 28 (D58); final model D43; Kaggle 0.54107: D47; changes 19, 20 (D59)</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Hyperparameter tuning</a:t>
            </a:r>
            <a:endParaRPr lang="en-US" sz="2600" dirty="0"/>
          </a:p>
        </p:txBody>
      </p:sp>
      <p:sp>
        <p:nvSpPr>
          <p:cNvPr id="3" name="tag"/>
          <p:cNvSpPr/>
          <p:nvPr/>
        </p:nvSpPr>
        <p:spPr>
          <a:xfrm>
            <a:off x="7818120" y="347472"/>
            <a:ext cx="868680" cy="274320"/>
          </a:xfrm>
          <a:prstGeom prst="roundRect">
            <a:avLst>
              <a:gd name="adj" fmla="val 26667"/>
            </a:avLst>
          </a:prstGeom>
          <a:solidFill>
            <a:srgbClr val="EAF2FB"/>
          </a:solidFill>
          <a:ln w="12700">
            <a:solidFill>
              <a:srgbClr val="EAF2FB"/>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164A82"/>
                </a:solidFill>
                <a:latin typeface="Calibri" pitchFamily="34" charset="0"/>
                <a:ea typeface="Calibri" pitchFamily="34" charset="-122"/>
                <a:cs typeface="Calibri" pitchFamily="34" charset="-120"/>
              </a:rPr>
              <a:t>Backup · M3</a:t>
            </a:r>
            <a:endParaRPr lang="en-US" sz="900" dirty="0"/>
          </a:p>
        </p:txBody>
      </p:sp>
      <p:sp>
        <p:nvSpPr>
          <p:cNvPr id="6" name="Text 3"/>
          <p:cNvSpPr txBox="1"/>
          <p:nvPr/>
        </p:nvSpPr>
        <p:spPr>
          <a:xfrm>
            <a:off x="457200" y="1097280"/>
            <a:ext cx="4572000" cy="3200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Each model got a small grid of settings, tested inside the same 5-fold cross-validation – the test part is never used to choose settings</a:t>
            </a:r>
            <a:endParaRPr lang="en-US" sz="1400" dirty="0"/>
          </a:p>
          <a:p>
            <a:pPr marL="342900" indent="-3429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The best settings were at the simple end of each grid</a:t>
            </a:r>
            <a:endParaRPr lang="en-US" sz="1400" dirty="0"/>
          </a:p>
          <a:p>
            <a:pPr marL="342900" indent="-3429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A wider grid was not needed – no setting can pass the limit of about 0.60. Example Ridge: the penalty setting (alpha) 0.1 vs 1 changes the typical miss by only 0.007 s</a:t>
            </a:r>
            <a:endParaRPr lang="en-US" sz="1400" dirty="0"/>
          </a:p>
        </p:txBody>
      </p:sp>
      <p:sp>
        <p:nvSpPr>
          <p:cNvPr id="7" name="card"/>
          <p:cNvSpPr/>
          <p:nvPr/>
        </p:nvSpPr>
        <p:spPr>
          <a:xfrm>
            <a:off x="5303520" y="1097280"/>
            <a:ext cx="3383280" cy="3200400"/>
          </a:xfrm>
          <a:prstGeom prst="roundRect">
            <a:avLst>
              <a:gd name="adj" fmla="val 2857"/>
            </a:avLst>
          </a:prstGeom>
          <a:solidFill>
            <a:srgbClr val="EAF2FB"/>
          </a:solidFill>
          <a:ln w="12700">
            <a:solidFill>
              <a:srgbClr val="EAF2FB"/>
            </a:solidFill>
            <a:prstDash val="solid"/>
          </a:ln>
        </p:spPr>
      </p:sp>
      <p:pic>
        <p:nvPicPr>
          <p:cNvPr id="8" name="Image 0" descr="preencoded.png">    </p:cNvPr>
          <p:cNvPicPr>
            <a:picLocks noChangeAspect="1"/>
          </p:cNvPicPr>
          <p:nvPr/>
        </p:nvPicPr>
        <p:blipFill>
          <a:blip r:embed="rId1"/>
          <a:stretch>
            <a:fillRect/>
          </a:stretch>
        </p:blipFill>
        <p:spPr>
          <a:xfrm>
            <a:off x="5532120" y="1325880"/>
            <a:ext cx="457200" cy="457200"/>
          </a:xfrm>
          <a:prstGeom prst="rect">
            <a:avLst/>
          </a:prstGeom>
        </p:spPr>
      </p:pic>
      <p:sp>
        <p:nvSpPr>
          <p:cNvPr id="9" name="Text 5"/>
          <p:cNvSpPr txBox="1"/>
          <p:nvPr/>
        </p:nvSpPr>
        <p:spPr>
          <a:xfrm>
            <a:off x="5532120" y="1828800"/>
            <a:ext cx="2926080" cy="548640"/>
          </a:xfrm>
          <a:prstGeom prst="rect">
            <a:avLst/>
          </a:prstGeom>
          <a:noFill/>
          <a:ln/>
        </p:spPr>
        <p:txBody>
          <a:bodyPr wrap="square" lIns="0" tIns="0" rIns="0" bIns="0" rtlCol="0" anchor="t"/>
          <a:lstStyle/>
          <a:p>
            <a:pPr indent="0" marL="0">
              <a:buNone/>
            </a:pPr>
            <a:r>
              <a:rPr lang="en-US" sz="1500" b="1" dirty="0">
                <a:solidFill>
                  <a:srgbClr val="164A82"/>
                </a:solidFill>
                <a:latin typeface="Calibri" pitchFamily="34" charset="0"/>
                <a:ea typeface="Calibri" pitchFamily="34" charset="-122"/>
                <a:cs typeface="Calibri" pitchFamily="34" charset="-120"/>
              </a:rPr>
              <a:t>Same 5 parts for every model and every setting</a:t>
            </a:r>
            <a:endParaRPr lang="en-US" sz="1500" dirty="0"/>
          </a:p>
        </p:txBody>
      </p:sp>
      <p:sp>
        <p:nvSpPr>
          <p:cNvPr id="10" name="Text 6"/>
          <p:cNvSpPr txBox="1"/>
          <p:nvPr/>
        </p:nvSpPr>
        <p:spPr>
          <a:xfrm>
            <a:off x="5532120" y="2423160"/>
            <a:ext cx="2971800" cy="1783080"/>
          </a:xfrm>
          <a:prstGeom prst="rect">
            <a:avLst/>
          </a:prstGeom>
          <a:noFill/>
          <a:ln/>
        </p:spPr>
        <p:txBody>
          <a:bodyPr wrap="square" lIns="0" tIns="0" rIns="0" bIns="0" rtlCol="0" anchor="t"/>
          <a:lstStyle/>
          <a:p>
            <a:pPr indent="0" marL="0">
              <a:spcAft>
                <a:spcPts val="400"/>
              </a:spcAft>
              <a:buNone/>
            </a:pPr>
            <a:r>
              <a:rPr lang="en-US" sz="1200" b="1" dirty="0">
                <a:solidFill>
                  <a:srgbClr val="1F2933"/>
                </a:solidFill>
                <a:latin typeface="Calibri" pitchFamily="34" charset="0"/>
                <a:ea typeface="Calibri" pitchFamily="34" charset="-122"/>
                <a:cs typeface="Calibri" pitchFamily="34" charset="-120"/>
              </a:rPr>
              <a:t>Ridge: </a:t>
            </a:r>
            <a:pPr indent="0" marL="0">
              <a:spcAft>
                <a:spcPts val="400"/>
              </a:spcAft>
              <a:buNone/>
            </a:pPr>
            <a:r>
              <a:rPr lang="en-US" sz="1200" dirty="0">
                <a:solidFill>
                  <a:srgbClr val="1F2933"/>
                </a:solidFill>
                <a:latin typeface="Calibri" pitchFamily="34" charset="0"/>
                <a:ea typeface="Calibri" pitchFamily="34" charset="-122"/>
                <a:cs typeface="Calibri" pitchFamily="34" charset="-120"/>
              </a:rPr>
              <a:t>alpha 0.1 / 1 / 10 / 100 → 0.1</a:t>
            </a:r>
            <a:endParaRPr lang="en-US" sz="1200" dirty="0"/>
          </a:p>
          <a:p>
            <a:pPr indent="0" marL="0">
              <a:spcAft>
                <a:spcPts val="400"/>
              </a:spcAft>
              <a:buNone/>
            </a:pPr>
            <a:r>
              <a:rPr lang="en-US" sz="1200" b="1" dirty="0">
                <a:solidFill>
                  <a:srgbClr val="1F2933"/>
                </a:solidFill>
                <a:latin typeface="Calibri" pitchFamily="34" charset="0"/>
                <a:ea typeface="Calibri" pitchFamily="34" charset="-122"/>
                <a:cs typeface="Calibri" pitchFamily="34" charset="-120"/>
              </a:rPr>
              <a:t>Random Forest: </a:t>
            </a:r>
            <a:pPr indent="0" marL="0">
              <a:spcAft>
                <a:spcPts val="400"/>
              </a:spcAft>
              <a:buNone/>
            </a:pPr>
            <a:r>
              <a:rPr lang="en-US" sz="1200" dirty="0">
                <a:solidFill>
                  <a:srgbClr val="1F2933"/>
                </a:solidFill>
                <a:latin typeface="Calibri" pitchFamily="34" charset="0"/>
                <a:ea typeface="Calibri" pitchFamily="34" charset="-122"/>
                <a:cs typeface="Calibri" pitchFamily="34" charset="-120"/>
              </a:rPr>
              <a:t>depth 5 / 10 / no limit × leaf size 5 / 20 → depth 5</a:t>
            </a:r>
            <a:endParaRPr lang="en-US" sz="1200" dirty="0"/>
          </a:p>
          <a:p>
            <a:pPr indent="0" marL="0">
              <a:spcAft>
                <a:spcPts val="400"/>
              </a:spcAft>
              <a:buNone/>
            </a:pPr>
            <a:r>
              <a:rPr lang="en-US" sz="1200" b="1" dirty="0">
                <a:solidFill>
                  <a:srgbClr val="1F2933"/>
                </a:solidFill>
                <a:latin typeface="Calibri" pitchFamily="34" charset="0"/>
                <a:ea typeface="Calibri" pitchFamily="34" charset="-122"/>
                <a:cs typeface="Calibri" pitchFamily="34" charset="-120"/>
              </a:rPr>
              <a:t>XGBoost: </a:t>
            </a:r>
            <a:pPr indent="0" marL="0">
              <a:spcAft>
                <a:spcPts val="400"/>
              </a:spcAft>
              <a:buNone/>
            </a:pPr>
            <a:r>
              <a:rPr lang="en-US" sz="1200" dirty="0">
                <a:solidFill>
                  <a:srgbClr val="1F2933"/>
                </a:solidFill>
                <a:latin typeface="Calibri" pitchFamily="34" charset="0"/>
                <a:ea typeface="Calibri" pitchFamily="34" charset="-122"/>
                <a:cs typeface="Calibri" pitchFamily="34" charset="-120"/>
              </a:rPr>
              <a:t>depth 2 / 4 × 200 / 500 trees → depth 2, 200 trees</a:t>
            </a:r>
            <a:endParaRPr lang="en-US" sz="1200" dirty="0"/>
          </a:p>
        </p:txBody>
      </p:sp>
      <p:sp>
        <p:nvSpPr>
          <p:cNvPr id="11" name="Text 7"/>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belongs to main slide 11   </a:t>
            </a:r>
            <a:pPr indent="0" marL="0">
              <a:buNone/>
            </a:pPr>
            <a:r>
              <a:rPr lang="en-US" sz="900" i="1" dirty="0">
                <a:solidFill>
                  <a:srgbClr val="5B6670"/>
                </a:solidFill>
                <a:latin typeface="Calibri" pitchFamily="34" charset="0"/>
                <a:ea typeface="Calibri" pitchFamily="34" charset="-122"/>
                <a:cs typeface="Calibri" pitchFamily="34" charset="-120"/>
              </a:rPr>
              <a:t>Source: content list #18; grids and chosen settings: Steps 20, 23, 24, handover 28 (D58); best at simple edge, no wider grid: R55–R56, D40; alpha 0.1 vs 1: Step 28 (R64, D46)</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Can long tests be predicted?</a:t>
            </a:r>
            <a:endParaRPr lang="en-US" sz="2600" dirty="0"/>
          </a:p>
        </p:txBody>
      </p:sp>
      <p:sp>
        <p:nvSpPr>
          <p:cNvPr id="3" name="tag"/>
          <p:cNvSpPr/>
          <p:nvPr/>
        </p:nvSpPr>
        <p:spPr>
          <a:xfrm>
            <a:off x="7818120" y="347472"/>
            <a:ext cx="868680" cy="274320"/>
          </a:xfrm>
          <a:prstGeom prst="roundRect">
            <a:avLst>
              <a:gd name="adj" fmla="val 26667"/>
            </a:avLst>
          </a:prstGeom>
          <a:solidFill>
            <a:srgbClr val="EAF2FB"/>
          </a:solidFill>
          <a:ln w="12700">
            <a:solidFill>
              <a:srgbClr val="EAF2FB"/>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164A82"/>
                </a:solidFill>
                <a:latin typeface="Calibri" pitchFamily="34" charset="0"/>
                <a:ea typeface="Calibri" pitchFamily="34" charset="-122"/>
                <a:cs typeface="Calibri" pitchFamily="34" charset="-120"/>
              </a:rPr>
              <a:t>Backup · M3</a:t>
            </a:r>
            <a:endParaRPr lang="en-US" sz="900" dirty="0"/>
          </a:p>
        </p:txBody>
      </p:sp>
      <p:sp>
        <p:nvSpPr>
          <p:cNvPr id="6" name="Text 3"/>
          <p:cNvSpPr txBox="1"/>
          <p:nvPr/>
        </p:nvSpPr>
        <p:spPr>
          <a:xfrm>
            <a:off x="457200" y="960120"/>
            <a:ext cx="2651760" cy="685800"/>
          </a:xfrm>
          <a:prstGeom prst="rect">
            <a:avLst/>
          </a:prstGeom>
          <a:noFill/>
          <a:ln/>
        </p:spPr>
        <p:txBody>
          <a:bodyPr wrap="square" lIns="0" tIns="0" rIns="0" bIns="0" rtlCol="0" anchor="b"/>
          <a:lstStyle/>
          <a:p>
            <a:pPr indent="0" marL="0">
              <a:buNone/>
            </a:pPr>
            <a:r>
              <a:rPr lang="en-US" sz="4000" b="1" dirty="0">
                <a:solidFill>
                  <a:srgbClr val="2E8B57"/>
                </a:solidFill>
                <a:latin typeface="Cambria" pitchFamily="34" charset="0"/>
                <a:ea typeface="Cambria" pitchFamily="34" charset="-122"/>
                <a:cs typeface="Cambria" pitchFamily="34" charset="-120"/>
              </a:rPr>
              <a:t>0 of 9</a:t>
            </a:r>
            <a:endParaRPr lang="en-US" sz="4000" dirty="0"/>
          </a:p>
        </p:txBody>
      </p:sp>
      <p:sp>
        <p:nvSpPr>
          <p:cNvPr id="7" name="Text 4"/>
          <p:cNvSpPr txBox="1"/>
          <p:nvPr/>
        </p:nvSpPr>
        <p:spPr>
          <a:xfrm>
            <a:off x="457200" y="1691640"/>
            <a:ext cx="2651760" cy="548640"/>
          </a:xfrm>
          <a:prstGeom prst="rect">
            <a:avLst/>
          </a:prstGeom>
          <a:noFill/>
          <a:ln/>
        </p:spPr>
        <p:txBody>
          <a:bodyPr wrap="square" lIns="0" tIns="0" rIns="0" bIns="0" rtlCol="0" anchor="t"/>
          <a:lstStyle/>
          <a:p>
            <a:pPr indent="0" marL="0">
              <a:buNone/>
            </a:pPr>
            <a:r>
              <a:rPr lang="en-US" sz="1300" dirty="0">
                <a:solidFill>
                  <a:srgbClr val="5B6670"/>
                </a:solidFill>
                <a:latin typeface="Calibri" pitchFamily="34" charset="0"/>
                <a:ea typeface="Calibri" pitchFamily="34" charset="-122"/>
                <a:cs typeface="Calibri" pitchFamily="34" charset="-120"/>
              </a:rPr>
              <a:t>identical twins of long-test cars were long too – they ran 26–58 s faster</a:t>
            </a:r>
            <a:endParaRPr lang="en-US" sz="1300" dirty="0"/>
          </a:p>
        </p:txBody>
      </p:sp>
      <p:sp>
        <p:nvSpPr>
          <p:cNvPr id="8" name="Text 5"/>
          <p:cNvSpPr txBox="1"/>
          <p:nvPr/>
        </p:nvSpPr>
        <p:spPr>
          <a:xfrm>
            <a:off x="457200" y="2331720"/>
            <a:ext cx="3291840" cy="14630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Same configuration, normal time → a long test comes from the test run itself (bench, tester, day), not from the configuration</a:t>
            </a:r>
            <a:endParaRPr lang="en-US" sz="1200" dirty="0"/>
          </a:p>
          <a:p>
            <a:pPr marL="342900" indent="-3429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12 X0 codes hold 43 of the 50 long tests – but also a third of all cars (1,395)</a:t>
            </a:r>
            <a:endParaRPr lang="en-US" sz="1200" dirty="0"/>
          </a:p>
          <a:p>
            <a:pPr marL="342900" indent="-3429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So a warning rule is only about 2× better than chance</a:t>
            </a:r>
            <a:endParaRPr lang="en-US" sz="12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3931920" y="1005840"/>
          <a:ext cx="4754880" cy="914400"/>
        </p:xfrm>
        <a:graphic>
          <a:graphicData uri="http://schemas.openxmlformats.org/drawingml/2006/table">
            <a:tbl>
              <a:tblPr/>
              <a:tblGrid>
                <a:gridCol w="1737360"/>
                <a:gridCol w="685800"/>
                <a:gridCol w="777240"/>
                <a:gridCol w="777240"/>
                <a:gridCol w="777240"/>
              </a:tblGrid>
              <a:tr h="384048">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Warning rule (tested on unseen cars)</a:t>
                      </a:r>
                      <a:endParaRPr lang="en-US" sz="10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64A82"/>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flagged</a:t>
                      </a:r>
                      <a:endParaRPr lang="en-US" sz="10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64A82"/>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caught (of 49)</a:t>
                      </a:r>
                      <a:endParaRPr lang="en-US" sz="10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64A82"/>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false alarms</a:t>
                      </a:r>
                      <a:endParaRPr lang="en-US" sz="10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64A82"/>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right per flag</a:t>
                      </a:r>
                      <a:endParaRPr lang="en-US" sz="10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64A82"/>
                    </a:solidFill>
                  </a:tcPr>
                </a:tc>
              </a:tr>
              <a:tr h="384048">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X0 code with above-average share</a:t>
                      </a:r>
                      <a:endParaRPr lang="en-US" sz="10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1,369</a:t>
                      </a:r>
                      <a:endParaRPr lang="en-US" sz="10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35</a:t>
                      </a:r>
                      <a:endParaRPr lang="en-US" sz="10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1,334</a:t>
                      </a:r>
                      <a:endParaRPr lang="en-US" sz="10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2.6 %</a:t>
                      </a:r>
                      <a:endParaRPr lang="en-US" sz="10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84048">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X0 code with ≥ 3× the share</a:t>
                      </a:r>
                      <a:endParaRPr lang="en-US" sz="10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578</a:t>
                      </a:r>
                      <a:endParaRPr lang="en-US" sz="10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17</a:t>
                      </a:r>
                      <a:endParaRPr lang="en-US" sz="10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561</a:t>
                      </a:r>
                      <a:endParaRPr lang="en-US" sz="10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2.9 %</a:t>
                      </a:r>
                      <a:endParaRPr lang="en-US" sz="10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84048">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Small model on all 310 columns</a:t>
                      </a:r>
                      <a:endParaRPr lang="en-US" sz="10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435</a:t>
                      </a:r>
                      <a:endParaRPr lang="en-US" sz="10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426</a:t>
                      </a:r>
                      <a:endParaRPr lang="en-US" sz="10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2.1 %</a:t>
                      </a:r>
                      <a:endParaRPr lang="en-US" sz="10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84048">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Chance (flag at random)</a:t>
                      </a:r>
                      <a:endParaRPr lang="en-US" sz="10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1.2 %</a:t>
                      </a:r>
                      <a:endParaRPr lang="en-US" sz="10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10" name="Text 6"/>
          <p:cNvSpPr txBox="1"/>
          <p:nvPr/>
        </p:nvSpPr>
        <p:spPr>
          <a:xfrm>
            <a:off x="3931920" y="3063240"/>
            <a:ext cx="4754880" cy="6858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Long test = over 136.3 s (50 of 4,209 cars). Targeted buffer of 32.6 s: 14 of 49 long tests still get none, and more than 97 % of buffered cars would not need it.</a:t>
            </a:r>
            <a:endParaRPr lang="en-US" sz="1150" dirty="0"/>
          </a:p>
        </p:txBody>
      </p:sp>
      <p:sp>
        <p:nvSpPr>
          <p:cNvPr id="11" name="meaning"/>
          <p:cNvSpPr/>
          <p:nvPr/>
        </p:nvSpPr>
        <p:spPr>
          <a:xfrm>
            <a:off x="457200" y="3858768"/>
            <a:ext cx="8229600" cy="548640"/>
          </a:xfrm>
          <a:prstGeom prst="roundRect">
            <a:avLst>
              <a:gd name="adj" fmla="val 13333"/>
            </a:avLst>
          </a:prstGeom>
          <a:solidFill>
            <a:srgbClr val="E6F3EC"/>
          </a:solidFill>
          <a:ln w="12700">
            <a:solidFill>
              <a:srgbClr val="E6F3EC"/>
            </a:solidFill>
            <a:prstDash val="solid"/>
          </a:ln>
        </p:spPr>
      </p:sp>
      <p:sp>
        <p:nvSpPr>
          <p:cNvPr id="12" name="Text 8"/>
          <p:cNvSpPr txBox="1"/>
          <p:nvPr/>
        </p:nvSpPr>
        <p:spPr>
          <a:xfrm>
            <a:off x="640080" y="3858768"/>
            <a:ext cx="7863840" cy="548640"/>
          </a:xfrm>
          <a:prstGeom prst="rect">
            <a:avLst/>
          </a:prstGeom>
          <a:noFill/>
          <a:ln/>
        </p:spPr>
        <p:txBody>
          <a:bodyPr wrap="square" lIns="0" tIns="0" rIns="0" bIns="0" rtlCol="0" anchor="ctr"/>
          <a:lstStyle/>
          <a:p>
            <a:pPr indent="0" marL="0">
              <a:buNone/>
            </a:pPr>
            <a:r>
              <a:rPr lang="en-US" sz="1400" b="1" dirty="0">
                <a:solidFill>
                  <a:srgbClr val="2E8B57"/>
                </a:solidFill>
                <a:latin typeface="Calibri" pitchFamily="34" charset="0"/>
                <a:ea typeface="Calibri" pitchFamily="34" charset="-122"/>
                <a:cs typeface="Calibri" pitchFamily="34" charset="-120"/>
              </a:rPr>
              <a:t>Meaning: </a:t>
            </a:r>
            <a:pPr indent="0" marL="0">
              <a:buNone/>
            </a:pPr>
            <a:r>
              <a:rPr lang="en-US" sz="1400" dirty="0">
                <a:solidFill>
                  <a:srgbClr val="1F2933"/>
                </a:solidFill>
                <a:latin typeface="Calibri" pitchFamily="34" charset="0"/>
                <a:ea typeface="Calibri" pitchFamily="34" charset="-122"/>
                <a:cs typeface="Calibri" pitchFamily="34" charset="-120"/>
              </a:rPr>
              <a:t>long tests cannot be predicted from the configuration → record test-run data and test a targeted buffer in a pilot (future work, slide 15).</a:t>
            </a:r>
            <a:endParaRPr lang="en-US" sz="1400" dirty="0"/>
          </a:p>
        </p:txBody>
      </p:sp>
      <p:sp>
        <p:nvSpPr>
          <p:cNvPr id="13" name="Text 9"/>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belongs to main slide 12   </a:t>
            </a:r>
            <a:pPr indent="0" marL="0">
              <a:buNone/>
            </a:pPr>
            <a:r>
              <a:rPr lang="en-US" sz="900" i="1" dirty="0">
                <a:solidFill>
                  <a:srgbClr val="5B6670"/>
                </a:solidFill>
                <a:latin typeface="Calibri" pitchFamily="34" charset="0"/>
                <a:ea typeface="Calibri" pitchFamily="34" charset="-122"/>
                <a:cs typeface="Calibri" pitchFamily="34" charset="-120"/>
              </a:rPr>
              <a:t>Source: Step 29 (D61; R78–R81); handover 29 result (D60): Parts 1, 3, 4; future work: changes 31, 32 (D64)</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theme/theme1.xml><?xml version="1.0" encoding="utf-8"?>
<a:theme xmlns:a="http://schemas.openxmlformats.org/drawingml/2006/main" name="Greener Tests">
  <a:themeElements>
    <a:clrScheme name="Greener Tests">
      <a:dk1>
        <a:srgbClr val="1F2933"/>
      </a:dk1>
      <a:lt1>
        <a:srgbClr val="FFFFFF"/>
      </a:lt1>
      <a:dk2>
        <a:srgbClr val="1B2632"/>
      </a:dk2>
      <a:lt2>
        <a:srgbClr val="F3F6F9"/>
      </a:lt2>
      <a:accent1>
        <a:srgbClr val="2B7BD8"/>
      </a:accent1>
      <a:accent2>
        <a:srgbClr val="2E8B57"/>
      </a:accent2>
      <a:accent3>
        <a:srgbClr val="164A82"/>
      </a:accent3>
      <a:accent4>
        <a:srgbClr val="C77700"/>
      </a:accent4>
      <a:accent5>
        <a:srgbClr val="8FB8E8"/>
      </a:accent5>
      <a:accent6>
        <a:srgbClr val="9AA5AF"/>
      </a:accent6>
      <a:hlink>
        <a:srgbClr val="2B7BD8"/>
      </a:hlink>
      <a:folHlink>
        <a:srgbClr val="164A82"/>
      </a:folHlink>
    </a:clrScheme>
    <a:fontScheme name="Greener Test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Faster tests, greener cars</dc:title>
  <dc:subject>PptxGenJS Presentation</dc:subject>
  <dc:creator>Mohammad Bajbouj</dc:creator>
  <cp:lastModifiedBy>Mohammad Bajbouj</cp:lastModifiedBy>
  <cp:revision>1</cp:revision>
  <dcterms:created xsi:type="dcterms:W3CDTF">2026-10-22T19:38:14Z</dcterms:created>
  <dcterms:modified xsi:type="dcterms:W3CDTF">2026-10-22T19:38:14Z</dcterms:modified>
</cp:coreProperties>
</file>